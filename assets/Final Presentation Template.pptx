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04" r:id="rId5"/>
    <p:sldId id="295" r:id="rId6"/>
    <p:sldId id="296" r:id="rId7"/>
    <p:sldId id="303" r:id="rId8"/>
    <p:sldId id="302" r:id="rId9"/>
    <p:sldId id="306" r:id="rId10"/>
    <p:sldId id="300" r:id="rId11"/>
    <p:sldId id="294" r:id="rId12"/>
    <p:sldId id="3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EEDE8-0812-1D89-A44A-F5321373BD1B}" v="16" dt="2026-05-03T12:07:07.507"/>
    <p1510:client id="{09E76138-F933-EAA0-1AB9-B850200E5D58}" v="6" dt="2026-05-03T11:01:43.475"/>
    <p1510:client id="{167E9239-32AD-BABB-1778-7A7A8EB344A1}" v="230" dt="2026-05-03T03:28:28.787"/>
    <p1510:client id="{22A81167-47F3-EF04-9EAD-5F3D9B50FE6B}" v="82" dt="2026-05-03T14:07:42.954"/>
    <p1510:client id="{5649D2D6-C60C-D739-D1E0-EFF17DA1BF5F}" v="186" dt="2026-05-03T10:56:56.163"/>
    <p1510:client id="{B3C7B688-6A8C-492B-A6E3-B947785D2646}" v="599" dt="2026-05-03T13:43:38.252"/>
    <p1510:client id="{B8C39083-4F41-3C5F-946D-445201D4DF5D}" v="179" dt="2026-05-03T12:51:03.174"/>
    <p1510:client id="{D16424FF-4728-DDAB-86E9-8B2D63463BAC}" v="256" dt="2026-05-02T14:13:42.753"/>
    <p1510:client id="{DB8D7FD3-B549-AF17-70C6-46FBBE4EA41A}" v="480" dt="2026-05-03T07:22:03.581"/>
    <p1510:client id="{F896255F-2100-A79A-F3BE-73A8EF0FAF91}" v="59" dt="2026-05-03T14:05:47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2E66A3-CD2C-4DEE-9B0B-95104F66BF43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620F4F9-1462-41E5-8295-17125C382819}">
      <dgm:prSet/>
      <dgm:spPr/>
      <dgm:t>
        <a:bodyPr/>
        <a:lstStyle/>
        <a:p>
          <a:pPr>
            <a:defRPr b="1"/>
          </a:pPr>
          <a:r>
            <a:rPr lang="en-US" b="1"/>
            <a:t>Problem </a:t>
          </a:r>
          <a:endParaRPr lang="en-US"/>
        </a:p>
      </dgm:t>
    </dgm:pt>
    <dgm:pt modelId="{937F190C-F059-4FB0-A49E-8B1F6F8C9C46}" type="parTrans" cxnId="{E0CE98F9-B187-41AA-9004-A7D5760E1166}">
      <dgm:prSet/>
      <dgm:spPr/>
      <dgm:t>
        <a:bodyPr/>
        <a:lstStyle/>
        <a:p>
          <a:endParaRPr lang="en-US"/>
        </a:p>
      </dgm:t>
    </dgm:pt>
    <dgm:pt modelId="{0785280F-C254-4F39-A44E-9453D48B616D}" type="sibTrans" cxnId="{E0CE98F9-B187-41AA-9004-A7D5760E1166}">
      <dgm:prSet/>
      <dgm:spPr/>
      <dgm:t>
        <a:bodyPr/>
        <a:lstStyle/>
        <a:p>
          <a:endParaRPr lang="en-US"/>
        </a:p>
      </dgm:t>
    </dgm:pt>
    <dgm:pt modelId="{4299C78A-957D-4D30-915E-54E3560470AF}">
      <dgm:prSet custT="1"/>
      <dgm:spPr/>
      <dgm:t>
        <a:bodyPr/>
        <a:lstStyle/>
        <a:p>
          <a:r>
            <a:rPr lang="en-US" sz="1800" dirty="0"/>
            <a:t>Current apps work separately for nutrition, meal planning, health monitoring, and grocery support. This creates a fragmented user experience and reduces personalization and low accuracy</a:t>
          </a:r>
        </a:p>
      </dgm:t>
    </dgm:pt>
    <dgm:pt modelId="{9D529F7A-FB23-48FA-AE6A-177906A06782}" type="parTrans" cxnId="{A3E1ED33-C3CA-4ECB-BCFD-6C0897F7BA04}">
      <dgm:prSet/>
      <dgm:spPr/>
      <dgm:t>
        <a:bodyPr/>
        <a:lstStyle/>
        <a:p>
          <a:endParaRPr lang="en-US"/>
        </a:p>
      </dgm:t>
    </dgm:pt>
    <dgm:pt modelId="{342F0099-8695-4CBA-8E74-56D14C15BC1B}" type="sibTrans" cxnId="{A3E1ED33-C3CA-4ECB-BCFD-6C0897F7BA04}">
      <dgm:prSet/>
      <dgm:spPr/>
      <dgm:t>
        <a:bodyPr/>
        <a:lstStyle/>
        <a:p>
          <a:endParaRPr lang="en-US"/>
        </a:p>
      </dgm:t>
    </dgm:pt>
    <dgm:pt modelId="{96A1FA62-42C7-4DEC-86ED-6A9820223689}">
      <dgm:prSet/>
      <dgm:spPr/>
      <dgm:t>
        <a:bodyPr/>
        <a:lstStyle/>
        <a:p>
          <a:pPr>
            <a:defRPr b="1"/>
          </a:pPr>
          <a:r>
            <a:rPr lang="en-US" b="1"/>
            <a:t>Design Excellence</a:t>
          </a:r>
          <a:endParaRPr lang="en-US"/>
        </a:p>
      </dgm:t>
    </dgm:pt>
    <dgm:pt modelId="{652A2C29-64BC-4ED1-B3BF-9200FC8FDFFE}" type="parTrans" cxnId="{C1A216C4-420F-433E-AAFB-0B59E355077B}">
      <dgm:prSet/>
      <dgm:spPr/>
      <dgm:t>
        <a:bodyPr/>
        <a:lstStyle/>
        <a:p>
          <a:endParaRPr lang="en-US"/>
        </a:p>
      </dgm:t>
    </dgm:pt>
    <dgm:pt modelId="{BBE7DE26-1704-4362-B8BF-17F55FC81747}" type="sibTrans" cxnId="{C1A216C4-420F-433E-AAFB-0B59E355077B}">
      <dgm:prSet/>
      <dgm:spPr/>
      <dgm:t>
        <a:bodyPr/>
        <a:lstStyle/>
        <a:p>
          <a:endParaRPr lang="en-US"/>
        </a:p>
      </dgm:t>
    </dgm:pt>
    <dgm:pt modelId="{D0825D68-CFD1-4F3D-80C1-1202DE0A8403}">
      <dgm:prSet/>
      <dgm:spPr/>
      <dgm:t>
        <a:bodyPr/>
        <a:lstStyle/>
        <a:p>
          <a:r>
            <a:rPr lang="en-US" dirty="0" err="1"/>
            <a:t>FitNourish</a:t>
          </a:r>
          <a:r>
            <a:rPr lang="en-US" dirty="0"/>
            <a:t> AI integrates nutrition prediction, meal generation, food analysis, health risk tracking, smartwatch data, and grocery optimization into one unified system with high accuracy</a:t>
          </a:r>
        </a:p>
      </dgm:t>
    </dgm:pt>
    <dgm:pt modelId="{9C283BEC-AB91-4B47-A833-16F6289E6CD0}" type="parTrans" cxnId="{9673EF54-ED77-4A2D-86C1-9954E6910B22}">
      <dgm:prSet/>
      <dgm:spPr/>
      <dgm:t>
        <a:bodyPr/>
        <a:lstStyle/>
        <a:p>
          <a:endParaRPr lang="en-US"/>
        </a:p>
      </dgm:t>
    </dgm:pt>
    <dgm:pt modelId="{81950BB5-A20A-4C63-A643-3A84AF1826E4}" type="sibTrans" cxnId="{9673EF54-ED77-4A2D-86C1-9954E6910B22}">
      <dgm:prSet/>
      <dgm:spPr/>
      <dgm:t>
        <a:bodyPr/>
        <a:lstStyle/>
        <a:p>
          <a:endParaRPr lang="en-US"/>
        </a:p>
      </dgm:t>
    </dgm:pt>
    <dgm:pt modelId="{39B928A4-F70E-4A6F-AE61-B77533901D15}" type="pres">
      <dgm:prSet presAssocID="{E32E66A3-CD2C-4DEE-9B0B-95104F66BF43}" presName="root" presStyleCnt="0">
        <dgm:presLayoutVars>
          <dgm:dir/>
          <dgm:resizeHandles val="exact"/>
        </dgm:presLayoutVars>
      </dgm:prSet>
      <dgm:spPr/>
    </dgm:pt>
    <dgm:pt modelId="{DFB10F56-9DA0-4856-BC27-59286787C6AE}" type="pres">
      <dgm:prSet presAssocID="{3620F4F9-1462-41E5-8295-17125C382819}" presName="compNode" presStyleCnt="0"/>
      <dgm:spPr/>
    </dgm:pt>
    <dgm:pt modelId="{D36318BC-0702-4532-8FCA-ACF999128A3A}" type="pres">
      <dgm:prSet presAssocID="{3620F4F9-1462-41E5-8295-17125C382819}" presName="iconRect" presStyleLbl="node1" presStyleIdx="0" presStyleCnt="2"/>
      <dgm:spPr>
        <a:ln>
          <a:noFill/>
        </a:ln>
      </dgm:spPr>
    </dgm:pt>
    <dgm:pt modelId="{1A565598-C7C9-473D-B380-C761D255C409}" type="pres">
      <dgm:prSet presAssocID="{3620F4F9-1462-41E5-8295-17125C382819}" presName="iconSpace" presStyleCnt="0"/>
      <dgm:spPr/>
    </dgm:pt>
    <dgm:pt modelId="{093364C3-89C1-4BB0-86DD-38EDEFBCA1A7}" type="pres">
      <dgm:prSet presAssocID="{3620F4F9-1462-41E5-8295-17125C382819}" presName="parTx" presStyleLbl="revTx" presStyleIdx="0" presStyleCnt="4">
        <dgm:presLayoutVars>
          <dgm:chMax val="0"/>
          <dgm:chPref val="0"/>
        </dgm:presLayoutVars>
      </dgm:prSet>
      <dgm:spPr/>
    </dgm:pt>
    <dgm:pt modelId="{4B5F079A-9F4D-4026-AA48-8B50FAD1FAF6}" type="pres">
      <dgm:prSet presAssocID="{3620F4F9-1462-41E5-8295-17125C382819}" presName="txSpace" presStyleCnt="0"/>
      <dgm:spPr/>
    </dgm:pt>
    <dgm:pt modelId="{B33919DD-06EA-4B66-B256-6C992217B646}" type="pres">
      <dgm:prSet presAssocID="{3620F4F9-1462-41E5-8295-17125C382819}" presName="desTx" presStyleLbl="revTx" presStyleIdx="1" presStyleCnt="4">
        <dgm:presLayoutVars/>
      </dgm:prSet>
      <dgm:spPr/>
    </dgm:pt>
    <dgm:pt modelId="{B4AA0900-A552-49AD-8117-A83D673CD4B5}" type="pres">
      <dgm:prSet presAssocID="{0785280F-C254-4F39-A44E-9453D48B616D}" presName="sibTrans" presStyleCnt="0"/>
      <dgm:spPr/>
    </dgm:pt>
    <dgm:pt modelId="{9D079B78-ABE7-4F94-9C7B-E400F3561C1C}" type="pres">
      <dgm:prSet presAssocID="{96A1FA62-42C7-4DEC-86ED-6A9820223689}" presName="compNode" presStyleCnt="0"/>
      <dgm:spPr/>
    </dgm:pt>
    <dgm:pt modelId="{CD9C15F2-8F8F-4F4C-8CB5-DAC90A311C37}" type="pres">
      <dgm:prSet presAssocID="{96A1FA62-42C7-4DEC-86ED-6A9820223689}" presName="iconRect" presStyleLbl="node1" presStyleIdx="1" presStyleCnt="2"/>
      <dgm:spPr>
        <a:ln>
          <a:noFill/>
        </a:ln>
      </dgm:spPr>
    </dgm:pt>
    <dgm:pt modelId="{A8D66BB2-8566-4BE1-AB98-98B779C32B7A}" type="pres">
      <dgm:prSet presAssocID="{96A1FA62-42C7-4DEC-86ED-6A9820223689}" presName="iconSpace" presStyleCnt="0"/>
      <dgm:spPr/>
    </dgm:pt>
    <dgm:pt modelId="{1081401D-69FE-4128-A495-FEF47F29016C}" type="pres">
      <dgm:prSet presAssocID="{96A1FA62-42C7-4DEC-86ED-6A9820223689}" presName="parTx" presStyleLbl="revTx" presStyleIdx="2" presStyleCnt="4">
        <dgm:presLayoutVars>
          <dgm:chMax val="0"/>
          <dgm:chPref val="0"/>
        </dgm:presLayoutVars>
      </dgm:prSet>
      <dgm:spPr/>
    </dgm:pt>
    <dgm:pt modelId="{96F969BC-9672-4D17-B318-6688D18CF29E}" type="pres">
      <dgm:prSet presAssocID="{96A1FA62-42C7-4DEC-86ED-6A9820223689}" presName="txSpace" presStyleCnt="0"/>
      <dgm:spPr/>
    </dgm:pt>
    <dgm:pt modelId="{85F63860-EF94-4D63-A9C7-CC5A2F57AFF6}" type="pres">
      <dgm:prSet presAssocID="{96A1FA62-42C7-4DEC-86ED-6A9820223689}" presName="desTx" presStyleLbl="revTx" presStyleIdx="3" presStyleCnt="4">
        <dgm:presLayoutVars/>
      </dgm:prSet>
      <dgm:spPr/>
    </dgm:pt>
  </dgm:ptLst>
  <dgm:cxnLst>
    <dgm:cxn modelId="{6FB41107-A2B5-4679-A24F-FAAE67055852}" type="presOf" srcId="{4299C78A-957D-4D30-915E-54E3560470AF}" destId="{B33919DD-06EA-4B66-B256-6C992217B646}" srcOrd="0" destOrd="0" presId="urn:microsoft.com/office/officeart/2018/5/layout/CenteredIconLabelDescriptionList"/>
    <dgm:cxn modelId="{A3E1ED33-C3CA-4ECB-BCFD-6C0897F7BA04}" srcId="{3620F4F9-1462-41E5-8295-17125C382819}" destId="{4299C78A-957D-4D30-915E-54E3560470AF}" srcOrd="0" destOrd="0" parTransId="{9D529F7A-FB23-48FA-AE6A-177906A06782}" sibTransId="{342F0099-8695-4CBA-8E74-56D14C15BC1B}"/>
    <dgm:cxn modelId="{9B014A44-E9A2-4D0F-88CA-C88C5B892245}" type="presOf" srcId="{96A1FA62-42C7-4DEC-86ED-6A9820223689}" destId="{1081401D-69FE-4128-A495-FEF47F29016C}" srcOrd="0" destOrd="0" presId="urn:microsoft.com/office/officeart/2018/5/layout/CenteredIconLabelDescriptionList"/>
    <dgm:cxn modelId="{9673EF54-ED77-4A2D-86C1-9954E6910B22}" srcId="{96A1FA62-42C7-4DEC-86ED-6A9820223689}" destId="{D0825D68-CFD1-4F3D-80C1-1202DE0A8403}" srcOrd="0" destOrd="0" parTransId="{9C283BEC-AB91-4B47-A833-16F6289E6CD0}" sibTransId="{81950BB5-A20A-4C63-A643-3A84AF1826E4}"/>
    <dgm:cxn modelId="{99371689-B2E4-4B59-99FF-C2A5F15591D5}" type="presOf" srcId="{D0825D68-CFD1-4F3D-80C1-1202DE0A8403}" destId="{85F63860-EF94-4D63-A9C7-CC5A2F57AFF6}" srcOrd="0" destOrd="0" presId="urn:microsoft.com/office/officeart/2018/5/layout/CenteredIconLabelDescriptionList"/>
    <dgm:cxn modelId="{E6201893-4B28-4EB2-95CB-1D0235732B5F}" type="presOf" srcId="{3620F4F9-1462-41E5-8295-17125C382819}" destId="{093364C3-89C1-4BB0-86DD-38EDEFBCA1A7}" srcOrd="0" destOrd="0" presId="urn:microsoft.com/office/officeart/2018/5/layout/CenteredIconLabelDescriptionList"/>
    <dgm:cxn modelId="{02B789BD-83EA-4D69-8230-94CCDB4AD8F8}" type="presOf" srcId="{E32E66A3-CD2C-4DEE-9B0B-95104F66BF43}" destId="{39B928A4-F70E-4A6F-AE61-B77533901D15}" srcOrd="0" destOrd="0" presId="urn:microsoft.com/office/officeart/2018/5/layout/CenteredIconLabelDescriptionList"/>
    <dgm:cxn modelId="{C1A216C4-420F-433E-AAFB-0B59E355077B}" srcId="{E32E66A3-CD2C-4DEE-9B0B-95104F66BF43}" destId="{96A1FA62-42C7-4DEC-86ED-6A9820223689}" srcOrd="1" destOrd="0" parTransId="{652A2C29-64BC-4ED1-B3BF-9200FC8FDFFE}" sibTransId="{BBE7DE26-1704-4362-B8BF-17F55FC81747}"/>
    <dgm:cxn modelId="{E0CE98F9-B187-41AA-9004-A7D5760E1166}" srcId="{E32E66A3-CD2C-4DEE-9B0B-95104F66BF43}" destId="{3620F4F9-1462-41E5-8295-17125C382819}" srcOrd="0" destOrd="0" parTransId="{937F190C-F059-4FB0-A49E-8B1F6F8C9C46}" sibTransId="{0785280F-C254-4F39-A44E-9453D48B616D}"/>
    <dgm:cxn modelId="{75598C3A-F0E2-45DD-89A6-6D9591283F4D}" type="presParOf" srcId="{39B928A4-F70E-4A6F-AE61-B77533901D15}" destId="{DFB10F56-9DA0-4856-BC27-59286787C6AE}" srcOrd="0" destOrd="0" presId="urn:microsoft.com/office/officeart/2018/5/layout/CenteredIconLabelDescriptionList"/>
    <dgm:cxn modelId="{C36E59F6-0770-4558-9622-6E3A855886FE}" type="presParOf" srcId="{DFB10F56-9DA0-4856-BC27-59286787C6AE}" destId="{D36318BC-0702-4532-8FCA-ACF999128A3A}" srcOrd="0" destOrd="0" presId="urn:microsoft.com/office/officeart/2018/5/layout/CenteredIconLabelDescriptionList"/>
    <dgm:cxn modelId="{183AAE84-B44B-48A5-BDB5-A30394F1DE12}" type="presParOf" srcId="{DFB10F56-9DA0-4856-BC27-59286787C6AE}" destId="{1A565598-C7C9-473D-B380-C761D255C409}" srcOrd="1" destOrd="0" presId="urn:microsoft.com/office/officeart/2018/5/layout/CenteredIconLabelDescriptionList"/>
    <dgm:cxn modelId="{3820DCBA-577A-4195-8230-8E803136AE8E}" type="presParOf" srcId="{DFB10F56-9DA0-4856-BC27-59286787C6AE}" destId="{093364C3-89C1-4BB0-86DD-38EDEFBCA1A7}" srcOrd="2" destOrd="0" presId="urn:microsoft.com/office/officeart/2018/5/layout/CenteredIconLabelDescriptionList"/>
    <dgm:cxn modelId="{4F6C98CA-B365-4A4A-AF5B-43A65A2E955A}" type="presParOf" srcId="{DFB10F56-9DA0-4856-BC27-59286787C6AE}" destId="{4B5F079A-9F4D-4026-AA48-8B50FAD1FAF6}" srcOrd="3" destOrd="0" presId="urn:microsoft.com/office/officeart/2018/5/layout/CenteredIconLabelDescriptionList"/>
    <dgm:cxn modelId="{CBBDDD47-D9B2-40E0-83DD-86145C8FA088}" type="presParOf" srcId="{DFB10F56-9DA0-4856-BC27-59286787C6AE}" destId="{B33919DD-06EA-4B66-B256-6C992217B646}" srcOrd="4" destOrd="0" presId="urn:microsoft.com/office/officeart/2018/5/layout/CenteredIconLabelDescriptionList"/>
    <dgm:cxn modelId="{A091889C-64EE-4A62-80BE-A28FE64DDE98}" type="presParOf" srcId="{39B928A4-F70E-4A6F-AE61-B77533901D15}" destId="{B4AA0900-A552-49AD-8117-A83D673CD4B5}" srcOrd="1" destOrd="0" presId="urn:microsoft.com/office/officeart/2018/5/layout/CenteredIconLabelDescriptionList"/>
    <dgm:cxn modelId="{8D4149AF-FB90-4015-816F-201BF4BEB111}" type="presParOf" srcId="{39B928A4-F70E-4A6F-AE61-B77533901D15}" destId="{9D079B78-ABE7-4F94-9C7B-E400F3561C1C}" srcOrd="2" destOrd="0" presId="urn:microsoft.com/office/officeart/2018/5/layout/CenteredIconLabelDescriptionList"/>
    <dgm:cxn modelId="{2A7E8AB8-3242-417B-91DE-23C1811E0712}" type="presParOf" srcId="{9D079B78-ABE7-4F94-9C7B-E400F3561C1C}" destId="{CD9C15F2-8F8F-4F4C-8CB5-DAC90A311C37}" srcOrd="0" destOrd="0" presId="urn:microsoft.com/office/officeart/2018/5/layout/CenteredIconLabelDescriptionList"/>
    <dgm:cxn modelId="{DC7FCEA7-8B00-4481-B889-8F0D730FC6F2}" type="presParOf" srcId="{9D079B78-ABE7-4F94-9C7B-E400F3561C1C}" destId="{A8D66BB2-8566-4BE1-AB98-98B779C32B7A}" srcOrd="1" destOrd="0" presId="urn:microsoft.com/office/officeart/2018/5/layout/CenteredIconLabelDescriptionList"/>
    <dgm:cxn modelId="{FF37C504-C648-4AB6-B9AF-0144AE1E0580}" type="presParOf" srcId="{9D079B78-ABE7-4F94-9C7B-E400F3561C1C}" destId="{1081401D-69FE-4128-A495-FEF47F29016C}" srcOrd="2" destOrd="0" presId="urn:microsoft.com/office/officeart/2018/5/layout/CenteredIconLabelDescriptionList"/>
    <dgm:cxn modelId="{FC62FF61-B308-427D-AA55-BC709252645B}" type="presParOf" srcId="{9D079B78-ABE7-4F94-9C7B-E400F3561C1C}" destId="{96F969BC-9672-4D17-B318-6688D18CF29E}" srcOrd="3" destOrd="0" presId="urn:microsoft.com/office/officeart/2018/5/layout/CenteredIconLabelDescriptionList"/>
    <dgm:cxn modelId="{2E3D0512-6C27-4D18-93C5-F54BDC47E6E9}" type="presParOf" srcId="{9D079B78-ABE7-4F94-9C7B-E400F3561C1C}" destId="{85F63860-EF94-4D63-A9C7-CC5A2F57AFF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318BC-0702-4532-8FCA-ACF999128A3A}">
      <dsp:nvSpPr>
        <dsp:cNvPr id="0" name=""/>
        <dsp:cNvSpPr/>
      </dsp:nvSpPr>
      <dsp:spPr>
        <a:xfrm>
          <a:off x="2547999" y="788498"/>
          <a:ext cx="1512000" cy="1512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364C3-89C1-4BB0-86DD-38EDEFBCA1A7}">
      <dsp:nvSpPr>
        <dsp:cNvPr id="0" name=""/>
        <dsp:cNvSpPr/>
      </dsp:nvSpPr>
      <dsp:spPr>
        <a:xfrm>
          <a:off x="1143999" y="245549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Problem </a:t>
          </a:r>
          <a:endParaRPr lang="en-US" sz="3600" kern="1200"/>
        </a:p>
      </dsp:txBody>
      <dsp:txXfrm>
        <a:off x="1143999" y="2455496"/>
        <a:ext cx="4320000" cy="648000"/>
      </dsp:txXfrm>
    </dsp:sp>
    <dsp:sp modelId="{B33919DD-06EA-4B66-B256-6C992217B646}">
      <dsp:nvSpPr>
        <dsp:cNvPr id="0" name=""/>
        <dsp:cNvSpPr/>
      </dsp:nvSpPr>
      <dsp:spPr>
        <a:xfrm>
          <a:off x="1143999" y="3175588"/>
          <a:ext cx="4320000" cy="121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Current apps work separately for nutrition, meal planning, health monitoring, and grocery support. This creates a fragmented user experience and reduces personalization and low accuracy</a:t>
          </a:r>
        </a:p>
      </dsp:txBody>
      <dsp:txXfrm>
        <a:off x="1143999" y="3175588"/>
        <a:ext cx="4320000" cy="1217512"/>
      </dsp:txXfrm>
    </dsp:sp>
    <dsp:sp modelId="{CD9C15F2-8F8F-4F4C-8CB5-DAC90A311C37}">
      <dsp:nvSpPr>
        <dsp:cNvPr id="0" name=""/>
        <dsp:cNvSpPr/>
      </dsp:nvSpPr>
      <dsp:spPr>
        <a:xfrm>
          <a:off x="7624000" y="788498"/>
          <a:ext cx="1512000" cy="1512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1401D-69FE-4128-A495-FEF47F29016C}">
      <dsp:nvSpPr>
        <dsp:cNvPr id="0" name=""/>
        <dsp:cNvSpPr/>
      </dsp:nvSpPr>
      <dsp:spPr>
        <a:xfrm>
          <a:off x="6220000" y="245549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Design Excellence</a:t>
          </a:r>
          <a:endParaRPr lang="en-US" sz="3600" kern="1200"/>
        </a:p>
      </dsp:txBody>
      <dsp:txXfrm>
        <a:off x="6220000" y="2455496"/>
        <a:ext cx="4320000" cy="648000"/>
      </dsp:txXfrm>
    </dsp:sp>
    <dsp:sp modelId="{85F63860-EF94-4D63-A9C7-CC5A2F57AFF6}">
      <dsp:nvSpPr>
        <dsp:cNvPr id="0" name=""/>
        <dsp:cNvSpPr/>
      </dsp:nvSpPr>
      <dsp:spPr>
        <a:xfrm>
          <a:off x="6220000" y="3175588"/>
          <a:ext cx="4320000" cy="121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FitNourish</a:t>
          </a:r>
          <a:r>
            <a:rPr lang="en-US" sz="1800" kern="1200" dirty="0"/>
            <a:t> AI integrates nutrition prediction, meal generation, food analysis, health risk tracking, smartwatch data, and grocery optimization into one unified system with high accuracy</a:t>
          </a:r>
        </a:p>
      </dsp:txBody>
      <dsp:txXfrm>
        <a:off x="6220000" y="3175588"/>
        <a:ext cx="4320000" cy="1217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5/3/2026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F74048CE-471C-9BDF-7042-B4C37F60CA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blue and white advertisement&#10;&#10;AI-generated content may be incorrect.">
            <a:extLst>
              <a:ext uri="{FF2B5EF4-FFF2-40B4-BE49-F238E27FC236}">
                <a16:creationId xmlns:a16="http://schemas.microsoft.com/office/drawing/2014/main" id="{F224BAB7-E63E-96F5-6592-CCFE0DE50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52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F014-595B-83F1-44E7-60F561FD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46290-773F-B220-DA71-1D5010339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255559"/>
              </p:ext>
            </p:extLst>
          </p:nvPr>
        </p:nvGraphicFramePr>
        <p:xfrm>
          <a:off x="381000" y="1219200"/>
          <a:ext cx="10763243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337">
                  <a:extLst>
                    <a:ext uri="{9D8B030D-6E8A-4147-A177-3AD203B41FA5}">
                      <a16:colId xmlns:a16="http://schemas.microsoft.com/office/drawing/2014/main" val="3777182250"/>
                    </a:ext>
                  </a:extLst>
                </a:gridCol>
                <a:gridCol w="2492156">
                  <a:extLst>
                    <a:ext uri="{9D8B030D-6E8A-4147-A177-3AD203B41FA5}">
                      <a16:colId xmlns:a16="http://schemas.microsoft.com/office/drawing/2014/main" val="2114440158"/>
                    </a:ext>
                  </a:extLst>
                </a:gridCol>
                <a:gridCol w="2231198">
                  <a:extLst>
                    <a:ext uri="{9D8B030D-6E8A-4147-A177-3AD203B41FA5}">
                      <a16:colId xmlns:a16="http://schemas.microsoft.com/office/drawing/2014/main" val="3671581406"/>
                    </a:ext>
                  </a:extLst>
                </a:gridCol>
                <a:gridCol w="2100852">
                  <a:extLst>
                    <a:ext uri="{9D8B030D-6E8A-4147-A177-3AD203B41FA5}">
                      <a16:colId xmlns:a16="http://schemas.microsoft.com/office/drawing/2014/main" val="3549345628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4201433489"/>
                    </a:ext>
                  </a:extLst>
                </a:gridCol>
              </a:tblGrid>
              <a:tr h="34128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Student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/>
                          <a:cs typeface="Times New Roman"/>
                        </a:rPr>
                        <a:t>IT22907684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/>
                          <a:cs typeface="Times New Roman"/>
                        </a:rPr>
                        <a:t>IT22343352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/>
                          <a:cs typeface="Times New Roman"/>
                        </a:rPr>
                        <a:t>IT22343420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/>
                          <a:cs typeface="Times New Roman"/>
                        </a:rPr>
                        <a:t>IT22343284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017782"/>
                  </a:ext>
                </a:extLst>
              </a:tr>
              <a:tr h="16450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  <a:cs typeface="Times New Roman"/>
                        </a:rPr>
                        <a:t>Panel 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/>
                          <a:cs typeface="Times New Roman"/>
                        </a:rPr>
                        <a:t>Time management should be improved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/>
                          <a:cs typeface="Times New Roman"/>
                        </a:rPr>
                        <a:t>Image dataset was not opened. Should be prepared and come to the presentations. Time management should be improved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/>
                          <a:cs typeface="Times New Roman"/>
                        </a:rPr>
                        <a:t>Time management should be improved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/>
                          <a:cs typeface="Times New Roman"/>
                        </a:rPr>
                        <a:t>Time management should be improved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68262"/>
                  </a:ext>
                </a:extLst>
              </a:tr>
              <a:tr h="2900911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  <a:cs typeface="Times New Roman"/>
                        </a:rP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mbria"/>
                          <a:ea typeface="Cambria"/>
                        </a:rPr>
                        <a:t>Conducted advance practice sessions, improved slide flow, allocated clear speaking time to each member, and coordinated the team to complete the presentation &amp; viva within the given time.</a:t>
                      </a:r>
                      <a:endParaRPr lang="en-US" sz="1800">
                        <a:latin typeface="Cambria"/>
                        <a:ea typeface="Cambri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mbria"/>
                          <a:ea typeface="Cambria"/>
                        </a:rPr>
                        <a:t>Pre-checked the dataset  and keep a backup ready to avoid delays. </a:t>
                      </a:r>
                      <a:r>
                        <a:rPr lang="en-US" sz="1800" b="0" i="0" u="none" strike="noStrike" noProof="0"/>
                        <a:t>Conducted practice sessions to improve time management and ensured the presentation was completed within the allocated time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reduced unnecessary explanations. Conducted practice sessions to improve time management and ensured the presentation was completed within the allocated time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Times New Roman"/>
                        </a:rPr>
                        <a:t>reduced unnecessary explanations. Also checked the location, internet connection, and required setup beforehand to avoid delays during the presentation.</a:t>
                      </a:r>
                      <a:endParaRPr lang="en-US"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8335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5D9EF65-3062-72B0-9D4F-85228A849496}"/>
              </a:ext>
            </a:extLst>
          </p:cNvPr>
          <p:cNvSpPr txBox="1"/>
          <p:nvPr/>
        </p:nvSpPr>
        <p:spPr>
          <a:xfrm>
            <a:off x="685800" y="130804"/>
            <a:ext cx="10518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FitNourish AI – Intelligent Nutrition &amp; Wellness Assistant</a:t>
            </a:r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671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45EA0-B31E-6936-FFA2-5D0395D2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70B9DA4-DB3D-3DD2-4F58-1E8A569911E4}"/>
              </a:ext>
            </a:extLst>
          </p:cNvPr>
          <p:cNvSpPr txBox="1"/>
          <p:nvPr/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>
                <a:latin typeface="Adobe Devanagari" pitchFamily="18" charset="0"/>
                <a:ea typeface="+mj-ea"/>
                <a:cs typeface="Adobe Devanagari" pitchFamily="18" charset="0"/>
              </a:rPr>
              <a:t>FitNourish AI – Intelligent Nutrition &amp; Wellness Assistant</a:t>
            </a:r>
          </a:p>
        </p:txBody>
      </p:sp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D4F0AD22-FDD5-7BD4-B0C9-9D7C964F5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7972562"/>
              </p:ext>
            </p:extLst>
          </p:nvPr>
        </p:nvGraphicFramePr>
        <p:xfrm>
          <a:off x="304800" y="1143000"/>
          <a:ext cx="116840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cartoon character sitting on a question mark&#10;&#10;AI-generated content may be incorrect.">
            <a:extLst>
              <a:ext uri="{FF2B5EF4-FFF2-40B4-BE49-F238E27FC236}">
                <a16:creationId xmlns:a16="http://schemas.microsoft.com/office/drawing/2014/main" id="{7182D4D6-A7D5-6AD1-C51B-F92F53CED44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781" y="1839191"/>
            <a:ext cx="1624645" cy="1766455"/>
          </a:xfrm>
          <a:prstGeom prst="rect">
            <a:avLst/>
          </a:prstGeom>
        </p:spPr>
      </p:pic>
      <p:pic>
        <p:nvPicPr>
          <p:cNvPr id="7" name="Picture 6" descr="A compass pointing to excellence&#10;&#10;AI-generated content may be incorrect.">
            <a:extLst>
              <a:ext uri="{FF2B5EF4-FFF2-40B4-BE49-F238E27FC236}">
                <a16:creationId xmlns:a16="http://schemas.microsoft.com/office/drawing/2014/main" id="{EC7745AA-FDA3-AC34-57E6-E1E1B47C975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007" y="1839192"/>
            <a:ext cx="1624645" cy="165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8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8B969-83ED-9703-B8C3-B844518E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B566A2-EF44-5969-5E6A-110B9A9B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20032"/>
            <a:ext cx="8305800" cy="545817"/>
          </a:xfrm>
        </p:spPr>
        <p:txBody>
          <a:bodyPr>
            <a:noAutofit/>
          </a:bodyPr>
          <a:lstStyle/>
          <a:p>
            <a:r>
              <a:rPr lang="en-US" sz="3200">
                <a:latin typeface="Adobe Devanagari"/>
              </a:rPr>
              <a:t>IT22907684 | </a:t>
            </a:r>
            <a:r>
              <a:rPr lang="en-US" sz="3200" err="1">
                <a:latin typeface="Adobe Devanagari"/>
              </a:rPr>
              <a:t>Weerarathne</a:t>
            </a:r>
            <a:r>
              <a:rPr lang="en-US" sz="3200">
                <a:latin typeface="Adobe Devanagari"/>
              </a:rPr>
              <a:t> H p</a:t>
            </a:r>
            <a:endParaRPr lang="en-US" sz="3200" b="0">
              <a:latin typeface="Adobe Devanagari"/>
            </a:endParaRPr>
          </a:p>
          <a:p>
            <a:endParaRPr lang="en-US" sz="3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3D7E19-D639-CF7A-667D-587C5A006ECD}"/>
              </a:ext>
            </a:extLst>
          </p:cNvPr>
          <p:cNvSpPr/>
          <p:nvPr/>
        </p:nvSpPr>
        <p:spPr>
          <a:xfrm>
            <a:off x="3404873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IT22907684</a:t>
            </a:r>
            <a:r>
              <a:rPr lang="en-US" sz="1800" b="1">
                <a:solidFill>
                  <a:schemeClr val="tx1"/>
                </a:solidFill>
              </a:rPr>
              <a:t>  |   </a:t>
            </a:r>
            <a:r>
              <a:rPr lang="en-US" b="1" err="1">
                <a:solidFill>
                  <a:schemeClr val="tx1"/>
                </a:solidFill>
                <a:latin typeface="Cambria"/>
                <a:ea typeface="Cambria"/>
                <a:cs typeface="Times New Roman"/>
              </a:rPr>
              <a:t>Weerarathne</a:t>
            </a:r>
            <a:r>
              <a:rPr lang="en-US" b="1">
                <a:solidFill>
                  <a:schemeClr val="tx1"/>
                </a:solidFill>
                <a:latin typeface="Cambria"/>
                <a:ea typeface="Cambria"/>
                <a:cs typeface="Times New Roman"/>
              </a:rPr>
              <a:t> H P</a:t>
            </a: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 </a:t>
            </a:r>
            <a:r>
              <a:rPr lang="en-US" sz="1800" b="1">
                <a:solidFill>
                  <a:schemeClr val="tx1"/>
                </a:solidFill>
                <a:latin typeface="Times New Roman"/>
                <a:cs typeface="Times New Roman"/>
              </a:rPr>
              <a:t>  </a:t>
            </a:r>
            <a:r>
              <a:rPr lang="en-US" sz="1800" b="1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</a:rPr>
              <a:t>25-26J-386</a:t>
            </a:r>
            <a:endParaRPr lang="en-US" sz="1800" b="1">
              <a:solidFill>
                <a:schemeClr val="tx1"/>
              </a:solidFill>
              <a:ea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661308-53A0-4641-28FE-7C2B5B24D3DC}"/>
              </a:ext>
            </a:extLst>
          </p:cNvPr>
          <p:cNvSpPr txBox="1"/>
          <p:nvPr/>
        </p:nvSpPr>
        <p:spPr>
          <a:xfrm>
            <a:off x="533400" y="1245637"/>
            <a:ext cx="9227976" cy="9694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900" b="1">
                <a:solidFill>
                  <a:srgbClr val="000000"/>
                </a:solidFill>
                <a:ea typeface="+mn-lt"/>
                <a:cs typeface="+mn-lt"/>
              </a:rPr>
              <a:t>AI-powered Multi-Disease Adaptive Nutrition and Personalized Health </a:t>
            </a:r>
            <a:endParaRPr lang="en-US" sz="19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900" b="1">
                <a:solidFill>
                  <a:srgbClr val="000000"/>
                </a:solidFill>
                <a:ea typeface="+mn-lt"/>
                <a:cs typeface="+mn-lt"/>
              </a:rPr>
              <a:t>Optimization System</a:t>
            </a:r>
            <a:endParaRPr lang="en-US"/>
          </a:p>
          <a:p>
            <a:endParaRPr lang="en-US" sz="1900" b="1"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76D94-0CD1-54B0-87F6-70CA9594F59E}"/>
              </a:ext>
            </a:extLst>
          </p:cNvPr>
          <p:cNvSpPr txBox="1"/>
          <p:nvPr/>
        </p:nvSpPr>
        <p:spPr>
          <a:xfrm>
            <a:off x="990600" y="2273285"/>
            <a:ext cx="11076194" cy="33085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Multi-Disease Adaptive Nutrition Prediction System</a:t>
            </a:r>
            <a:endParaRPr lang="en-US" sz="20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 </a:t>
            </a:r>
            <a:r>
              <a:rPr lang="en-US" sz="1700" b="1">
                <a:ea typeface="+mn-lt"/>
                <a:cs typeface="+mn-lt"/>
              </a:rPr>
              <a:t>Trained Model: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XGBoost</a:t>
            </a:r>
            <a:r>
              <a:rPr lang="en-US" sz="1700">
                <a:ea typeface="+mn-lt"/>
                <a:cs typeface="+mn-lt"/>
              </a:rPr>
              <a:t>-based Multi-Output Regression Model</a:t>
            </a:r>
          </a:p>
          <a:p>
            <a:pPr marL="342900" indent="-34290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The component predicts </a:t>
            </a:r>
            <a:r>
              <a:rPr lang="en-US" sz="1700" b="1">
                <a:ea typeface="+mn-lt"/>
                <a:cs typeface="+mn-lt"/>
              </a:rPr>
              <a:t>daily calories, protein, carbohydrates, and fat</a:t>
            </a:r>
            <a:r>
              <a:rPr lang="en-US" sz="1700">
                <a:ea typeface="+mn-lt"/>
                <a:cs typeface="+mn-lt"/>
              </a:rPr>
              <a:t> in a single workflow. </a:t>
            </a:r>
            <a:endParaRPr lang="en-US" sz="1700">
              <a:ea typeface="Cambria"/>
            </a:endParaRPr>
          </a:p>
          <a:p>
            <a:pPr marL="342900" indent="-34290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It is </a:t>
            </a:r>
            <a:r>
              <a:rPr lang="en-US" sz="1700" b="1">
                <a:ea typeface="+mn-lt"/>
                <a:cs typeface="+mn-lt"/>
              </a:rPr>
              <a:t>adaptive to multiple disease conditions</a:t>
            </a:r>
            <a:r>
              <a:rPr lang="en-US" sz="1700">
                <a:ea typeface="+mn-lt"/>
                <a:cs typeface="+mn-lt"/>
              </a:rPr>
              <a:t>, especially diabetes and hypertension, making the recommendations more personalized. </a:t>
            </a:r>
            <a:endParaRPr lang="en-US" sz="1700">
              <a:ea typeface="Cambria"/>
            </a:endParaRPr>
          </a:p>
          <a:p>
            <a:pPr marL="342900" indent="-34290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The model achieved an </a:t>
            </a:r>
            <a:r>
              <a:rPr lang="en-US" sz="1700" b="1">
                <a:ea typeface="+mn-lt"/>
                <a:cs typeface="+mn-lt"/>
              </a:rPr>
              <a:t>overall MAE of 19.88</a:t>
            </a:r>
            <a:r>
              <a:rPr lang="en-US" sz="1700">
                <a:ea typeface="+mn-lt"/>
                <a:cs typeface="+mn-lt"/>
              </a:rPr>
              <a:t>, showing low average prediction error. </a:t>
            </a:r>
            <a:endParaRPr lang="en-US" sz="1700">
              <a:ea typeface="Cambria"/>
            </a:endParaRPr>
          </a:p>
          <a:p>
            <a:pPr marL="342900" indent="-34290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The model achieved an </a:t>
            </a:r>
            <a:r>
              <a:rPr lang="en-US" sz="1700" b="1">
                <a:ea typeface="+mn-lt"/>
                <a:cs typeface="+mn-lt"/>
              </a:rPr>
              <a:t>overall RMSE of 44.63</a:t>
            </a:r>
            <a:r>
              <a:rPr lang="en-US" sz="1700">
                <a:ea typeface="+mn-lt"/>
                <a:cs typeface="+mn-lt"/>
              </a:rPr>
              <a:t>, indicating that large prediction deviations are also limited. </a:t>
            </a:r>
            <a:endParaRPr lang="en-US" sz="1700">
              <a:ea typeface="Cambria"/>
            </a:endParaRPr>
          </a:p>
          <a:p>
            <a:pPr marL="342900" indent="-34290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The model recorded an </a:t>
            </a:r>
            <a:r>
              <a:rPr lang="en-US" sz="1700" b="1">
                <a:ea typeface="+mn-lt"/>
                <a:cs typeface="+mn-lt"/>
              </a:rPr>
              <a:t>R² score of 0.957</a:t>
            </a:r>
            <a:r>
              <a:rPr lang="en-US" sz="1700">
                <a:ea typeface="+mn-lt"/>
                <a:cs typeface="+mn-lt"/>
              </a:rPr>
              <a:t>, which shows high explanatory power and strong overall prediction quality. </a:t>
            </a:r>
            <a:endParaRPr lang="en-US" sz="1700">
              <a:ea typeface="Cambria"/>
            </a:endParaRPr>
          </a:p>
          <a:p>
            <a:pPr marL="342900" indent="-34290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Target-wise evaluation confirmed consistent performance: </a:t>
            </a:r>
            <a:r>
              <a:rPr lang="en-US" sz="1700" b="1">
                <a:ea typeface="+mn-lt"/>
                <a:cs typeface="+mn-lt"/>
              </a:rPr>
              <a:t>Calories (R² = 0.962), Protein (R² = 0.954), Carbohydrates (R² = 0.949), and Fat (R² = 0.962).</a:t>
            </a:r>
            <a:r>
              <a:rPr lang="en-US" sz="1700">
                <a:ea typeface="+mn-lt"/>
                <a:cs typeface="+mn-lt"/>
              </a:rPr>
              <a:t> </a:t>
            </a:r>
            <a:endParaRPr lang="en-US" sz="1700">
              <a:ea typeface="Cambria"/>
            </a:endParaRPr>
          </a:p>
        </p:txBody>
      </p:sp>
      <p:pic>
        <p:nvPicPr>
          <p:cNvPr id="9" name="Picture 8" descr="A person with a beard and mustache wearing a white shirt&#10;&#10;AI-generated content may be incorrect.">
            <a:extLst>
              <a:ext uri="{FF2B5EF4-FFF2-40B4-BE49-F238E27FC236}">
                <a16:creationId xmlns:a16="http://schemas.microsoft.com/office/drawing/2014/main" id="{EA87F95E-4853-A746-95F4-2CC8FAB3F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228" y="113255"/>
            <a:ext cx="2164120" cy="237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47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79C8C-19D4-D3EE-EA05-FCD9B905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AF8798-948E-27AE-D819-8722942C0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20032"/>
            <a:ext cx="8305800" cy="545817"/>
          </a:xfrm>
        </p:spPr>
        <p:txBody>
          <a:bodyPr>
            <a:noAutofit/>
          </a:bodyPr>
          <a:lstStyle/>
          <a:p>
            <a:r>
              <a:rPr lang="en-US" sz="3200">
                <a:latin typeface="Adobe Devanagari"/>
              </a:rPr>
              <a:t>IT22343352 | Ekanayake M Y R</a:t>
            </a:r>
            <a:endParaRPr lang="en-US" sz="3200" b="0">
              <a:latin typeface="Adobe Devanagari"/>
            </a:endParaRPr>
          </a:p>
          <a:p>
            <a:endParaRPr lang="en-US" sz="3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D7E18D-3E07-59EB-5BB9-C0451CEA9F5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IT22343352</a:t>
            </a:r>
            <a:r>
              <a:rPr lang="en-US" sz="1800">
                <a:solidFill>
                  <a:schemeClr val="tx1"/>
                </a:solidFill>
              </a:rPr>
              <a:t>  |   </a:t>
            </a: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Ekanayake M.Y.R</a:t>
            </a:r>
            <a:r>
              <a:rPr lang="en-US" sz="1800" b="1">
                <a:solidFill>
                  <a:schemeClr val="tx1"/>
                </a:solidFill>
                <a:latin typeface="Times New Roman"/>
                <a:cs typeface="Times New Roman"/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25-26J-386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531AE4-8246-EDFD-CF45-C331936A9F35}"/>
              </a:ext>
            </a:extLst>
          </p:cNvPr>
          <p:cNvSpPr txBox="1"/>
          <p:nvPr/>
        </p:nvSpPr>
        <p:spPr>
          <a:xfrm>
            <a:off x="533400" y="1245637"/>
            <a:ext cx="9227976" cy="6924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AI – Powered Meal Plan Generator &amp; Visual Ingredient Identifier</a:t>
            </a:r>
            <a:endParaRPr lang="en-US" sz="2000">
              <a:ea typeface="+mn-lt"/>
              <a:cs typeface="+mn-lt"/>
            </a:endParaRPr>
          </a:p>
          <a:p>
            <a:endParaRPr lang="en-US" sz="1900" b="1">
              <a:ea typeface="Cambria"/>
            </a:endParaRPr>
          </a:p>
        </p:txBody>
      </p:sp>
      <p:pic>
        <p:nvPicPr>
          <p:cNvPr id="6" name="Picture 5" descr="A person smiling at camera&#10;&#10;AI-generated content may be incorrect.">
            <a:extLst>
              <a:ext uri="{FF2B5EF4-FFF2-40B4-BE49-F238E27FC236}">
                <a16:creationId xmlns:a16="http://schemas.microsoft.com/office/drawing/2014/main" id="{B1730247-D655-D310-19F9-7D9944841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99" y="-2348"/>
            <a:ext cx="2323450" cy="25099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31401E-FBB8-E65C-E08F-C2187D50CFCF}"/>
              </a:ext>
            </a:extLst>
          </p:cNvPr>
          <p:cNvSpPr txBox="1"/>
          <p:nvPr/>
        </p:nvSpPr>
        <p:spPr>
          <a:xfrm>
            <a:off x="579490" y="2051792"/>
            <a:ext cx="11034441" cy="45704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>
                <a:ea typeface="+mn-lt"/>
                <a:cs typeface="+mn-lt"/>
              </a:rPr>
              <a:t>Personalized Meal Plan Generator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>
                <a:ea typeface="+mn-lt"/>
                <a:cs typeface="+mn-lt"/>
              </a:rPr>
              <a:t>Developed a meal planning engine using </a:t>
            </a:r>
            <a:r>
              <a:rPr lang="en-US" sz="1700" b="1">
                <a:ea typeface="+mn-lt"/>
                <a:cs typeface="+mn-lt"/>
              </a:rPr>
              <a:t>Integer Linear Programming (ILP)</a:t>
            </a:r>
            <a:r>
              <a:rPr lang="en-US" sz="1700">
                <a:ea typeface="+mn-lt"/>
                <a:cs typeface="+mn-lt"/>
              </a:rPr>
              <a:t> optimized under </a:t>
            </a:r>
            <a:r>
              <a:rPr lang="en-US" sz="1700" b="1">
                <a:ea typeface="+mn-lt"/>
                <a:cs typeface="+mn-lt"/>
              </a:rPr>
              <a:t>5 key constraints </a:t>
            </a:r>
            <a:r>
              <a:rPr lang="en-US" sz="1700">
                <a:ea typeface="+mn-lt"/>
                <a:cs typeface="+mn-lt"/>
              </a:rPr>
              <a:t>based on user profile and user preferences </a:t>
            </a:r>
            <a:endParaRPr lang="en-US">
              <a:ea typeface="Cambria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1700">
                <a:ea typeface="+mn-lt"/>
                <a:cs typeface="+mn-lt"/>
              </a:rPr>
              <a:t>calorie target, number of meals, calorie distribution, nutrient distribution, and preferred ingredients</a:t>
            </a:r>
            <a:endParaRPr lang="en-US" sz="170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>
                <a:ea typeface="+mn-lt"/>
                <a:cs typeface="+mn-lt"/>
              </a:rPr>
              <a:t>Achieved </a:t>
            </a:r>
            <a:r>
              <a:rPr lang="en-US" sz="1700" b="1">
                <a:ea typeface="+mn-lt"/>
                <a:cs typeface="+mn-lt"/>
              </a:rPr>
              <a:t>84% accuracy</a:t>
            </a:r>
            <a:r>
              <a:rPr lang="en-US" sz="1700">
                <a:ea typeface="+mn-lt"/>
                <a:cs typeface="+mn-lt"/>
              </a:rPr>
              <a:t> in generating daily meal plans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7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700" b="1">
                <a:ea typeface="+mn-lt"/>
                <a:cs typeface="+mn-lt"/>
              </a:rPr>
              <a:t>CNN-Based Food Analyzer</a:t>
            </a:r>
            <a:endParaRPr lang="en-US" b="1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>
                <a:ea typeface="+mn-lt"/>
                <a:cs typeface="+mn-lt"/>
              </a:rPr>
              <a:t>Built a CNN model for ingredient extraction, identifying 75 distinct ingredients using </a:t>
            </a:r>
            <a:r>
              <a:rPr lang="en-US" sz="1700" b="1">
                <a:ea typeface="+mn-lt"/>
                <a:cs typeface="+mn-lt"/>
              </a:rPr>
              <a:t>multi-label classification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>
                <a:ea typeface="+mn-lt"/>
                <a:cs typeface="+mn-lt"/>
              </a:rPr>
              <a:t>Developed a CNN model for nutrient prediction (fat, protein, carbohydrates) through </a:t>
            </a:r>
            <a:r>
              <a:rPr lang="en-US" sz="1700" b="1">
                <a:ea typeface="+mn-lt"/>
                <a:cs typeface="+mn-lt"/>
              </a:rPr>
              <a:t>multi-task regression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>
                <a:ea typeface="+mn-lt"/>
                <a:cs typeface="+mn-lt"/>
              </a:rPr>
              <a:t>Calculated calories using the </a:t>
            </a:r>
            <a:r>
              <a:rPr lang="en-US" sz="1700" b="1">
                <a:ea typeface="+mn-lt"/>
                <a:cs typeface="+mn-lt"/>
              </a:rPr>
              <a:t>4-4-9 Atwater system</a:t>
            </a:r>
            <a:r>
              <a:rPr lang="en-US" sz="1700">
                <a:ea typeface="+mn-lt"/>
                <a:cs typeface="+mn-lt"/>
              </a:rPr>
              <a:t> rule, achieving </a:t>
            </a:r>
            <a:r>
              <a:rPr lang="en-US" sz="1700" b="1">
                <a:ea typeface="+mn-lt"/>
                <a:cs typeface="+mn-lt"/>
              </a:rPr>
              <a:t>74% accuracy </a:t>
            </a:r>
            <a:r>
              <a:rPr lang="en-US" sz="1700">
                <a:ea typeface="+mn-lt"/>
                <a:cs typeface="+mn-lt"/>
              </a:rPr>
              <a:t>on calorie estimates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15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2E91-99E2-D05C-1DA4-B8745850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4A2293-65AC-55F3-B0D4-BFB95776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20032"/>
            <a:ext cx="8305800" cy="545817"/>
          </a:xfrm>
        </p:spPr>
        <p:txBody>
          <a:bodyPr>
            <a:noAutofit/>
          </a:bodyPr>
          <a:lstStyle/>
          <a:p>
            <a:r>
              <a:rPr lang="en-US" sz="3200">
                <a:latin typeface="Adobe Devanagari"/>
              </a:rPr>
              <a:t>IT22343420 | T M Poornima</a:t>
            </a:r>
            <a:endParaRPr lang="en-US" sz="3200" b="0">
              <a:latin typeface="Adobe Devanagari"/>
            </a:endParaRPr>
          </a:p>
          <a:p>
            <a:endParaRPr lang="en-US" sz="3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9FC454-14B0-F03D-1A78-1FF114EE79D3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IT22343420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T M Poornima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25-26J-386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C7875D-3AAB-F36B-1A2A-7B5DA46384F7}"/>
              </a:ext>
            </a:extLst>
          </p:cNvPr>
          <p:cNvSpPr txBox="1"/>
          <p:nvPr/>
        </p:nvSpPr>
        <p:spPr>
          <a:xfrm>
            <a:off x="533400" y="1245637"/>
            <a:ext cx="9227976" cy="6924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Health Progress tracking and predictive health alert system</a:t>
            </a:r>
            <a:endParaRPr lang="en-US" sz="2000">
              <a:ea typeface="+mn-lt"/>
              <a:cs typeface="+mn-lt"/>
            </a:endParaRPr>
          </a:p>
          <a:p>
            <a:endParaRPr lang="en-US" sz="1900" b="1"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B7E84-A2BD-F1FF-02EB-7E71C2010B3F}"/>
              </a:ext>
            </a:extLst>
          </p:cNvPr>
          <p:cNvSpPr txBox="1"/>
          <p:nvPr/>
        </p:nvSpPr>
        <p:spPr>
          <a:xfrm>
            <a:off x="521980" y="1936773"/>
            <a:ext cx="11034441" cy="57477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>
                <a:ea typeface="Cambria"/>
              </a:rPr>
              <a:t>Predictive Health Risk Classification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700" dirty="0">
                <a:ea typeface="Cambria"/>
              </a:rPr>
              <a:t>Trained an </a:t>
            </a:r>
            <a:r>
              <a:rPr lang="en-US" sz="1700" dirty="0" err="1">
                <a:ea typeface="Cambria"/>
              </a:rPr>
              <a:t>XGBoost</a:t>
            </a:r>
            <a:r>
              <a:rPr lang="en-US" sz="1700" dirty="0">
                <a:ea typeface="Cambria"/>
              </a:rPr>
              <a:t> classifier on 5,000 patient records with 19 physiological and lifestyle features, evaluated against Logistic Regression, Random Forest, and Gradient Boosting through 5-Fold Stratified Cross-Validation</a:t>
            </a:r>
            <a:endParaRPr lang="en-US" dirty="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700" dirty="0">
                <a:ea typeface="Cambria"/>
              </a:rPr>
              <a:t>Achieved </a:t>
            </a:r>
            <a:r>
              <a:rPr lang="en-US" sz="1700" b="1">
                <a:ea typeface="Cambria"/>
              </a:rPr>
              <a:t>86.60%</a:t>
            </a:r>
            <a:r>
              <a:rPr lang="en-US" sz="1700" dirty="0">
                <a:ea typeface="Cambria"/>
              </a:rPr>
              <a:t> test accuracy with a weighted F1-score of 0.97 across </a:t>
            </a:r>
            <a:r>
              <a:rPr lang="en-US" sz="1700" b="1" dirty="0">
                <a:ea typeface="Cambria"/>
              </a:rPr>
              <a:t>Low, Medium, and High risk</a:t>
            </a:r>
            <a:r>
              <a:rPr lang="en-US" sz="1700" dirty="0">
                <a:ea typeface="Cambria"/>
              </a:rPr>
              <a:t> categories</a:t>
            </a:r>
            <a:endParaRPr lang="en-US" dirty="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700" dirty="0">
                <a:ea typeface="Cambria"/>
              </a:rPr>
              <a:t>Feature importance analysis identified cholesterol (51.42%), blood pressure (9.99%), and glucose (9.70%) as the three dominant predictors</a:t>
            </a:r>
            <a:endParaRPr lang="en-US" dirty="0">
              <a:ea typeface="Cambria"/>
            </a:endParaRPr>
          </a:p>
          <a:p>
            <a:pPr>
              <a:lnSpc>
                <a:spcPct val="150000"/>
              </a:lnSpc>
            </a:pPr>
            <a:r>
              <a:rPr lang="en-US" sz="1700" b="1" dirty="0" err="1">
                <a:ea typeface="Cambria"/>
              </a:rPr>
              <a:t>Personalised</a:t>
            </a:r>
            <a:r>
              <a:rPr lang="en-US" sz="1700" b="1" dirty="0">
                <a:ea typeface="Cambria"/>
              </a:rPr>
              <a:t> Dietary Recommendation </a:t>
            </a:r>
            <a:endParaRPr lang="en-US" b="1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700">
                <a:ea typeface="Cambria"/>
              </a:rPr>
              <a:t>Engineered 25 derived features from 17 raw health variables capturing cardiovascular risk score, metabolic risk score, and metabolic syndrome interactions, with SMOTE applied to address class imbalance</a:t>
            </a:r>
            <a:endParaRPr lang="en-US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700">
                <a:ea typeface="Cambria"/>
              </a:rPr>
              <a:t>Trained and compared six models including Random Forest, Gradient Boosting, Voting Ensemble, and Stacking Ensemble through 10-Fold Stratified Cross-Validation</a:t>
            </a:r>
            <a:endParaRPr lang="en-US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700">
                <a:ea typeface="Cambria"/>
              </a:rPr>
              <a:t>Achieved </a:t>
            </a:r>
            <a:r>
              <a:rPr lang="en-US" sz="1700" b="1">
                <a:ea typeface="Cambria"/>
              </a:rPr>
              <a:t>66.94%</a:t>
            </a:r>
            <a:r>
              <a:rPr lang="en-US" sz="1700">
                <a:ea typeface="Cambria"/>
              </a:rPr>
              <a:t> test accuracy </a:t>
            </a:r>
            <a:endParaRPr lang="en-US" sz="17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1700" b="1" dirty="0"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ea typeface="Cambria"/>
            </a:endParaRPr>
          </a:p>
        </p:txBody>
      </p:sp>
      <p:pic>
        <p:nvPicPr>
          <p:cNvPr id="3" name="Picture 2" descr="A person in a red dress&#10;&#10;AI-generated content may be incorrect.">
            <a:extLst>
              <a:ext uri="{FF2B5EF4-FFF2-40B4-BE49-F238E27FC236}">
                <a16:creationId xmlns:a16="http://schemas.microsoft.com/office/drawing/2014/main" id="{1D4D6A46-13CC-95FA-0272-507C6102E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582" y="105833"/>
            <a:ext cx="2148418" cy="238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9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22EC-01B1-4E0C-7875-BAD74818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10E9F6-FA1F-1C58-3C10-5E8A8941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20032"/>
            <a:ext cx="8305800" cy="545817"/>
          </a:xfrm>
        </p:spPr>
        <p:txBody>
          <a:bodyPr>
            <a:noAutofit/>
          </a:bodyPr>
          <a:lstStyle/>
          <a:p>
            <a:r>
              <a:rPr lang="en-US" sz="3200"/>
              <a:t>IT22343284 | SAMARAWICKRAMA T.N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F0E6C-24D0-5548-58CF-00F381B84AE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IT22343284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Samarawickrama T.N</a:t>
            </a:r>
            <a:r>
              <a:rPr 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25-26J-386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CC6D82-F872-D917-7247-ABF3423F5BB7}"/>
              </a:ext>
            </a:extLst>
          </p:cNvPr>
          <p:cNvSpPr txBox="1"/>
          <p:nvPr/>
        </p:nvSpPr>
        <p:spPr>
          <a:xfrm>
            <a:off x="533400" y="1245637"/>
            <a:ext cx="922797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/>
              <a:t>AI-Powered Smart Grocery List Optimization &amp; Nearest  Store Recommendation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7EE70E-D7C6-2F38-688F-5B148991623D}"/>
              </a:ext>
            </a:extLst>
          </p:cNvPr>
          <p:cNvSpPr txBox="1"/>
          <p:nvPr/>
        </p:nvSpPr>
        <p:spPr>
          <a:xfrm>
            <a:off x="678024" y="2216016"/>
            <a:ext cx="9989976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Developed an intelligent system to optimize grocery purchasing decisions across multiple supermarkets ( Keels , Cargills 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Implemented a machine learning–based product matching model (Random Forest) for accurate cross-store item comparison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Designed a hybrid matching approach combining rule-based, canonical mapping, and ML techniques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Used a Travelling Purchaser Problem (TPP) based method to find the most cost-effective shopping plan</a:t>
            </a:r>
            <a:r>
              <a:rPr lang="en-US" sz="17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B45796-3F13-332A-C4FE-9979A5C6E9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624" y="76200"/>
            <a:ext cx="21336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02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F8E4-8BAA-AAAC-1ADB-7FB6F7C2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A6FF97-2B57-18AA-1C49-1E5B6438FFDA}"/>
              </a:ext>
            </a:extLst>
          </p:cNvPr>
          <p:cNvSpPr txBox="1"/>
          <p:nvPr/>
        </p:nvSpPr>
        <p:spPr>
          <a:xfrm>
            <a:off x="914400" y="615478"/>
            <a:ext cx="8517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Results and Testimonials(feedback)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5CF9DE-F6B0-97B0-F6B8-F03C96BB0BD6}"/>
              </a:ext>
            </a:extLst>
          </p:cNvPr>
          <p:cNvSpPr txBox="1"/>
          <p:nvPr/>
        </p:nvSpPr>
        <p:spPr>
          <a:xfrm>
            <a:off x="4572000" y="5334000"/>
            <a:ext cx="61659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/>
              <a:t>.</a:t>
            </a:r>
            <a:endParaRPr lang="en-US" sz="2000" b="1"/>
          </a:p>
          <a:p>
            <a:pPr lvl="1"/>
            <a:endParaRPr lang="en-US" sz="2000" b="1"/>
          </a:p>
          <a:p>
            <a:pPr lvl="1"/>
            <a:endParaRPr lang="en-U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/>
          </a:p>
          <a:p>
            <a:endParaRPr lang="en-US" sz="2000" b="1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5B10EF01-B234-AA86-6BE2-27433E1610B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9904" y="938643"/>
            <a:ext cx="111765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Positive feedback was received for the integrated idea and overall system workflow </a:t>
            </a: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Cambria"/>
              <a:ea typeface="Cambri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   User Acceptance Testing showed that the system is practical and useful for personalized health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Cambria"/>
                <a:ea typeface="Cambria"/>
              </a:rPr>
              <a:t>     Add sugar level as input , Add health report analyzers ,Display offers in </a:t>
            </a:r>
            <a:r>
              <a:rPr lang="en-US" altLang="en-US" dirty="0" err="1">
                <a:latin typeface="Cambria"/>
                <a:ea typeface="Cambria"/>
              </a:rPr>
              <a:t>supermakets</a:t>
            </a:r>
            <a:r>
              <a:rPr lang="en-US" altLang="en-US" dirty="0">
                <a:latin typeface="Cambria"/>
                <a:ea typeface="Cambria"/>
              </a:rPr>
              <a:t> </a:t>
            </a: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Cambria"/>
              <a:ea typeface="Cambri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   Benchmark testing confirmed strong</a:t>
            </a:r>
            <a:r>
              <a:rPr lang="en-US" altLang="en-US" dirty="0">
                <a:latin typeface="Cambria"/>
                <a:ea typeface="Cambria"/>
              </a:rPr>
              <a:t>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performance of the nutrition prediction component </a:t>
            </a: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Cambria"/>
              <a:ea typeface="Cambri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   Nutrition prediction achieved low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MAE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RMSE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with a high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R²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score </a:t>
            </a: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Cambria"/>
              <a:ea typeface="Cambri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   Health risk prediction showed good classification performance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F1-score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</a:t>
            </a: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Cambria"/>
              <a:ea typeface="Cambria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E8F15F8-8348-1B8F-1BF9-DC4BC7E9F6F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9904" y="3152539"/>
            <a:ext cx="1091677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dirty="0"/>
              <a:t>Current supermarket coverage is limited to selected retailers</a:t>
            </a:r>
            <a:r>
              <a:rPr lang="en-US" b="1" dirty="0"/>
              <a:t>.</a:t>
            </a: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Cambria"/>
              <a:ea typeface="Cambri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 dirty="0">
                <a:latin typeface="Cambria"/>
                <a:ea typeface="Cambria"/>
              </a:rPr>
              <a:t>  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The current system mainly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two disease conditions: diabetes and hypertension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</a:t>
            </a: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Cambria"/>
              <a:ea typeface="Cambri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 dirty="0">
                <a:latin typeface="Cambria"/>
                <a:ea typeface="Cambria"/>
              </a:rPr>
              <a:t>  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Some ingredients used in generated meal plans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not commonly available in Sri Lankan  </a:t>
            </a:r>
            <a:endParaRPr lang="en-US" altLang="en-US" sz="1800" b="1" i="0" u="none" strike="noStrike" cap="none" normalizeH="0" baseline="0" dirty="0">
              <a:ln>
                <a:noFill/>
              </a:ln>
              <a:effectLst/>
              <a:latin typeface="Cambria"/>
              <a:ea typeface="Cambri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     supermarkets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mbria"/>
                <a:ea typeface="Cambria"/>
              </a:rPr>
              <a:t> </a:t>
            </a: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Cambria"/>
              <a:ea typeface="Cambri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88FA40-3839-F3E1-F31F-93184EEB4DAC}"/>
              </a:ext>
            </a:extLst>
          </p:cNvPr>
          <p:cNvSpPr txBox="1"/>
          <p:nvPr/>
        </p:nvSpPr>
        <p:spPr>
          <a:xfrm>
            <a:off x="914400" y="2708816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Limitations</a:t>
            </a:r>
          </a:p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7D5F8C-BF5F-F7CE-D61C-3257A96F1BE9}"/>
              </a:ext>
            </a:extLst>
          </p:cNvPr>
          <p:cNvSpPr txBox="1"/>
          <p:nvPr/>
        </p:nvSpPr>
        <p:spPr>
          <a:xfrm>
            <a:off x="914400" y="4441904"/>
            <a:ext cx="162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Future Work  </a:t>
            </a:r>
          </a:p>
          <a:p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CE15C30E-1397-178A-D664-0FE526C85CF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2843" y="4595793"/>
            <a:ext cx="843930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 dirty="0">
                <a:latin typeface="+mj-lt"/>
                <a:cs typeface="Arial"/>
              </a:rPr>
              <a:t> </a:t>
            </a:r>
            <a:r>
              <a:rPr lang="en-US" altLang="en-US" dirty="0">
                <a:latin typeface="+mj-lt"/>
                <a:ea typeface="Cambria"/>
                <a:cs typeface="Arial"/>
              </a:rPr>
              <a:t>   </a:t>
            </a:r>
            <a:r>
              <a:rPr kumimoji="0" lang="en-US" altLang="en-US" dirty="0">
                <a:latin typeface="+mj-lt"/>
                <a:ea typeface="Cambria"/>
                <a:cs typeface="Arial"/>
              </a:rPr>
              <a:t>Extend the system to support more diseases and health conditions </a:t>
            </a:r>
            <a:endParaRPr lang="en-US" altLang="en-US" dirty="0">
              <a:latin typeface="+mj-lt"/>
              <a:ea typeface="Cambria"/>
              <a:cs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dirty="0">
                <a:latin typeface="Cambria"/>
                <a:ea typeface="Cambria"/>
              </a:rPr>
              <a:t>    </a:t>
            </a:r>
            <a:r>
              <a:rPr kumimoji="0" lang="en-US" dirty="0">
                <a:latin typeface="Cambria"/>
                <a:ea typeface="Cambria"/>
              </a:rPr>
              <a:t>Improve meal generation by aligning recipes with Sri Lankan </a:t>
            </a:r>
            <a:endParaRPr lang="en-US" dirty="0">
              <a:latin typeface="Cambria"/>
              <a:ea typeface="Cambri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mbria"/>
                <a:ea typeface="Cambria"/>
              </a:rPr>
              <a:t>      </a:t>
            </a:r>
            <a:r>
              <a:rPr kumimoji="0" lang="en-US" dirty="0">
                <a:latin typeface="Cambria"/>
                <a:ea typeface="Cambria"/>
              </a:rPr>
              <a:t>supermarket availability </a:t>
            </a:r>
            <a:endParaRPr lang="en-US" dirty="0">
              <a:latin typeface="Cambria"/>
              <a:ea typeface="Cambria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dirty="0"/>
              <a:t>add more supermarkets, improve visual recognition, integrate more wearable devices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69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1309-3B5E-076F-BA99-69BE41CB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71" y="2814918"/>
            <a:ext cx="11684000" cy="792162"/>
          </a:xfrm>
        </p:spPr>
        <p:txBody>
          <a:bodyPr>
            <a:noAutofit/>
          </a:bodyPr>
          <a:lstStyle/>
          <a:p>
            <a:endParaRPr lang="en-US" sz="6000" b="1" dirty="0"/>
          </a:p>
        </p:txBody>
      </p:sp>
      <p:pic>
        <p:nvPicPr>
          <p:cNvPr id="6" name="Picture 5" descr="A blue and white background with text and symbols&#10;&#10;AI-generated content may be incorrect.">
            <a:extLst>
              <a:ext uri="{FF2B5EF4-FFF2-40B4-BE49-F238E27FC236}">
                <a16:creationId xmlns:a16="http://schemas.microsoft.com/office/drawing/2014/main" id="{081E7A51-052E-A3FF-18E9-524DDDA09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82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chers xmlns="7052f7b4-6618-4fd5-8c2b-195a2e438ea3">
      <UserInfo>
        <DisplayName/>
        <AccountId xsi:nil="true"/>
        <AccountType/>
      </UserInfo>
    </Teachers>
    <Templates xmlns="7052f7b4-6618-4fd5-8c2b-195a2e438ea3" xsi:nil="true"/>
    <Invited_Teachers xmlns="7052f7b4-6618-4fd5-8c2b-195a2e438ea3" xsi:nil="true"/>
    <CultureName xmlns="7052f7b4-6618-4fd5-8c2b-195a2e438ea3" xsi:nil="true"/>
    <Student_Groups xmlns="7052f7b4-6618-4fd5-8c2b-195a2e438ea3">
      <UserInfo>
        <DisplayName/>
        <AccountId xsi:nil="true"/>
        <AccountType/>
      </UserInfo>
    </Student_Groups>
    <Self_Registration_Enabled xmlns="7052f7b4-6618-4fd5-8c2b-195a2e438ea3" xsi:nil="true"/>
    <AppVersion xmlns="7052f7b4-6618-4fd5-8c2b-195a2e438ea3" xsi:nil="true"/>
    <NotebookType xmlns="7052f7b4-6618-4fd5-8c2b-195a2e438ea3" xsi:nil="true"/>
    <DefaultSectionNames xmlns="7052f7b4-6618-4fd5-8c2b-195a2e438ea3" xsi:nil="true"/>
    <FolderType xmlns="7052f7b4-6618-4fd5-8c2b-195a2e438ea3" xsi:nil="true"/>
    <Owner xmlns="7052f7b4-6618-4fd5-8c2b-195a2e438ea3">
      <UserInfo>
        <DisplayName/>
        <AccountId xsi:nil="true"/>
        <AccountType/>
      </UserInfo>
    </Owner>
    <Students xmlns="7052f7b4-6618-4fd5-8c2b-195a2e438ea3">
      <UserInfo>
        <DisplayName/>
        <AccountId xsi:nil="true"/>
        <AccountType/>
      </UserInfo>
    </Students>
    <Has_Teacher_Only_SectionGroup xmlns="7052f7b4-6618-4fd5-8c2b-195a2e438ea3" xsi:nil="true"/>
    <Is_Collaboration_Space_Locked xmlns="7052f7b4-6618-4fd5-8c2b-195a2e438ea3" xsi:nil="true"/>
    <_activity xmlns="7052f7b4-6618-4fd5-8c2b-195a2e438ea3" xsi:nil="true"/>
    <Invited_Students xmlns="7052f7b4-6618-4fd5-8c2b-195a2e438ea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0BED47397629468ECCA40A9BFD2360" ma:contentTypeVersion="32" ma:contentTypeDescription="Create a new document." ma:contentTypeScope="" ma:versionID="8018176eb00ec7aee09f0e7e93d2feae">
  <xsd:schema xmlns:xsd="http://www.w3.org/2001/XMLSchema" xmlns:xs="http://www.w3.org/2001/XMLSchema" xmlns:p="http://schemas.microsoft.com/office/2006/metadata/properties" xmlns:ns3="7052f7b4-6618-4fd5-8c2b-195a2e438ea3" xmlns:ns4="d73754a2-87ab-421f-a273-25d43a392330" targetNamespace="http://schemas.microsoft.com/office/2006/metadata/properties" ma:root="true" ma:fieldsID="e50bf4c58197e20629937f9ece67a00f" ns3:_="" ns4:_="">
    <xsd:import namespace="7052f7b4-6618-4fd5-8c2b-195a2e438ea3"/>
    <xsd:import namespace="d73754a2-87ab-421f-a273-25d43a392330"/>
    <xsd:element name="properties">
      <xsd:complexType>
        <xsd:sequence>
          <xsd:element name="documentManagement">
            <xsd:complexType>
              <xsd:all>
                <xsd:element ref="ns3:NotebookType" minOccurs="0"/>
                <xsd:element ref="ns3:FolderType" minOccurs="0"/>
                <xsd:element ref="ns3:Owner" minOccurs="0"/>
                <xsd:element ref="ns3:DefaultSectionNames" minOccurs="0"/>
                <xsd:element ref="ns3:Templates" minOccurs="0"/>
                <xsd:element ref="ns3:CultureName" minOccurs="0"/>
                <xsd:element ref="ns3:AppVersion" minOccurs="0"/>
                <xsd:element ref="ns3:Teachers" minOccurs="0"/>
                <xsd:element ref="ns3:Students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52f7b4-6618-4fd5-8c2b-195a2e438ea3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Owner" ma:index="1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1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2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chers" ma:index="1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8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19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0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1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2" nillable="true" ma:displayName="Is Collaboration Space Locked" ma:internalName="Is_Collaboration_Space_Locked">
      <xsd:simpleType>
        <xsd:restriction base="dms:Boolean"/>
      </xsd:simpleType>
    </xsd:element>
    <xsd:element name="MediaServiceMetadata" ma:index="2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9" nillable="true" ma:displayName="Length (seconds)" ma:internalName="MediaLengthInSeconds" ma:readOnly="true">
      <xsd:simpleType>
        <xsd:restriction base="dms:Unknown"/>
      </xsd:simpleType>
    </xsd:element>
    <xsd:element name="MediaServiceAutoTags" ma:index="30" nillable="true" ma:displayName="Tags" ma:internalName="MediaServiceAutoTags" ma:readOnly="true">
      <xsd:simpleType>
        <xsd:restriction base="dms:Text"/>
      </xsd:simpleType>
    </xsd:element>
    <xsd:element name="MediaServiceOCR" ma:index="3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34" nillable="true" ma:displayName="_activity" ma:hidden="true" ma:internalName="_activity">
      <xsd:simpleType>
        <xsd:restriction base="dms:Note"/>
      </xsd:simpleType>
    </xsd:element>
    <xsd:element name="MediaServiceObjectDetectorVersions" ma:index="3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3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39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3754a2-87ab-421f-a273-25d43a392330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5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E179EA-5802-4847-97C7-5D18D23DA49F}">
  <ds:schemaRefs>
    <ds:schemaRef ds:uri="7052f7b4-6618-4fd5-8c2b-195a2e438ea3"/>
    <ds:schemaRef ds:uri="d73754a2-87ab-421f-a273-25d43a39233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74AE322-1B87-44EB-913F-C76F41A3CAA2}">
  <ds:schemaRefs>
    <ds:schemaRef ds:uri="7052f7b4-6618-4fd5-8c2b-195a2e438ea3"/>
    <ds:schemaRef ds:uri="d73754a2-87ab-421f-a273-25d43a39233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524EB50-756A-4B4D-A538-B8A80096A11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125</TotalTime>
  <Words>924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Adobe Devanagari</vt:lpstr>
      <vt:lpstr>Arial</vt:lpstr>
      <vt:lpstr>Calibri</vt:lpstr>
      <vt:lpstr>Cambria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IT22907684 | Weerarathne H p </vt:lpstr>
      <vt:lpstr>IT22343352 | Ekanayake M Y R </vt:lpstr>
      <vt:lpstr>IT22343420 | T M Poornima </vt:lpstr>
      <vt:lpstr>IT22343284 | SAMARAWICKRAMA T.N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WEERARATHNE H P it22907684</cp:lastModifiedBy>
  <cp:revision>96</cp:revision>
  <dcterms:created xsi:type="dcterms:W3CDTF">2025-08-25T09:34:25Z</dcterms:created>
  <dcterms:modified xsi:type="dcterms:W3CDTF">2026-05-03T16:25:21Z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0x010100010BED47397629468ECCA40A9BFD2360</vt:lpwstr>
  </property>
</Properties>
</file>