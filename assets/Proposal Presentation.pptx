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7"/>
  </p:notesMasterIdLst>
  <p:handoutMasterIdLst>
    <p:handoutMasterId r:id="rId48"/>
  </p:handoutMasterIdLst>
  <p:sldIdLst>
    <p:sldId id="277" r:id="rId5"/>
    <p:sldId id="330" r:id="rId6"/>
    <p:sldId id="331" r:id="rId7"/>
    <p:sldId id="332" r:id="rId8"/>
    <p:sldId id="264" r:id="rId9"/>
    <p:sldId id="289" r:id="rId10"/>
    <p:sldId id="292" r:id="rId11"/>
    <p:sldId id="333" r:id="rId12"/>
    <p:sldId id="321" r:id="rId13"/>
    <p:sldId id="300" r:id="rId14"/>
    <p:sldId id="322" r:id="rId15"/>
    <p:sldId id="347" r:id="rId16"/>
    <p:sldId id="295" r:id="rId17"/>
    <p:sldId id="297" r:id="rId18"/>
    <p:sldId id="344" r:id="rId19"/>
    <p:sldId id="310" r:id="rId20"/>
    <p:sldId id="311" r:id="rId21"/>
    <p:sldId id="256" r:id="rId22"/>
    <p:sldId id="294" r:id="rId23"/>
    <p:sldId id="293" r:id="rId24"/>
    <p:sldId id="312" r:id="rId25"/>
    <p:sldId id="340" r:id="rId26"/>
    <p:sldId id="301" r:id="rId27"/>
    <p:sldId id="302" r:id="rId28"/>
    <p:sldId id="303" r:id="rId29"/>
    <p:sldId id="304" r:id="rId30"/>
    <p:sldId id="334" r:id="rId31"/>
    <p:sldId id="308" r:id="rId32"/>
    <p:sldId id="335" r:id="rId33"/>
    <p:sldId id="339" r:id="rId34"/>
    <p:sldId id="338" r:id="rId35"/>
    <p:sldId id="314" r:id="rId36"/>
    <p:sldId id="316" r:id="rId37"/>
    <p:sldId id="342" r:id="rId38"/>
    <p:sldId id="318" r:id="rId39"/>
    <p:sldId id="320" r:id="rId40"/>
    <p:sldId id="324" r:id="rId41"/>
    <p:sldId id="346" r:id="rId42"/>
    <p:sldId id="327" r:id="rId43"/>
    <p:sldId id="329" r:id="rId44"/>
    <p:sldId id="299" r:id="rId45"/>
    <p:sldId id="34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752E48-1E47-4CA8-9E35-9FB647B95141}" v="2" dt="2026-04-25T09:03:52.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5/3/2026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34</a:t>
            </a:fld>
            <a:endParaRPr lang="en-US"/>
          </a:p>
        </p:txBody>
      </p:sp>
    </p:spTree>
    <p:extLst>
      <p:ext uri="{BB962C8B-B14F-4D97-AF65-F5344CB8AC3E}">
        <p14:creationId xmlns:p14="http://schemas.microsoft.com/office/powerpoint/2010/main" val="46169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40</a:t>
            </a:fld>
            <a:endParaRPr lang="en-US"/>
          </a:p>
        </p:txBody>
      </p:sp>
    </p:spTree>
    <p:extLst>
      <p:ext uri="{BB962C8B-B14F-4D97-AF65-F5344CB8AC3E}">
        <p14:creationId xmlns:p14="http://schemas.microsoft.com/office/powerpoint/2010/main" val="1714373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5/3/2026</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p:txBody>
          <a:bodyPr/>
          <a:lstStyle/>
          <a:p>
            <a:r>
              <a:rPr lang="en-GB" err="1"/>
              <a:t>FitNourish</a:t>
            </a:r>
            <a:r>
              <a:rPr lang="en-GB"/>
              <a:t> AI – Intelligent Nutrition &amp; Wellness Assistant</a:t>
            </a:r>
            <a:endParaRPr lang="en-US"/>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p:txBody>
          <a:bodyPr/>
          <a:lstStyle/>
          <a:p>
            <a:r>
              <a:rPr lang="en-US"/>
              <a:t>25-26J- 386 </a:t>
            </a:r>
          </a:p>
        </p:txBody>
      </p:sp>
      <p:pic>
        <p:nvPicPr>
          <p:cNvPr id="3" name="Picture 2" descr="A blue logo with a brain and a heart and an apple&#10;&#10;AI-generated content may be incorrect.">
            <a:extLst>
              <a:ext uri="{FF2B5EF4-FFF2-40B4-BE49-F238E27FC236}">
                <a16:creationId xmlns:a16="http://schemas.microsoft.com/office/drawing/2014/main" id="{689DC1A9-9316-450B-38AC-FB38B737129C}"/>
              </a:ext>
            </a:extLst>
          </p:cNvPr>
          <p:cNvPicPr>
            <a:picLocks noChangeAspect="1"/>
          </p:cNvPicPr>
          <p:nvPr/>
        </p:nvPicPr>
        <p:blipFill>
          <a:blip r:embed="rId2"/>
          <a:stretch>
            <a:fillRect/>
          </a:stretch>
        </p:blipFill>
        <p:spPr>
          <a:xfrm>
            <a:off x="3276600" y="3200400"/>
            <a:ext cx="5638800" cy="3093224"/>
          </a:xfrm>
          <a:prstGeom prst="rect">
            <a:avLst/>
          </a:prstGeom>
        </p:spPr>
      </p:pic>
    </p:spTree>
    <p:extLst>
      <p:ext uri="{BB962C8B-B14F-4D97-AF65-F5344CB8AC3E}">
        <p14:creationId xmlns:p14="http://schemas.microsoft.com/office/powerpoint/2010/main" val="381388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C6270-D492-B832-CA47-E59EF4EBA18B}"/>
              </a:ext>
            </a:extLst>
          </p:cNvPr>
          <p:cNvSpPr>
            <a:spLocks noGrp="1"/>
          </p:cNvSpPr>
          <p:nvPr>
            <p:ph idx="1"/>
          </p:nvPr>
        </p:nvSpPr>
        <p:spPr>
          <a:xfrm>
            <a:off x="152400" y="762000"/>
            <a:ext cx="11684000" cy="5181600"/>
          </a:xfrm>
        </p:spPr>
        <p:txBody>
          <a:bodyPr vert="horz" lIns="91440" tIns="45720" rIns="91440" bIns="45720" rtlCol="0" anchor="t">
            <a:normAutofit/>
          </a:bodyPr>
          <a:lstStyle/>
          <a:p>
            <a:pPr marL="0" indent="0">
              <a:buNone/>
            </a:pPr>
            <a:r>
              <a:rPr lang="en-US" b="1">
                <a:ea typeface="Cambria"/>
              </a:rPr>
              <a:t>Research Problem</a:t>
            </a:r>
          </a:p>
          <a:p>
            <a:pPr marL="400050" lvl="1" indent="0">
              <a:buNone/>
            </a:pPr>
            <a:r>
              <a:rPr lang="en-US">
                <a:ea typeface="+mn-lt"/>
                <a:cs typeface="+mn-lt"/>
              </a:rPr>
              <a:t>Poor dietary habits and a lack of personalized nutrition advice lead to health issues. Existing apps are not dynamic and ignore real-time health data.</a:t>
            </a:r>
            <a:br>
              <a:rPr lang="en-US">
                <a:ea typeface="+mn-lt"/>
                <a:cs typeface="+mn-lt"/>
              </a:rPr>
            </a:br>
            <a:endParaRPr lang="en-US">
              <a:ea typeface="Cambria"/>
            </a:endParaRPr>
          </a:p>
          <a:p>
            <a:pPr marL="0" indent="0">
              <a:buNone/>
            </a:pPr>
            <a:r>
              <a:rPr lang="en-US" b="1">
                <a:ea typeface="Cambria"/>
              </a:rPr>
              <a:t>Research Solution</a:t>
            </a:r>
          </a:p>
          <a:p>
            <a:pPr marL="0" indent="0">
              <a:buNone/>
            </a:pPr>
            <a:r>
              <a:rPr lang="en-US" sz="1800" err="1">
                <a:ea typeface="+mn-lt"/>
                <a:cs typeface="+mn-lt"/>
              </a:rPr>
              <a:t>FitNourish</a:t>
            </a:r>
            <a:r>
              <a:rPr lang="en-US" sz="1800">
                <a:ea typeface="+mn-lt"/>
                <a:cs typeface="+mn-lt"/>
              </a:rPr>
              <a:t> AI is an </a:t>
            </a:r>
            <a:r>
              <a:rPr lang="en-US" sz="1800" b="1">
                <a:ea typeface="+mn-lt"/>
                <a:cs typeface="+mn-lt"/>
              </a:rPr>
              <a:t>AI-powered nutrition assistant</a:t>
            </a:r>
            <a:r>
              <a:rPr lang="en-US" sz="1800">
                <a:ea typeface="+mn-lt"/>
                <a:cs typeface="+mn-lt"/>
              </a:rPr>
              <a:t> that gives </a:t>
            </a:r>
            <a:r>
              <a:rPr lang="en-US" sz="1800" b="1">
                <a:ea typeface="+mn-lt"/>
                <a:cs typeface="+mn-lt"/>
              </a:rPr>
              <a:t>personalized diet plans and health alerts</a:t>
            </a:r>
            <a:r>
              <a:rPr lang="en-US" sz="1800">
                <a:ea typeface="+mn-lt"/>
                <a:cs typeface="+mn-lt"/>
              </a:rPr>
              <a:t>. It uses:</a:t>
            </a:r>
            <a:endParaRPr lang="en-US" sz="1800" b="1">
              <a:ea typeface="Cambria"/>
            </a:endParaRPr>
          </a:p>
          <a:p>
            <a:r>
              <a:rPr lang="en-US" sz="1800" b="1">
                <a:ea typeface="+mn-lt"/>
                <a:cs typeface="+mn-lt"/>
              </a:rPr>
              <a:t>Machine Learning</a:t>
            </a:r>
            <a:r>
              <a:rPr lang="en-US" sz="1800">
                <a:ea typeface="+mn-lt"/>
                <a:cs typeface="+mn-lt"/>
              </a:rPr>
              <a:t> to create meal plans from user data and smartwatch biometrics.</a:t>
            </a:r>
            <a:endParaRPr lang="en-US" sz="1800">
              <a:ea typeface="Cambria"/>
            </a:endParaRPr>
          </a:p>
          <a:p>
            <a:r>
              <a:rPr lang="en-US" sz="1800" b="1">
                <a:ea typeface="+mn-lt"/>
                <a:cs typeface="+mn-lt"/>
              </a:rPr>
              <a:t>Image Processing &amp; Computer Vision</a:t>
            </a:r>
            <a:r>
              <a:rPr lang="en-US" sz="1800">
                <a:ea typeface="+mn-lt"/>
                <a:cs typeface="+mn-lt"/>
              </a:rPr>
              <a:t> to suggest meal plans and analyze food photos.</a:t>
            </a:r>
            <a:endParaRPr lang="en-US" sz="1800">
              <a:ea typeface="Cambria"/>
            </a:endParaRPr>
          </a:p>
          <a:p>
            <a:r>
              <a:rPr lang="en-US" sz="1800" b="1">
                <a:ea typeface="+mn-lt"/>
                <a:cs typeface="+mn-lt"/>
              </a:rPr>
              <a:t>Smart Grocery Optimizer</a:t>
            </a:r>
            <a:r>
              <a:rPr lang="en-US" sz="1800">
                <a:ea typeface="+mn-lt"/>
                <a:cs typeface="+mn-lt"/>
              </a:rPr>
              <a:t> to give </a:t>
            </a:r>
            <a:r>
              <a:rPr lang="en-US" sz="1800" b="1">
                <a:ea typeface="+mn-lt"/>
                <a:cs typeface="+mn-lt"/>
              </a:rPr>
              <a:t>budget-friendly shopping lists</a:t>
            </a:r>
            <a:r>
              <a:rPr lang="en-US" sz="1800">
                <a:ea typeface="+mn-lt"/>
                <a:cs typeface="+mn-lt"/>
              </a:rPr>
              <a:t>.</a:t>
            </a:r>
            <a:endParaRPr lang="en-US" sz="1800">
              <a:ea typeface="Cambria"/>
            </a:endParaRPr>
          </a:p>
          <a:p>
            <a:r>
              <a:rPr lang="en-US" sz="1800" b="1">
                <a:ea typeface="+mn-lt"/>
                <a:cs typeface="+mn-lt"/>
              </a:rPr>
              <a:t>Wellness Monitoring</a:t>
            </a:r>
            <a:r>
              <a:rPr lang="en-US" sz="1800">
                <a:ea typeface="+mn-lt"/>
                <a:cs typeface="+mn-lt"/>
              </a:rPr>
              <a:t> to track habits and send health alerts.</a:t>
            </a:r>
            <a:endParaRPr lang="en-US" sz="1800">
              <a:ea typeface="Cambria"/>
            </a:endParaRPr>
          </a:p>
          <a:p>
            <a:endParaRPr lang="en-US" sz="1800" b="1">
              <a:ea typeface="Cambria"/>
            </a:endParaRPr>
          </a:p>
          <a:p>
            <a:pPr marL="0" indent="0">
              <a:buNone/>
            </a:pPr>
            <a:endParaRPr lang="en-US">
              <a:ea typeface="Cambria"/>
            </a:endParaRPr>
          </a:p>
        </p:txBody>
      </p:sp>
    </p:spTree>
    <p:extLst>
      <p:ext uri="{BB962C8B-B14F-4D97-AF65-F5344CB8AC3E}">
        <p14:creationId xmlns:p14="http://schemas.microsoft.com/office/powerpoint/2010/main" val="3210992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EB5D7-5891-4285-2093-08DC12453D92}"/>
              </a:ext>
            </a:extLst>
          </p:cNvPr>
          <p:cNvSpPr>
            <a:spLocks noGrp="1"/>
          </p:cNvSpPr>
          <p:nvPr>
            <p:ph idx="1"/>
          </p:nvPr>
        </p:nvSpPr>
        <p:spPr>
          <a:xfrm>
            <a:off x="152400" y="990600"/>
            <a:ext cx="11531600" cy="4419600"/>
          </a:xfrm>
        </p:spPr>
        <p:txBody>
          <a:bodyPr vert="horz" lIns="91440" tIns="45720" rIns="91440" bIns="45720" rtlCol="0" anchor="t">
            <a:normAutofit/>
          </a:bodyPr>
          <a:lstStyle/>
          <a:p>
            <a:pPr marL="0" indent="0">
              <a:buNone/>
            </a:pPr>
            <a:r>
              <a:rPr lang="en-US" b="1">
                <a:ea typeface="Cambria"/>
              </a:rPr>
              <a:t>Research Gap</a:t>
            </a:r>
          </a:p>
          <a:p>
            <a:pPr marL="400050" lvl="1" indent="0">
              <a:buNone/>
            </a:pPr>
            <a:r>
              <a:rPr lang="en-US">
                <a:ea typeface="+mn-lt"/>
                <a:cs typeface="+mn-lt"/>
              </a:rPr>
              <a:t>A solution is needed that is intelligent, adaptive, and holistic, providing real-time, personalized dietary advice.</a:t>
            </a:r>
          </a:p>
          <a:p>
            <a:pPr marL="400050" lvl="1" indent="0">
              <a:buNone/>
            </a:pPr>
            <a:endParaRPr lang="en-US">
              <a:ea typeface="Cambria"/>
            </a:endParaRPr>
          </a:p>
          <a:p>
            <a:pPr marL="0" indent="0">
              <a:buNone/>
            </a:pPr>
            <a:r>
              <a:rPr lang="en-US" b="1">
                <a:ea typeface="Cambria"/>
              </a:rPr>
              <a:t>Main Objective</a:t>
            </a:r>
          </a:p>
          <a:p>
            <a:pPr marL="400050" lvl="1" indent="0">
              <a:buNone/>
            </a:pPr>
            <a:r>
              <a:rPr lang="en-US">
                <a:ea typeface="+mn-lt"/>
                <a:cs typeface="+mn-lt"/>
              </a:rPr>
              <a:t>To develop an AI-powered assistant that provides personalized dietary recommendations, meal planning, and health monitoring to help users manage health conditions and achieve fitness goals.</a:t>
            </a:r>
            <a:endParaRPr lang="en-US" b="1">
              <a:ea typeface="Cambria"/>
            </a:endParaRPr>
          </a:p>
        </p:txBody>
      </p:sp>
    </p:spTree>
    <p:extLst>
      <p:ext uri="{BB962C8B-B14F-4D97-AF65-F5344CB8AC3E}">
        <p14:creationId xmlns:p14="http://schemas.microsoft.com/office/powerpoint/2010/main" val="3516173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system&#10;&#10;AI-generated content may be incorrect.">
            <a:extLst>
              <a:ext uri="{FF2B5EF4-FFF2-40B4-BE49-F238E27FC236}">
                <a16:creationId xmlns:a16="http://schemas.microsoft.com/office/drawing/2014/main" id="{0CC55F67-5081-F80A-7FF8-75C44A516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900" y="125627"/>
            <a:ext cx="6934200" cy="6400800"/>
          </a:xfrm>
          <a:prstGeom prst="rect">
            <a:avLst/>
          </a:prstGeom>
        </p:spPr>
      </p:pic>
    </p:spTree>
    <p:extLst>
      <p:ext uri="{BB962C8B-B14F-4D97-AF65-F5344CB8AC3E}">
        <p14:creationId xmlns:p14="http://schemas.microsoft.com/office/powerpoint/2010/main" val="2199550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p>
            <a:r>
              <a:rPr lang="en-US">
                <a:latin typeface="Adobe Devanagari"/>
              </a:rPr>
              <a:t>It22907684|Weerarathne h. P</a:t>
            </a:r>
            <a:endParaRPr lang="en-US"/>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normAutofit/>
          </a:bodyPr>
          <a:lstStyle/>
          <a:p>
            <a:br>
              <a:rPr lang="en-GB"/>
            </a:br>
            <a:r>
              <a:rPr lang="en-GB"/>
              <a:t>AI-powered Multi-Disease Adaptive Nutrition and Personalized Health Optimization</a:t>
            </a:r>
          </a:p>
          <a:p>
            <a:endParaRPr lang="en-GB"/>
          </a:p>
          <a:p>
            <a:r>
              <a:rPr lang="en-GB"/>
              <a:t>System</a:t>
            </a:r>
            <a:r>
              <a:rPr lang="en-US"/>
              <a:t>BSc (Hons) in Information Technology Specialization in Information Technology</a:t>
            </a:r>
          </a:p>
        </p:txBody>
      </p:sp>
      <p:sp>
        <p:nvSpPr>
          <p:cNvPr id="4" name="Rectangle 3">
            <a:extLst>
              <a:ext uri="{FF2B5EF4-FFF2-40B4-BE49-F238E27FC236}">
                <a16:creationId xmlns:a16="http://schemas.microsoft.com/office/drawing/2014/main" id="{5FB98E66-DBD5-4B29-AC68-A58A70C64231}"/>
              </a:ext>
            </a:extLst>
          </p:cNvPr>
          <p:cNvSpPr/>
          <p:nvPr/>
        </p:nvSpPr>
        <p:spPr>
          <a:xfrm>
            <a:off x="2687817" y="648354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sz="1800" b="1" err="1">
                <a:solidFill>
                  <a:schemeClr val="tx1"/>
                </a:solidFill>
              </a:rPr>
              <a:t>Weerarathne</a:t>
            </a:r>
            <a:r>
              <a:rPr lang="en-US" sz="1800" b="1">
                <a:solidFill>
                  <a:schemeClr val="tx1"/>
                </a:solidFill>
              </a:rPr>
              <a:t> H.P&gt;&gt;   </a:t>
            </a:r>
            <a:r>
              <a:rPr lang="en-US" sz="1800">
                <a:solidFill>
                  <a:schemeClr val="tx1"/>
                </a:solidFill>
              </a:rPr>
              <a:t>|   </a:t>
            </a:r>
            <a:r>
              <a:rPr lang="en-US" sz="1800" b="0">
                <a:solidFill>
                  <a:schemeClr val="tx1"/>
                </a:solidFill>
              </a:rPr>
              <a:t>&lt;&lt;25-26J-386&gt;&gt;</a:t>
            </a:r>
          </a:p>
        </p:txBody>
      </p:sp>
      <p:sp>
        <p:nvSpPr>
          <p:cNvPr id="8" name="TextBox 7">
            <a:extLst>
              <a:ext uri="{FF2B5EF4-FFF2-40B4-BE49-F238E27FC236}">
                <a16:creationId xmlns:a16="http://schemas.microsoft.com/office/drawing/2014/main" id="{CBDE18B8-5FFF-C96A-F4F3-622C06C675CB}"/>
              </a:ext>
            </a:extLst>
          </p:cNvPr>
          <p:cNvSpPr txBox="1"/>
          <p:nvPr/>
        </p:nvSpPr>
        <p:spPr>
          <a:xfrm>
            <a:off x="3048778" y="3290987"/>
            <a:ext cx="6097554" cy="369332"/>
          </a:xfrm>
          <a:prstGeom prst="rect">
            <a:avLst/>
          </a:prstGeom>
          <a:noFill/>
        </p:spPr>
        <p:txBody>
          <a:bodyPr wrap="square">
            <a:spAutoFit/>
          </a:bodyPr>
          <a:lstStyle/>
          <a:p>
            <a:endParaRPr lang="en-US"/>
          </a:p>
        </p:txBody>
      </p:sp>
      <p:sp>
        <p:nvSpPr>
          <p:cNvPr id="9" name="Rectangle 1">
            <a:extLst>
              <a:ext uri="{FF2B5EF4-FFF2-40B4-BE49-F238E27FC236}">
                <a16:creationId xmlns:a16="http://schemas.microsoft.com/office/drawing/2014/main" id="{2C9A7AC1-1C8C-076D-988F-3F9397424F9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a:extLst>
              <a:ext uri="{FF2B5EF4-FFF2-40B4-BE49-F238E27FC236}">
                <a16:creationId xmlns:a16="http://schemas.microsoft.com/office/drawing/2014/main" id="{48FED17D-4ED8-368F-E4E4-9736CA8F32B9}"/>
              </a:ext>
            </a:extLst>
          </p:cNvPr>
          <p:cNvPicPr>
            <a:picLocks noChangeAspect="1"/>
          </p:cNvPicPr>
          <p:nvPr/>
        </p:nvPicPr>
        <p:blipFill>
          <a:blip r:embed="rId2"/>
          <a:stretch>
            <a:fillRect/>
          </a:stretch>
        </p:blipFill>
        <p:spPr>
          <a:xfrm>
            <a:off x="10134600" y="152401"/>
            <a:ext cx="1981200" cy="2285999"/>
          </a:xfrm>
          <a:prstGeom prst="rect">
            <a:avLst/>
          </a:prstGeom>
        </p:spPr>
      </p:pic>
    </p:spTree>
    <p:extLst>
      <p:ext uri="{BB962C8B-B14F-4D97-AF65-F5344CB8AC3E}">
        <p14:creationId xmlns:p14="http://schemas.microsoft.com/office/powerpoint/2010/main" val="2181409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0" y="25400"/>
            <a:ext cx="12192000" cy="1270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6" name="Content Placeholder 5">
            <a:extLst>
              <a:ext uri="{FF2B5EF4-FFF2-40B4-BE49-F238E27FC236}">
                <a16:creationId xmlns:a16="http://schemas.microsoft.com/office/drawing/2014/main" id="{F7E461F4-E6D8-4801-94AA-9B72FC99FFED}"/>
              </a:ext>
            </a:extLst>
          </p:cNvPr>
          <p:cNvSpPr>
            <a:spLocks noGrp="1"/>
          </p:cNvSpPr>
          <p:nvPr>
            <p:ph idx="1"/>
          </p:nvPr>
        </p:nvSpPr>
        <p:spPr>
          <a:xfrm>
            <a:off x="304800" y="914400"/>
            <a:ext cx="7467600" cy="5181600"/>
          </a:xfrm>
        </p:spPr>
        <p:txBody>
          <a:bodyPr>
            <a:normAutofit/>
          </a:bodyPr>
          <a:lstStyle/>
          <a:p>
            <a:pPr marL="0" indent="0">
              <a:buNone/>
            </a:pPr>
            <a:r>
              <a:rPr lang="en-GB" b="1"/>
              <a:t>1. Problem</a:t>
            </a:r>
          </a:p>
          <a:p>
            <a:pPr marL="400050" lvl="1" indent="0">
              <a:buNone/>
            </a:pPr>
            <a:r>
              <a:rPr lang="en-GB" sz="2600"/>
              <a:t>People have vastly different health goals. A person managing chronic diseases, an athlete building muscle, and someone seeking more energy all need unique nutritional guidance. Generic, one-size-fits-all diet apps fail everyone. They cannot resolve conflicting advice for medical conditions nor provide the precise personalization needed for high performance or general wellness. This leads to confusion, lack of results, and potential health risks.</a:t>
            </a:r>
          </a:p>
          <a:p>
            <a:pPr marL="400050" lvl="1" indent="0">
              <a:buNone/>
            </a:pPr>
            <a:endParaRPr lang="en-GB"/>
          </a:p>
        </p:txBody>
      </p:sp>
      <p:sp>
        <p:nvSpPr>
          <p:cNvPr id="4" name="Rectangle 3">
            <a:extLst>
              <a:ext uri="{FF2B5EF4-FFF2-40B4-BE49-F238E27FC236}">
                <a16:creationId xmlns:a16="http://schemas.microsoft.com/office/drawing/2014/main" id="{C0DBF228-4B29-4775-AE86-C4CEA3B1156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pic>
        <p:nvPicPr>
          <p:cNvPr id="22" name="Picture 21">
            <a:extLst>
              <a:ext uri="{FF2B5EF4-FFF2-40B4-BE49-F238E27FC236}">
                <a16:creationId xmlns:a16="http://schemas.microsoft.com/office/drawing/2014/main" id="{4195971E-B9CD-52DB-31F2-E388ED1BF58A}"/>
              </a:ext>
            </a:extLst>
          </p:cNvPr>
          <p:cNvPicPr>
            <a:picLocks noChangeAspect="1"/>
          </p:cNvPicPr>
          <p:nvPr/>
        </p:nvPicPr>
        <p:blipFill>
          <a:blip r:embed="rId2"/>
          <a:stretch>
            <a:fillRect/>
          </a:stretch>
        </p:blipFill>
        <p:spPr>
          <a:xfrm>
            <a:off x="7599241" y="1557129"/>
            <a:ext cx="4287959" cy="3743741"/>
          </a:xfrm>
          <a:prstGeom prst="rect">
            <a:avLst/>
          </a:prstGeom>
        </p:spPr>
      </p:pic>
    </p:spTree>
    <p:extLst>
      <p:ext uri="{BB962C8B-B14F-4D97-AF65-F5344CB8AC3E}">
        <p14:creationId xmlns:p14="http://schemas.microsoft.com/office/powerpoint/2010/main" val="2207612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FBFA9-F162-913A-71B7-91FA3025912F}"/>
              </a:ext>
            </a:extLst>
          </p:cNvPr>
          <p:cNvSpPr>
            <a:spLocks noGrp="1"/>
          </p:cNvSpPr>
          <p:nvPr>
            <p:ph type="title"/>
          </p:nvPr>
        </p:nvSpPr>
        <p:spPr>
          <a:xfrm>
            <a:off x="-76200" y="0"/>
            <a:ext cx="12268200" cy="1524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3" name="Content Placeholder 2">
            <a:extLst>
              <a:ext uri="{FF2B5EF4-FFF2-40B4-BE49-F238E27FC236}">
                <a16:creationId xmlns:a16="http://schemas.microsoft.com/office/drawing/2014/main" id="{8C7FA8C7-FDA7-A744-0A4F-1552027860BE}"/>
              </a:ext>
            </a:extLst>
          </p:cNvPr>
          <p:cNvSpPr>
            <a:spLocks noGrp="1"/>
          </p:cNvSpPr>
          <p:nvPr>
            <p:ph idx="1"/>
          </p:nvPr>
        </p:nvSpPr>
        <p:spPr>
          <a:xfrm>
            <a:off x="304800" y="1143000"/>
            <a:ext cx="11684000" cy="5181600"/>
          </a:xfrm>
        </p:spPr>
        <p:txBody>
          <a:bodyPr>
            <a:normAutofit/>
          </a:bodyPr>
          <a:lstStyle/>
          <a:p>
            <a:pPr marL="0" indent="0">
              <a:buNone/>
            </a:pPr>
            <a:r>
              <a:rPr lang="en-GB" b="1"/>
              <a:t>2. Gaps</a:t>
            </a:r>
          </a:p>
          <a:p>
            <a:pPr marL="400050" lvl="1" indent="0">
              <a:buNone/>
            </a:pPr>
            <a:r>
              <a:rPr lang="en-GB"/>
              <a:t>A significant gap exists between generic technology and individualized nutritional needs. Current solutions fail because they are:</a:t>
            </a:r>
          </a:p>
          <a:p>
            <a:pPr marL="400050" lvl="1" indent="0">
              <a:buNone/>
            </a:pPr>
            <a:endParaRPr lang="en-GB"/>
          </a:p>
          <a:p>
            <a:pPr marL="0" indent="0">
              <a:buNone/>
            </a:pPr>
            <a:r>
              <a:rPr lang="en-GB" b="1"/>
              <a:t>     Not Safe      Not Personal     Not Holistic       Not Transparent</a:t>
            </a:r>
            <a:endParaRPr lang="en-US"/>
          </a:p>
          <a:p>
            <a:endParaRPr lang="en-GB" b="1"/>
          </a:p>
          <a:p>
            <a:endParaRPr lang="en-GB"/>
          </a:p>
          <a:p>
            <a:endParaRPr lang="en-GB" b="1"/>
          </a:p>
        </p:txBody>
      </p:sp>
      <p:sp>
        <p:nvSpPr>
          <p:cNvPr id="4" name="Rectangle 3">
            <a:extLst>
              <a:ext uri="{FF2B5EF4-FFF2-40B4-BE49-F238E27FC236}">
                <a16:creationId xmlns:a16="http://schemas.microsoft.com/office/drawing/2014/main" id="{E583220E-0A5F-B28E-6062-1FFFDC1FAD93}"/>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pic>
        <p:nvPicPr>
          <p:cNvPr id="20" name="Picture 19" descr="A cartoon x with arms and a finger pointing&#10;&#10;AI-generated content may be incorrect.">
            <a:extLst>
              <a:ext uri="{FF2B5EF4-FFF2-40B4-BE49-F238E27FC236}">
                <a16:creationId xmlns:a16="http://schemas.microsoft.com/office/drawing/2014/main" id="{6AF52EB6-94F5-F9FF-048D-342D28D0E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2753" y="3957241"/>
            <a:ext cx="1895900" cy="1904364"/>
          </a:xfrm>
          <a:prstGeom prst="rect">
            <a:avLst/>
          </a:prstGeom>
        </p:spPr>
      </p:pic>
      <p:pic>
        <p:nvPicPr>
          <p:cNvPr id="24" name="Picture 23" descr="A green button with black text&#10;&#10;AI-generated content may be incorrect.">
            <a:extLst>
              <a:ext uri="{FF2B5EF4-FFF2-40B4-BE49-F238E27FC236}">
                <a16:creationId xmlns:a16="http://schemas.microsoft.com/office/drawing/2014/main" id="{D8224BFF-6AE4-2406-C8BE-0AA82199F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2485" y="3752702"/>
            <a:ext cx="2143125" cy="2143125"/>
          </a:xfrm>
          <a:prstGeom prst="rect">
            <a:avLst/>
          </a:prstGeom>
        </p:spPr>
      </p:pic>
      <p:pic>
        <p:nvPicPr>
          <p:cNvPr id="28" name="Picture 27">
            <a:extLst>
              <a:ext uri="{FF2B5EF4-FFF2-40B4-BE49-F238E27FC236}">
                <a16:creationId xmlns:a16="http://schemas.microsoft.com/office/drawing/2014/main" id="{F9828004-8ACE-D8C3-E3F9-A55D6C03C6DF}"/>
              </a:ext>
            </a:extLst>
          </p:cNvPr>
          <p:cNvPicPr>
            <a:picLocks noChangeAspect="1"/>
          </p:cNvPicPr>
          <p:nvPr/>
        </p:nvPicPr>
        <p:blipFill>
          <a:blip r:embed="rId4"/>
          <a:stretch>
            <a:fillRect/>
          </a:stretch>
        </p:blipFill>
        <p:spPr>
          <a:xfrm>
            <a:off x="5478325" y="4010207"/>
            <a:ext cx="2814282" cy="1798432"/>
          </a:xfrm>
          <a:prstGeom prst="rect">
            <a:avLst/>
          </a:prstGeom>
        </p:spPr>
      </p:pic>
      <p:pic>
        <p:nvPicPr>
          <p:cNvPr id="30" name="Picture 29">
            <a:extLst>
              <a:ext uri="{FF2B5EF4-FFF2-40B4-BE49-F238E27FC236}">
                <a16:creationId xmlns:a16="http://schemas.microsoft.com/office/drawing/2014/main" id="{EA61BF43-BEFF-8B3D-98AA-8AB607D1779F}"/>
              </a:ext>
            </a:extLst>
          </p:cNvPr>
          <p:cNvPicPr>
            <a:picLocks noChangeAspect="1"/>
          </p:cNvPicPr>
          <p:nvPr/>
        </p:nvPicPr>
        <p:blipFill>
          <a:blip r:embed="rId5"/>
          <a:stretch>
            <a:fillRect/>
          </a:stretch>
        </p:blipFill>
        <p:spPr>
          <a:xfrm>
            <a:off x="628170" y="3771606"/>
            <a:ext cx="2152950" cy="2105319"/>
          </a:xfrm>
          <a:prstGeom prst="rect">
            <a:avLst/>
          </a:prstGeom>
        </p:spPr>
      </p:pic>
      <p:sp>
        <p:nvSpPr>
          <p:cNvPr id="32" name="Rectangle 7">
            <a:extLst>
              <a:ext uri="{FF2B5EF4-FFF2-40B4-BE49-F238E27FC236}">
                <a16:creationId xmlns:a16="http://schemas.microsoft.com/office/drawing/2014/main" id="{4D4EB8FE-08F9-ACE7-55E4-2D18C9952CAA}"/>
              </a:ext>
            </a:extLst>
          </p:cNvPr>
          <p:cNvSpPr>
            <a:spLocks noChangeArrowheads="1"/>
          </p:cNvSpPr>
          <p:nvPr/>
        </p:nvSpPr>
        <p:spPr bwMode="auto">
          <a:xfrm>
            <a:off x="485775" y="1090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475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6A16E-AA54-FA5F-A5AE-68CA5CB62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8B91E-E909-EE94-91A5-A4FCFF85FEE0}"/>
              </a:ext>
            </a:extLst>
          </p:cNvPr>
          <p:cNvSpPr>
            <a:spLocks noGrp="1"/>
          </p:cNvSpPr>
          <p:nvPr>
            <p:ph type="title"/>
          </p:nvPr>
        </p:nvSpPr>
        <p:spPr>
          <a:xfrm>
            <a:off x="-76200" y="0"/>
            <a:ext cx="12268200" cy="1524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4" name="Rectangle 3">
            <a:extLst>
              <a:ext uri="{FF2B5EF4-FFF2-40B4-BE49-F238E27FC236}">
                <a16:creationId xmlns:a16="http://schemas.microsoft.com/office/drawing/2014/main" id="{3E2F442E-2F8B-766F-6DA3-7117D0EB163C}"/>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
        <p:nvSpPr>
          <p:cNvPr id="32" name="Rectangle 7">
            <a:extLst>
              <a:ext uri="{FF2B5EF4-FFF2-40B4-BE49-F238E27FC236}">
                <a16:creationId xmlns:a16="http://schemas.microsoft.com/office/drawing/2014/main" id="{EA7E6CF6-ECAE-DCEE-BF0E-EDCC017CC884}"/>
              </a:ext>
            </a:extLst>
          </p:cNvPr>
          <p:cNvSpPr>
            <a:spLocks noChangeArrowheads="1"/>
          </p:cNvSpPr>
          <p:nvPr/>
        </p:nvSpPr>
        <p:spPr bwMode="auto">
          <a:xfrm>
            <a:off x="485775" y="1090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Content Placeholder 9">
            <a:extLst>
              <a:ext uri="{FF2B5EF4-FFF2-40B4-BE49-F238E27FC236}">
                <a16:creationId xmlns:a16="http://schemas.microsoft.com/office/drawing/2014/main" id="{C7F571DF-96D3-6C57-4835-3A1348532F66}"/>
              </a:ext>
            </a:extLst>
          </p:cNvPr>
          <p:cNvGraphicFramePr>
            <a:graphicFrameLocks noGrp="1"/>
          </p:cNvGraphicFramePr>
          <p:nvPr>
            <p:ph idx="1"/>
            <p:extLst>
              <p:ext uri="{D42A27DB-BD31-4B8C-83A1-F6EECF244321}">
                <p14:modId xmlns:p14="http://schemas.microsoft.com/office/powerpoint/2010/main" val="2363676472"/>
              </p:ext>
            </p:extLst>
          </p:nvPr>
        </p:nvGraphicFramePr>
        <p:xfrm>
          <a:off x="485775" y="767415"/>
          <a:ext cx="11323212" cy="5323170"/>
        </p:xfrm>
        <a:graphic>
          <a:graphicData uri="http://schemas.openxmlformats.org/drawingml/2006/table">
            <a:tbl>
              <a:tblPr>
                <a:tableStyleId>{616DA210-FB5B-4158-B5E0-FEB733F419BA}</a:tableStyleId>
              </a:tblPr>
              <a:tblGrid>
                <a:gridCol w="3478372">
                  <a:extLst>
                    <a:ext uri="{9D8B030D-6E8A-4147-A177-3AD203B41FA5}">
                      <a16:colId xmlns:a16="http://schemas.microsoft.com/office/drawing/2014/main" val="2026748391"/>
                    </a:ext>
                  </a:extLst>
                </a:gridCol>
                <a:gridCol w="3922420">
                  <a:extLst>
                    <a:ext uri="{9D8B030D-6E8A-4147-A177-3AD203B41FA5}">
                      <a16:colId xmlns:a16="http://schemas.microsoft.com/office/drawing/2014/main" val="3307213982"/>
                    </a:ext>
                  </a:extLst>
                </a:gridCol>
                <a:gridCol w="3922420">
                  <a:extLst>
                    <a:ext uri="{9D8B030D-6E8A-4147-A177-3AD203B41FA5}">
                      <a16:colId xmlns:a16="http://schemas.microsoft.com/office/drawing/2014/main" val="865127468"/>
                    </a:ext>
                  </a:extLst>
                </a:gridCol>
              </a:tblGrid>
              <a:tr h="381543">
                <a:tc>
                  <a:txBody>
                    <a:bodyPr/>
                    <a:lstStyle/>
                    <a:p>
                      <a:pPr algn="l">
                        <a:lnSpc>
                          <a:spcPts val="1875"/>
                        </a:lnSpc>
                      </a:pPr>
                      <a:r>
                        <a:rPr lang="en-US" sz="1700" b="0">
                          <a:effectLst/>
                        </a:rPr>
                        <a:t>Research Gap</a:t>
                      </a:r>
                      <a:endParaRPr lang="en-US" sz="1700" b="0">
                        <a:effectLst/>
                        <a:latin typeface="quote-cjk-patch"/>
                      </a:endParaRPr>
                    </a:p>
                  </a:txBody>
                  <a:tcPr marL="88616" marR="118155" marT="73847" marB="73847" anchor="ctr"/>
                </a:tc>
                <a:tc>
                  <a:txBody>
                    <a:bodyPr/>
                    <a:lstStyle/>
                    <a:p>
                      <a:pPr algn="l">
                        <a:lnSpc>
                          <a:spcPts val="1875"/>
                        </a:lnSpc>
                      </a:pPr>
                      <a:r>
                        <a:rPr lang="en-US" sz="1700" b="0">
                          <a:effectLst/>
                        </a:rPr>
                        <a:t>Existing App Behavior</a:t>
                      </a:r>
                      <a:endParaRPr lang="en-US" sz="1700" b="0">
                        <a:effectLst/>
                        <a:latin typeface="quote-cjk-patch"/>
                      </a:endParaRPr>
                    </a:p>
                  </a:txBody>
                  <a:tcPr marL="118155" marR="118155" marT="73847" marB="73847" anchor="ctr"/>
                </a:tc>
                <a:tc>
                  <a:txBody>
                    <a:bodyPr/>
                    <a:lstStyle/>
                    <a:p>
                      <a:pPr algn="l">
                        <a:lnSpc>
                          <a:spcPts val="1875"/>
                        </a:lnSpc>
                      </a:pPr>
                      <a:r>
                        <a:rPr lang="en-US" sz="1700" b="0">
                          <a:effectLst/>
                        </a:rPr>
                        <a:t>Proposed Solution</a:t>
                      </a:r>
                      <a:endParaRPr lang="en-US" sz="1700" b="0">
                        <a:effectLst/>
                        <a:latin typeface="quote-cjk-patch"/>
                      </a:endParaRPr>
                    </a:p>
                  </a:txBody>
                  <a:tcPr marL="118155" marR="118155" marT="73847" marB="73847" anchor="ctr"/>
                </a:tc>
                <a:extLst>
                  <a:ext uri="{0D108BD9-81ED-4DB2-BD59-A6C34878D82A}">
                    <a16:rowId xmlns:a16="http://schemas.microsoft.com/office/drawing/2014/main" val="960890336"/>
                  </a:ext>
                </a:extLst>
              </a:tr>
              <a:tr h="1316939">
                <a:tc>
                  <a:txBody>
                    <a:bodyPr/>
                    <a:lstStyle/>
                    <a:p>
                      <a:pPr>
                        <a:lnSpc>
                          <a:spcPts val="1875"/>
                        </a:lnSpc>
                      </a:pPr>
                      <a:r>
                        <a:rPr lang="en-US" sz="1700" b="1">
                          <a:effectLst/>
                        </a:rPr>
                        <a:t>Safety &amp; Medical boundaries </a:t>
                      </a:r>
                      <a:endParaRPr lang="en-US" sz="1700" b="0">
                        <a:effectLst/>
                        <a:latin typeface="quote-cjk-patch"/>
                      </a:endParaRPr>
                    </a:p>
                  </a:txBody>
                  <a:tcPr marL="88616" marR="118155" marT="73847" marB="73847" anchor="ctr"/>
                </a:tc>
                <a:tc>
                  <a:txBody>
                    <a:bodyPr/>
                    <a:lstStyle/>
                    <a:p>
                      <a:pPr>
                        <a:lnSpc>
                          <a:spcPts val="1875"/>
                        </a:lnSpc>
                      </a:pPr>
                      <a:r>
                        <a:rPr lang="en-GB" sz="1700" b="0">
                          <a:effectLst/>
                        </a:rPr>
                        <a:t>Apps like </a:t>
                      </a:r>
                      <a:r>
                        <a:rPr lang="en-GB" sz="1700" b="1">
                          <a:effectLst/>
                        </a:rPr>
                        <a:t>MyFitnessPal</a:t>
                      </a:r>
                      <a:r>
                        <a:rPr lang="en-GB" sz="1700" b="0">
                          <a:effectLst/>
                        </a:rPr>
                        <a:t> offer generic advice with no safeguards for users with conditions like diabetes or kidney disease, potentially suggesting harmful foods.</a:t>
                      </a:r>
                      <a:endParaRPr lang="en-GB" sz="1700" b="0">
                        <a:effectLst/>
                        <a:latin typeface="quote-cjk-patch"/>
                      </a:endParaRPr>
                    </a:p>
                  </a:txBody>
                  <a:tcPr marL="118155" marR="118155" marT="73847" marB="73847" anchor="ctr"/>
                </a:tc>
                <a:tc>
                  <a:txBody>
                    <a:bodyPr/>
                    <a:lstStyle/>
                    <a:p>
                      <a:pPr>
                        <a:lnSpc>
                          <a:spcPts val="1875"/>
                        </a:lnSpc>
                      </a:pPr>
                      <a:r>
                        <a:rPr lang="en-GB" sz="1700" b="0">
                          <a:effectLst/>
                        </a:rPr>
                        <a:t>A </a:t>
                      </a:r>
                      <a:r>
                        <a:rPr lang="en-GB" sz="1700" b="1">
                          <a:effectLst/>
                        </a:rPr>
                        <a:t>Rule-Based Guardian</a:t>
                      </a:r>
                      <a:r>
                        <a:rPr lang="en-GB" sz="1700" b="0">
                          <a:effectLst/>
                        </a:rPr>
                        <a:t> encodes clinical guidelines to create absolute safety boundaries, preventing dangerous recommendations for all users.</a:t>
                      </a:r>
                      <a:endParaRPr lang="en-GB" sz="1700" b="0">
                        <a:effectLst/>
                        <a:latin typeface="quote-cjk-patch"/>
                      </a:endParaRPr>
                    </a:p>
                  </a:txBody>
                  <a:tcPr marL="118155" marR="118155" marT="73847" marB="73847" anchor="ctr"/>
                </a:tc>
                <a:extLst>
                  <a:ext uri="{0D108BD9-81ED-4DB2-BD59-A6C34878D82A}">
                    <a16:rowId xmlns:a16="http://schemas.microsoft.com/office/drawing/2014/main" val="1220300206"/>
                  </a:ext>
                </a:extLst>
              </a:tr>
              <a:tr h="1083090">
                <a:tc>
                  <a:txBody>
                    <a:bodyPr/>
                    <a:lstStyle/>
                    <a:p>
                      <a:pPr>
                        <a:lnSpc>
                          <a:spcPts val="1875"/>
                        </a:lnSpc>
                      </a:pPr>
                      <a:r>
                        <a:rPr lang="en-US" sz="1700" b="1">
                          <a:effectLst/>
                        </a:rPr>
                        <a:t>Deep Personalization</a:t>
                      </a:r>
                      <a:endParaRPr lang="en-US" sz="1700" b="0">
                        <a:effectLst/>
                        <a:latin typeface="quote-cjk-patch"/>
                      </a:endParaRPr>
                    </a:p>
                  </a:txBody>
                  <a:tcPr marL="88616" marR="118155" marT="73847" marB="73847" anchor="ctr"/>
                </a:tc>
                <a:tc>
                  <a:txBody>
                    <a:bodyPr/>
                    <a:lstStyle/>
                    <a:p>
                      <a:pPr>
                        <a:lnSpc>
                          <a:spcPts val="1875"/>
                        </a:lnSpc>
                      </a:pPr>
                      <a:r>
                        <a:rPr lang="en-GB" sz="1700" b="0">
                          <a:effectLst/>
                        </a:rPr>
                        <a:t>Apps like </a:t>
                      </a:r>
                      <a:r>
                        <a:rPr lang="en-GB" sz="1700" b="1">
                          <a:effectLst/>
                        </a:rPr>
                        <a:t>Yazio</a:t>
                      </a:r>
                      <a:r>
                        <a:rPr lang="en-GB" sz="1700" b="0">
                          <a:effectLst/>
                        </a:rPr>
                        <a:t> provide static, one-size-fits-all plans based on simple formulas. They cannot adapt to a user's daily life or unique body.</a:t>
                      </a:r>
                      <a:endParaRPr lang="en-GB" sz="1700" b="0">
                        <a:effectLst/>
                        <a:latin typeface="quote-cjk-patch"/>
                      </a:endParaRPr>
                    </a:p>
                  </a:txBody>
                  <a:tcPr marL="118155" marR="118155" marT="73847" marB="73847" anchor="ctr"/>
                </a:tc>
                <a:tc>
                  <a:txBody>
                    <a:bodyPr/>
                    <a:lstStyle/>
                    <a:p>
                      <a:pPr>
                        <a:lnSpc>
                          <a:spcPts val="1875"/>
                        </a:lnSpc>
                      </a:pPr>
                      <a:r>
                        <a:rPr lang="en-GB" sz="1700" b="0">
                          <a:effectLst/>
                        </a:rPr>
                        <a:t>An </a:t>
                      </a:r>
                      <a:r>
                        <a:rPr lang="en-GB" sz="1700" b="1">
                          <a:effectLst/>
                        </a:rPr>
                        <a:t>ML Optimizer</a:t>
                      </a:r>
                      <a:r>
                        <a:rPr lang="en-GB" sz="1700" b="0">
                          <a:effectLst/>
                        </a:rPr>
                        <a:t> analyzes the user's profile and real-time smartwatch data to create a dynamic, hyper-personalized plan that adapts daily.</a:t>
                      </a:r>
                      <a:endParaRPr lang="en-GB" sz="1700" b="0">
                        <a:effectLst/>
                        <a:latin typeface="quote-cjk-patch"/>
                      </a:endParaRPr>
                    </a:p>
                  </a:txBody>
                  <a:tcPr marL="118155" marR="118155" marT="73847" marB="73847" anchor="ctr"/>
                </a:tc>
                <a:extLst>
                  <a:ext uri="{0D108BD9-81ED-4DB2-BD59-A6C34878D82A}">
                    <a16:rowId xmlns:a16="http://schemas.microsoft.com/office/drawing/2014/main" val="3580670194"/>
                  </a:ext>
                </a:extLst>
              </a:tr>
              <a:tr h="1083090">
                <a:tc>
                  <a:txBody>
                    <a:bodyPr/>
                    <a:lstStyle/>
                    <a:p>
                      <a:pPr>
                        <a:lnSpc>
                          <a:spcPts val="1875"/>
                        </a:lnSpc>
                      </a:pPr>
                      <a:r>
                        <a:rPr lang="en-US" sz="1700" b="1">
                          <a:effectLst/>
                        </a:rPr>
                        <a:t>Holistic Integration</a:t>
                      </a:r>
                      <a:endParaRPr lang="en-US" sz="1700" b="0">
                        <a:effectLst/>
                        <a:latin typeface="quote-cjk-patch"/>
                      </a:endParaRPr>
                    </a:p>
                  </a:txBody>
                  <a:tcPr marL="88616" marR="118155" marT="73847" marB="73847" anchor="ctr"/>
                </a:tc>
                <a:tc>
                  <a:txBody>
                    <a:bodyPr/>
                    <a:lstStyle/>
                    <a:p>
                      <a:pPr>
                        <a:lnSpc>
                          <a:spcPts val="1875"/>
                        </a:lnSpc>
                      </a:pPr>
                      <a:r>
                        <a:rPr lang="en-GB" sz="1700" b="0">
                          <a:effectLst/>
                        </a:rPr>
                        <a:t>Most apps (</a:t>
                      </a:r>
                      <a:r>
                        <a:rPr lang="en-GB" sz="1700" b="1">
                          <a:effectLst/>
                        </a:rPr>
                        <a:t>e.g., CaloriePal</a:t>
                      </a:r>
                      <a:r>
                        <a:rPr lang="en-GB" sz="1700" b="0">
                          <a:effectLst/>
                        </a:rPr>
                        <a:t>) focus only on food, ignoring the critical impact of activity, sleep, and stress on nutritional needs.</a:t>
                      </a:r>
                      <a:endParaRPr lang="en-GB" sz="1700" b="0">
                        <a:effectLst/>
                        <a:latin typeface="quote-cjk-patch"/>
                      </a:endParaRPr>
                    </a:p>
                  </a:txBody>
                  <a:tcPr marL="118155" marR="118155" marT="73847" marB="73847" anchor="ctr"/>
                </a:tc>
                <a:tc>
                  <a:txBody>
                    <a:bodyPr/>
                    <a:lstStyle/>
                    <a:p>
                      <a:pPr>
                        <a:lnSpc>
                          <a:spcPts val="1875"/>
                        </a:lnSpc>
                      </a:pPr>
                      <a:r>
                        <a:rPr lang="en-GB" sz="1700" b="0">
                          <a:effectLst/>
                        </a:rPr>
                        <a:t>The system </a:t>
                      </a:r>
                      <a:r>
                        <a:rPr lang="en-GB" sz="1700" b="1">
                          <a:effectLst/>
                        </a:rPr>
                        <a:t>fuses live biometric data</a:t>
                      </a:r>
                      <a:r>
                        <a:rPr lang="en-GB" sz="1700" b="0">
                          <a:effectLst/>
                        </a:rPr>
                        <a:t> (sleep, activity, heart rate) with food logging to make holistic, context-aware recommendations.</a:t>
                      </a:r>
                      <a:endParaRPr lang="en-GB" sz="1700" b="0">
                        <a:effectLst/>
                        <a:latin typeface="quote-cjk-patch"/>
                      </a:endParaRPr>
                    </a:p>
                  </a:txBody>
                  <a:tcPr marL="118155" marR="118155" marT="73847" marB="73847" anchor="ctr"/>
                </a:tc>
                <a:extLst>
                  <a:ext uri="{0D108BD9-81ED-4DB2-BD59-A6C34878D82A}">
                    <a16:rowId xmlns:a16="http://schemas.microsoft.com/office/drawing/2014/main" val="1045663860"/>
                  </a:ext>
                </a:extLst>
              </a:tr>
              <a:tr h="1316939">
                <a:tc>
                  <a:txBody>
                    <a:bodyPr/>
                    <a:lstStyle/>
                    <a:p>
                      <a:pPr>
                        <a:lnSpc>
                          <a:spcPts val="1875"/>
                        </a:lnSpc>
                      </a:pPr>
                      <a:r>
                        <a:rPr lang="en-US" sz="1700" b="1">
                          <a:effectLst/>
                        </a:rPr>
                        <a:t>Trust &amp; Transparency</a:t>
                      </a:r>
                      <a:endParaRPr lang="en-US" sz="1700" b="0">
                        <a:effectLst/>
                        <a:latin typeface="quote-cjk-patch"/>
                      </a:endParaRPr>
                    </a:p>
                  </a:txBody>
                  <a:tcPr marL="88616" marR="118155" marT="73847" marB="73847" anchor="ctr"/>
                </a:tc>
                <a:tc>
                  <a:txBody>
                    <a:bodyPr/>
                    <a:lstStyle/>
                    <a:p>
                      <a:pPr>
                        <a:lnSpc>
                          <a:spcPts val="1875"/>
                        </a:lnSpc>
                      </a:pPr>
                      <a:r>
                        <a:rPr lang="en-GB" sz="1700" b="0">
                          <a:effectLst/>
                        </a:rPr>
                        <a:t>Current systems are </a:t>
                      </a:r>
                      <a:r>
                        <a:rPr lang="en-GB" sz="1700" b="1">
                          <a:effectLst/>
                        </a:rPr>
                        <a:t>"black boxes"</a:t>
                      </a:r>
                      <a:r>
                        <a:rPr lang="en-GB" sz="1700" b="0">
                          <a:effectLst/>
                        </a:rPr>
                        <a:t> that give commands without explanation, eroding user trust and adherence.</a:t>
                      </a:r>
                      <a:endParaRPr lang="en-GB" sz="1700" b="0">
                        <a:effectLst/>
                        <a:latin typeface="quote-cjk-patch"/>
                      </a:endParaRPr>
                    </a:p>
                  </a:txBody>
                  <a:tcPr marL="118155" marR="118155" marT="73847" marB="73847" anchor="ctr"/>
                </a:tc>
                <a:tc>
                  <a:txBody>
                    <a:bodyPr/>
                    <a:lstStyle/>
                    <a:p>
                      <a:pPr>
                        <a:lnSpc>
                          <a:spcPts val="1875"/>
                        </a:lnSpc>
                      </a:pPr>
                      <a:r>
                        <a:rPr lang="en-GB" sz="1700" b="0">
                          <a:effectLst/>
                        </a:rPr>
                        <a:t>An </a:t>
                      </a:r>
                      <a:r>
                        <a:rPr lang="en-GB" sz="1700" b="1">
                          <a:effectLst/>
                        </a:rPr>
                        <a:t>Explainable AI (XAI) Interface</a:t>
                      </a:r>
                      <a:r>
                        <a:rPr lang="en-GB" sz="1700" b="0">
                          <a:effectLst/>
                        </a:rPr>
                        <a:t> provides simple, natural language justifications for every recommendation, building trust and educating the user.</a:t>
                      </a:r>
                      <a:endParaRPr lang="en-GB" sz="1700" b="0">
                        <a:effectLst/>
                        <a:latin typeface="quote-cjk-patch"/>
                      </a:endParaRPr>
                    </a:p>
                  </a:txBody>
                  <a:tcPr marL="118155" marR="118155" marT="73847" marB="73847" anchor="ctr"/>
                </a:tc>
                <a:extLst>
                  <a:ext uri="{0D108BD9-81ED-4DB2-BD59-A6C34878D82A}">
                    <a16:rowId xmlns:a16="http://schemas.microsoft.com/office/drawing/2014/main" val="2869484577"/>
                  </a:ext>
                </a:extLst>
              </a:tr>
            </a:tbl>
          </a:graphicData>
        </a:graphic>
      </p:graphicFrame>
      <p:sp>
        <p:nvSpPr>
          <p:cNvPr id="11" name="Rectangle 1">
            <a:extLst>
              <a:ext uri="{FF2B5EF4-FFF2-40B4-BE49-F238E27FC236}">
                <a16:creationId xmlns:a16="http://schemas.microsoft.com/office/drawing/2014/main" id="{29FFFED4-F262-2783-56A2-115414A6FF1B}"/>
              </a:ext>
            </a:extLst>
          </p:cNvPr>
          <p:cNvSpPr>
            <a:spLocks noChangeArrowheads="1"/>
          </p:cNvSpPr>
          <p:nvPr/>
        </p:nvSpPr>
        <p:spPr bwMode="auto">
          <a:xfrm>
            <a:off x="0" y="0"/>
            <a:ext cx="12192000" cy="0"/>
          </a:xfrm>
          <a:prstGeom prst="rect">
            <a:avLst/>
          </a:prstGeom>
          <a:solidFill>
            <a:schemeClr val="tx1">
              <a:lumMod val="65000"/>
              <a:lumOff val="35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8817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C34FD-9F68-4118-FF2B-B2075E90B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64DEB-0009-81BB-4F89-F5C709A2EE17}"/>
              </a:ext>
            </a:extLst>
          </p:cNvPr>
          <p:cNvSpPr>
            <a:spLocks noGrp="1"/>
          </p:cNvSpPr>
          <p:nvPr>
            <p:ph type="title"/>
          </p:nvPr>
        </p:nvSpPr>
        <p:spPr>
          <a:xfrm>
            <a:off x="-76200" y="0"/>
            <a:ext cx="12268200" cy="1524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3" name="Content Placeholder 2">
            <a:extLst>
              <a:ext uri="{FF2B5EF4-FFF2-40B4-BE49-F238E27FC236}">
                <a16:creationId xmlns:a16="http://schemas.microsoft.com/office/drawing/2014/main" id="{042D29E6-FA41-A7FB-D254-36A7E7E11FBA}"/>
              </a:ext>
            </a:extLst>
          </p:cNvPr>
          <p:cNvSpPr>
            <a:spLocks noGrp="1"/>
          </p:cNvSpPr>
          <p:nvPr>
            <p:ph idx="1"/>
          </p:nvPr>
        </p:nvSpPr>
        <p:spPr>
          <a:xfrm>
            <a:off x="254000" y="990600"/>
            <a:ext cx="11684000" cy="5181600"/>
          </a:xfrm>
        </p:spPr>
        <p:txBody>
          <a:bodyPr>
            <a:normAutofit/>
          </a:bodyPr>
          <a:lstStyle/>
          <a:p>
            <a:pPr marL="0" indent="0">
              <a:buNone/>
            </a:pPr>
            <a:r>
              <a:rPr lang="en-GB" b="1"/>
              <a:t>3. Solution</a:t>
            </a:r>
          </a:p>
          <a:p>
            <a:pPr marL="400050" lvl="1" indent="0">
              <a:buNone/>
            </a:pPr>
            <a:r>
              <a:rPr lang="en-GB" sz="2400"/>
              <a:t>I propose an </a:t>
            </a:r>
            <a:r>
              <a:rPr lang="en-GB" sz="2400" b="1"/>
              <a:t>AI-powered Multi-Disease Adaptive Nutrition and Personalized Health Optimization</a:t>
            </a:r>
            <a:r>
              <a:rPr lang="en-GB" sz="2400"/>
              <a:t> system. This is a hybrid AI platform designed to be a </a:t>
            </a:r>
            <a:r>
              <a:rPr lang="en-GB" sz="2400" b="1"/>
              <a:t>universal digital health partner</a:t>
            </a:r>
            <a:r>
              <a:rPr lang="en-GB" sz="2400"/>
              <a:t>. It works for everyone by first conducting a deep </a:t>
            </a:r>
            <a:r>
              <a:rPr lang="en-GB" sz="2400" b="1"/>
              <a:t>User Profile Analysis</a:t>
            </a:r>
            <a:r>
              <a:rPr lang="en-GB" sz="2400"/>
              <a:t> to understand their unique body, goals, and lifestyle. It then combines:</a:t>
            </a:r>
          </a:p>
          <a:p>
            <a:pPr marL="400050" lvl="1" indent="0">
              <a:buNone/>
            </a:pPr>
            <a:endParaRPr lang="en-GB" sz="2400"/>
          </a:p>
          <a:p>
            <a:r>
              <a:rPr lang="en-GB" sz="1900"/>
              <a:t>A </a:t>
            </a:r>
            <a:r>
              <a:rPr lang="en-GB" sz="1900" b="1"/>
              <a:t>Rule-Based "Guardian"</a:t>
            </a:r>
            <a:r>
              <a:rPr lang="en-GB" sz="1900"/>
              <a:t> that enforces absolute clinical safety for medical users and healthy boundaries for all users.</a:t>
            </a:r>
          </a:p>
          <a:p>
            <a:r>
              <a:rPr lang="en-GB" sz="1900"/>
              <a:t>A </a:t>
            </a:r>
            <a:r>
              <a:rPr lang="en-GB" sz="1900" b="1"/>
              <a:t>Machine Learning "Optimizer"</a:t>
            </a:r>
            <a:r>
              <a:rPr lang="en-GB" sz="1900"/>
              <a:t> that personalizes plans within those boundaries based on continuous analysis of the user's profile and real-time biometric data.</a:t>
            </a:r>
          </a:p>
          <a:p>
            <a:r>
              <a:rPr lang="en-GB" sz="1900"/>
              <a:t>It explains every recommendation in simple language, building trust and educating the user.</a:t>
            </a:r>
          </a:p>
          <a:p>
            <a:pPr marL="0" indent="0">
              <a:buNone/>
            </a:pPr>
            <a:endParaRPr lang="en-GB" b="1"/>
          </a:p>
        </p:txBody>
      </p:sp>
      <p:sp>
        <p:nvSpPr>
          <p:cNvPr id="4" name="Rectangle 3">
            <a:extLst>
              <a:ext uri="{FF2B5EF4-FFF2-40B4-BE49-F238E27FC236}">
                <a16:creationId xmlns:a16="http://schemas.microsoft.com/office/drawing/2014/main" id="{AEE3914F-341A-BFFF-8C02-22339CF2761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Tree>
    <p:extLst>
      <p:ext uri="{BB962C8B-B14F-4D97-AF65-F5344CB8AC3E}">
        <p14:creationId xmlns:p14="http://schemas.microsoft.com/office/powerpoint/2010/main" val="3306162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3C40646-4242-B517-E56E-4CE59685EB56}"/>
              </a:ext>
            </a:extLst>
          </p:cNvPr>
          <p:cNvSpPr txBox="1"/>
          <p:nvPr/>
        </p:nvSpPr>
        <p:spPr>
          <a:xfrm>
            <a:off x="0" y="-327660"/>
            <a:ext cx="12344400" cy="707886"/>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21" name="Content Placeholder 20">
            <a:extLst>
              <a:ext uri="{FF2B5EF4-FFF2-40B4-BE49-F238E27FC236}">
                <a16:creationId xmlns:a16="http://schemas.microsoft.com/office/drawing/2014/main" id="{6060FA92-AFC5-8E07-269A-307EAA1B7BDC}"/>
              </a:ext>
            </a:extLst>
          </p:cNvPr>
          <p:cNvSpPr>
            <a:spLocks noGrp="1"/>
          </p:cNvSpPr>
          <p:nvPr>
            <p:ph idx="1"/>
          </p:nvPr>
        </p:nvSpPr>
        <p:spPr>
          <a:xfrm>
            <a:off x="381000" y="380226"/>
            <a:ext cx="11734800" cy="6477774"/>
          </a:xfrm>
        </p:spPr>
        <p:txBody>
          <a:bodyPr>
            <a:normAutofit fontScale="47500" lnSpcReduction="20000"/>
          </a:bodyPr>
          <a:lstStyle/>
          <a:p>
            <a:pPr marL="0" indent="0">
              <a:lnSpc>
                <a:spcPct val="170000"/>
              </a:lnSpc>
              <a:buNone/>
            </a:pPr>
            <a:r>
              <a:rPr lang="en-GB" sz="3800" b="1"/>
              <a:t>4. Key Domains</a:t>
            </a:r>
          </a:p>
          <a:p>
            <a:pPr lvl="1">
              <a:lnSpc>
                <a:spcPct val="170000"/>
              </a:lnSpc>
              <a:buFont typeface="Wingdings" panose="05000000000000000000" pitchFamily="2" charset="2"/>
              <a:buChar char="v"/>
            </a:pPr>
            <a:r>
              <a:rPr lang="en-GB" sz="3800" b="1"/>
              <a:t>Data Science:</a:t>
            </a:r>
            <a:r>
              <a:rPr lang="en-GB" sz="3800"/>
              <a:t> To clean, manage, and fuse heterogeneous data from user profiles and sensors.</a:t>
            </a:r>
          </a:p>
          <a:p>
            <a:pPr lvl="1">
              <a:lnSpc>
                <a:spcPct val="170000"/>
              </a:lnSpc>
              <a:buFont typeface="Wingdings" panose="05000000000000000000" pitchFamily="2" charset="2"/>
              <a:buChar char="v"/>
            </a:pPr>
            <a:r>
              <a:rPr lang="en-GB" sz="3800" b="1"/>
              <a:t>Machine Learning:</a:t>
            </a:r>
            <a:r>
              <a:rPr lang="en-GB" sz="3800"/>
              <a:t> To build the advanced personalization model that learns from each user.</a:t>
            </a:r>
          </a:p>
          <a:p>
            <a:pPr lvl="1">
              <a:lnSpc>
                <a:spcPct val="170000"/>
              </a:lnSpc>
              <a:buFont typeface="Wingdings" panose="05000000000000000000" pitchFamily="2" charset="2"/>
              <a:buChar char="v"/>
            </a:pPr>
            <a:r>
              <a:rPr lang="en-GB" sz="3800" b="1"/>
              <a:t>Clinical Science &amp; Sports Nutrition:</a:t>
            </a:r>
            <a:r>
              <a:rPr lang="en-GB" sz="3800"/>
              <a:t> To encode correct safety rules and performance principles.</a:t>
            </a:r>
          </a:p>
          <a:p>
            <a:pPr lvl="1">
              <a:lnSpc>
                <a:spcPct val="170000"/>
              </a:lnSpc>
              <a:buFont typeface="Wingdings" panose="05000000000000000000" pitchFamily="2" charset="2"/>
              <a:buChar char="v"/>
            </a:pPr>
            <a:r>
              <a:rPr lang="en-GB" sz="3800" b="1"/>
              <a:t>Software Engineering:</a:t>
            </a:r>
            <a:r>
              <a:rPr lang="en-GB" sz="3800"/>
              <a:t> To build a reliable, scalable, and secure system.</a:t>
            </a:r>
          </a:p>
          <a:p>
            <a:pPr lvl="1">
              <a:lnSpc>
                <a:spcPct val="170000"/>
              </a:lnSpc>
              <a:buFont typeface="Wingdings" panose="05000000000000000000" pitchFamily="2" charset="2"/>
              <a:buChar char="v"/>
            </a:pPr>
            <a:r>
              <a:rPr lang="en-GB" sz="3800" b="1"/>
              <a:t>Human-Computer Interaction:</a:t>
            </a:r>
            <a:r>
              <a:rPr lang="en-GB" sz="3800"/>
              <a:t> To design intuitive interfaces and clear, motivating explanations.</a:t>
            </a:r>
          </a:p>
          <a:p>
            <a:pPr marL="0" indent="0">
              <a:lnSpc>
                <a:spcPct val="170000"/>
              </a:lnSpc>
              <a:buNone/>
            </a:pPr>
            <a:r>
              <a:rPr lang="en-GB" sz="3800" b="1"/>
              <a:t>5. Latest Technologies</a:t>
            </a:r>
          </a:p>
          <a:p>
            <a:pPr lvl="1">
              <a:lnSpc>
                <a:spcPct val="170000"/>
              </a:lnSpc>
              <a:buFont typeface="Wingdings" panose="05000000000000000000" pitchFamily="2" charset="2"/>
              <a:buChar char="v"/>
            </a:pPr>
            <a:r>
              <a:rPr lang="en-GB" sz="3800" b="1"/>
              <a:t>Python &amp; </a:t>
            </a:r>
            <a:r>
              <a:rPr lang="en-GB" sz="3800" b="1" err="1"/>
              <a:t>FastAPI</a:t>
            </a:r>
            <a:r>
              <a:rPr lang="en-GB" sz="3800" b="1"/>
              <a:t>:</a:t>
            </a:r>
            <a:r>
              <a:rPr lang="en-GB" sz="3800"/>
              <a:t> To create the high-performance core engine and its API.</a:t>
            </a:r>
          </a:p>
          <a:p>
            <a:pPr lvl="1">
              <a:lnSpc>
                <a:spcPct val="170000"/>
              </a:lnSpc>
              <a:buFont typeface="Wingdings" panose="05000000000000000000" pitchFamily="2" charset="2"/>
              <a:buChar char="v"/>
            </a:pPr>
            <a:r>
              <a:rPr lang="en-GB" sz="3800" b="1" err="1"/>
              <a:t>XGBoost</a:t>
            </a:r>
            <a:r>
              <a:rPr lang="en-GB" sz="3800" b="1"/>
              <a:t>:</a:t>
            </a:r>
            <a:r>
              <a:rPr lang="en-GB" sz="3800"/>
              <a:t> A leading machine learning algorithm for accurate and efficient predictions.</a:t>
            </a:r>
          </a:p>
          <a:p>
            <a:pPr lvl="1">
              <a:lnSpc>
                <a:spcPct val="170000"/>
              </a:lnSpc>
              <a:buFont typeface="Wingdings" panose="05000000000000000000" pitchFamily="2" charset="2"/>
              <a:buChar char="v"/>
            </a:pPr>
            <a:r>
              <a:rPr lang="en-GB" sz="3800" b="1"/>
              <a:t>SHAP:</a:t>
            </a:r>
            <a:r>
              <a:rPr lang="en-GB" sz="3800"/>
              <a:t> A tool to explain the AI's decisions and make them transparent.</a:t>
            </a:r>
          </a:p>
          <a:p>
            <a:pPr lvl="1">
              <a:lnSpc>
                <a:spcPct val="170000"/>
              </a:lnSpc>
              <a:buFont typeface="Wingdings" panose="05000000000000000000" pitchFamily="2" charset="2"/>
              <a:buChar char="v"/>
            </a:pPr>
            <a:r>
              <a:rPr lang="en-GB" sz="3800" b="1"/>
              <a:t>PostgreSQL &amp; </a:t>
            </a:r>
            <a:r>
              <a:rPr lang="en-GB" sz="3800" b="1" err="1"/>
              <a:t>TimescaleDB</a:t>
            </a:r>
            <a:r>
              <a:rPr lang="en-GB" sz="3800" b="1"/>
              <a:t>:</a:t>
            </a:r>
            <a:r>
              <a:rPr lang="en-GB" sz="3800"/>
              <a:t> Databases to securely store user profile data and time-series biometric data.</a:t>
            </a:r>
          </a:p>
          <a:p>
            <a:pPr lvl="1">
              <a:lnSpc>
                <a:spcPct val="170000"/>
              </a:lnSpc>
              <a:buFont typeface="Wingdings" panose="05000000000000000000" pitchFamily="2" charset="2"/>
              <a:buChar char="v"/>
            </a:pPr>
            <a:r>
              <a:rPr lang="en-GB" sz="3800" b="1"/>
              <a:t>Google Fit/Apple HealthKit:</a:t>
            </a:r>
            <a:r>
              <a:rPr lang="en-GB" sz="3800"/>
              <a:t> To connect seamlessly with a wide ecosystem of wearable devices.</a:t>
            </a:r>
          </a:p>
          <a:p>
            <a:pPr lvl="1">
              <a:lnSpc>
                <a:spcPct val="170000"/>
              </a:lnSpc>
              <a:buFont typeface="Wingdings" panose="05000000000000000000" pitchFamily="2" charset="2"/>
              <a:buChar char="v"/>
            </a:pPr>
            <a:r>
              <a:rPr lang="en-GB" sz="3800" b="1"/>
              <a:t>Docker &amp; AWS:</a:t>
            </a:r>
            <a:r>
              <a:rPr lang="en-GB" sz="3800"/>
              <a:t> To containerize and deploy the system reliably in the cloud.</a:t>
            </a:r>
          </a:p>
          <a:p>
            <a:endParaRPr lang="en-US"/>
          </a:p>
        </p:txBody>
      </p:sp>
      <p:sp>
        <p:nvSpPr>
          <p:cNvPr id="24" name="TextBox 23">
            <a:extLst>
              <a:ext uri="{FF2B5EF4-FFF2-40B4-BE49-F238E27FC236}">
                <a16:creationId xmlns:a16="http://schemas.microsoft.com/office/drawing/2014/main" id="{9A9AC58F-4600-AC12-BAF4-F5D12021E39C}"/>
              </a:ext>
            </a:extLst>
          </p:cNvPr>
          <p:cNvSpPr txBox="1"/>
          <p:nvPr/>
        </p:nvSpPr>
        <p:spPr>
          <a:xfrm>
            <a:off x="2590800" y="6488668"/>
            <a:ext cx="6515100" cy="369332"/>
          </a:xfrm>
          <a:prstGeom prst="rect">
            <a:avLst/>
          </a:prstGeom>
          <a:noFill/>
        </p:spPr>
        <p:txBody>
          <a:bodyPr wrap="square">
            <a:spAutoFit/>
          </a:bodyP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Tree>
    <p:extLst>
      <p:ext uri="{BB962C8B-B14F-4D97-AF65-F5344CB8AC3E}">
        <p14:creationId xmlns:p14="http://schemas.microsoft.com/office/powerpoint/2010/main" val="2645106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2D8DB-F24B-4641-FE8A-54219F2A0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8697D-65E7-27C4-A717-32B2803BF120}"/>
              </a:ext>
            </a:extLst>
          </p:cNvPr>
          <p:cNvSpPr>
            <a:spLocks noGrp="1"/>
          </p:cNvSpPr>
          <p:nvPr>
            <p:ph type="title"/>
          </p:nvPr>
        </p:nvSpPr>
        <p:spPr>
          <a:xfrm>
            <a:off x="-76200" y="0"/>
            <a:ext cx="12268200" cy="1524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3" name="Content Placeholder 2">
            <a:extLst>
              <a:ext uri="{FF2B5EF4-FFF2-40B4-BE49-F238E27FC236}">
                <a16:creationId xmlns:a16="http://schemas.microsoft.com/office/drawing/2014/main" id="{73196C64-4710-5164-F8A0-774CCF7D68BA}"/>
              </a:ext>
            </a:extLst>
          </p:cNvPr>
          <p:cNvSpPr>
            <a:spLocks noGrp="1"/>
          </p:cNvSpPr>
          <p:nvPr>
            <p:ph idx="1"/>
          </p:nvPr>
        </p:nvSpPr>
        <p:spPr>
          <a:xfrm>
            <a:off x="381000" y="381000"/>
            <a:ext cx="11684000" cy="6111874"/>
          </a:xfrm>
        </p:spPr>
        <p:txBody>
          <a:bodyPr>
            <a:normAutofit fontScale="25000" lnSpcReduction="20000"/>
          </a:bodyPr>
          <a:lstStyle/>
          <a:p>
            <a:pPr marL="0" indent="0">
              <a:buNone/>
            </a:pPr>
            <a:endParaRPr lang="en-GB" sz="7200" b="1"/>
          </a:p>
          <a:p>
            <a:pPr marL="0" indent="0">
              <a:buNone/>
            </a:pPr>
            <a:r>
              <a:rPr lang="en-GB" sz="9600" b="1"/>
              <a:t>6. Proof of Success</a:t>
            </a:r>
          </a:p>
          <a:p>
            <a:pPr lvl="1">
              <a:lnSpc>
                <a:spcPct val="120000"/>
              </a:lnSpc>
              <a:buFont typeface="Wingdings" panose="05000000000000000000" pitchFamily="2" charset="2"/>
              <a:buChar char="v"/>
            </a:pPr>
            <a:r>
              <a:rPr lang="en-GB" sz="7200" b="1"/>
              <a:t>Accuracy:</a:t>
            </a:r>
            <a:r>
              <a:rPr lang="en-GB" sz="7200"/>
              <a:t> The AI's predictions must be within 10% of established energy expenditure calculations for fitness goals and clinical guidelines for medical goals.</a:t>
            </a:r>
          </a:p>
          <a:p>
            <a:pPr lvl="1">
              <a:lnSpc>
                <a:spcPct val="170000"/>
              </a:lnSpc>
              <a:buFont typeface="Wingdings" panose="05000000000000000000" pitchFamily="2" charset="2"/>
              <a:buChar char="v"/>
            </a:pPr>
            <a:r>
              <a:rPr lang="en-GB" sz="7200" b="1"/>
              <a:t>Safety:</a:t>
            </a:r>
            <a:r>
              <a:rPr lang="en-GB" sz="7200"/>
              <a:t> A 0% violation rate of pre-defined health constraints during rigorous testing.</a:t>
            </a:r>
          </a:p>
          <a:p>
            <a:pPr lvl="1">
              <a:lnSpc>
                <a:spcPct val="170000"/>
              </a:lnSpc>
              <a:buFont typeface="Wingdings" panose="05000000000000000000" pitchFamily="2" charset="2"/>
              <a:buChar char="v"/>
            </a:pPr>
            <a:r>
              <a:rPr lang="en-GB" sz="7200" b="1"/>
              <a:t>User Adherence &amp; Satisfaction:</a:t>
            </a:r>
            <a:r>
              <a:rPr lang="en-GB" sz="7200"/>
              <a:t> A high score (&gt;80/100) on the System Usability Scale (SUS) and positive feedback from a diverse user group (medical, fitness, wellness).</a:t>
            </a:r>
          </a:p>
          <a:p>
            <a:pPr lvl="1">
              <a:lnSpc>
                <a:spcPct val="170000"/>
              </a:lnSpc>
              <a:buFont typeface="Wingdings" panose="05000000000000000000" pitchFamily="2" charset="2"/>
              <a:buChar char="v"/>
            </a:pPr>
            <a:r>
              <a:rPr lang="en-GB" sz="7200" b="1"/>
              <a:t>Functional Prototype:</a:t>
            </a:r>
            <a:r>
              <a:rPr lang="en-GB" sz="7200"/>
              <a:t> A working API and a demo application that proves all key features.</a:t>
            </a:r>
          </a:p>
          <a:p>
            <a:pPr marL="0" indent="0">
              <a:buNone/>
            </a:pPr>
            <a:r>
              <a:rPr lang="en-GB" sz="9600" b="1"/>
              <a:t>7. Data &amp; Ethics</a:t>
            </a:r>
          </a:p>
          <a:p>
            <a:pPr lvl="1">
              <a:lnSpc>
                <a:spcPct val="170000"/>
              </a:lnSpc>
              <a:buFont typeface="Wingdings" panose="05000000000000000000" pitchFamily="2" charset="2"/>
              <a:buChar char="v"/>
            </a:pPr>
            <a:r>
              <a:rPr lang="en-GB" sz="7200" b="1"/>
              <a:t>Privacy by Design:</a:t>
            </a:r>
            <a:r>
              <a:rPr lang="en-GB" sz="7200"/>
              <a:t> All personal data is anonymized, encrypted, and owned solely by the user. It is never sold.</a:t>
            </a:r>
          </a:p>
          <a:p>
            <a:pPr lvl="1">
              <a:lnSpc>
                <a:spcPct val="120000"/>
              </a:lnSpc>
              <a:buFont typeface="Wingdings" panose="05000000000000000000" pitchFamily="2" charset="2"/>
              <a:buChar char="v"/>
            </a:pPr>
            <a:r>
              <a:rPr lang="en-GB" sz="7200" b="1"/>
              <a:t>Informed Consent &amp; Transparency:</a:t>
            </a:r>
            <a:r>
              <a:rPr lang="en-GB" sz="7200"/>
              <a:t> Users are clearly informed about how their data is used and must provide explicit, granular consent.</a:t>
            </a:r>
          </a:p>
          <a:p>
            <a:pPr lvl="1">
              <a:lnSpc>
                <a:spcPct val="170000"/>
              </a:lnSpc>
              <a:buFont typeface="Wingdings" panose="05000000000000000000" pitchFamily="2" charset="2"/>
              <a:buChar char="v"/>
            </a:pPr>
            <a:r>
              <a:rPr lang="en-GB" sz="7200" b="1"/>
              <a:t>Bias Mitigation:</a:t>
            </a:r>
            <a:r>
              <a:rPr lang="en-GB" sz="7200"/>
              <a:t> The ML model is trained on diverse datasets to ensure fair and effective recommendations for all body types, ages, and backgrounds.</a:t>
            </a:r>
          </a:p>
          <a:p>
            <a:pPr lvl="1">
              <a:lnSpc>
                <a:spcPct val="120000"/>
              </a:lnSpc>
              <a:buFont typeface="Wingdings" panose="05000000000000000000" pitchFamily="2" charset="2"/>
              <a:buChar char="v"/>
            </a:pPr>
            <a:r>
              <a:rPr lang="en-GB" sz="7200" b="1"/>
              <a:t>Positive Advocacy:</a:t>
            </a:r>
            <a:r>
              <a:rPr lang="en-GB" sz="7200"/>
              <a:t> The system promotes healthy, sustainable habits and avoids recommendations that could lead to unhealthy body images or eating disorders.</a:t>
            </a:r>
          </a:p>
          <a:p>
            <a:pPr marL="0" indent="0">
              <a:buNone/>
            </a:pPr>
            <a:endParaRPr lang="en-GB" b="1"/>
          </a:p>
        </p:txBody>
      </p:sp>
      <p:sp>
        <p:nvSpPr>
          <p:cNvPr id="4" name="Rectangle 3">
            <a:extLst>
              <a:ext uri="{FF2B5EF4-FFF2-40B4-BE49-F238E27FC236}">
                <a16:creationId xmlns:a16="http://schemas.microsoft.com/office/drawing/2014/main" id="{29724649-C979-A93D-9935-627CF763156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Tree>
    <p:extLst>
      <p:ext uri="{BB962C8B-B14F-4D97-AF65-F5344CB8AC3E}">
        <p14:creationId xmlns:p14="http://schemas.microsoft.com/office/powerpoint/2010/main" val="3190555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4BDC-2EF0-EAC5-D3B4-6262CDBA8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B09BD-C117-675A-07B4-43167E334844}"/>
              </a:ext>
            </a:extLst>
          </p:cNvPr>
          <p:cNvSpPr>
            <a:spLocks noGrp="1"/>
          </p:cNvSpPr>
          <p:nvPr>
            <p:ph type="title"/>
          </p:nvPr>
        </p:nvSpPr>
        <p:spPr>
          <a:xfrm>
            <a:off x="-76200" y="0"/>
            <a:ext cx="12268200" cy="152400"/>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  AI-powered Multi-Disease Adaptive Nutrition and Personalized Health Optimization</a:t>
            </a:r>
          </a:p>
        </p:txBody>
      </p:sp>
      <p:sp>
        <p:nvSpPr>
          <p:cNvPr id="3" name="Content Placeholder 2">
            <a:extLst>
              <a:ext uri="{FF2B5EF4-FFF2-40B4-BE49-F238E27FC236}">
                <a16:creationId xmlns:a16="http://schemas.microsoft.com/office/drawing/2014/main" id="{76CE0B63-2CB7-AF06-DD57-E442E0E7A3F8}"/>
              </a:ext>
            </a:extLst>
          </p:cNvPr>
          <p:cNvSpPr>
            <a:spLocks noGrp="1"/>
          </p:cNvSpPr>
          <p:nvPr>
            <p:ph idx="1"/>
          </p:nvPr>
        </p:nvSpPr>
        <p:spPr>
          <a:xfrm>
            <a:off x="381000" y="381000"/>
            <a:ext cx="11684000" cy="6111874"/>
          </a:xfrm>
        </p:spPr>
        <p:txBody>
          <a:bodyPr>
            <a:normAutofit fontScale="25000" lnSpcReduction="20000"/>
          </a:bodyPr>
          <a:lstStyle/>
          <a:p>
            <a:pPr marL="0" indent="0">
              <a:buNone/>
            </a:pPr>
            <a:endParaRPr lang="en-GB" sz="7200" b="1"/>
          </a:p>
          <a:p>
            <a:r>
              <a:rPr lang="en-GB" sz="9600" b="1"/>
              <a:t>6. Data Availability</a:t>
            </a:r>
            <a:br>
              <a:rPr lang="en-GB" sz="9600" b="1"/>
            </a:br>
            <a:br>
              <a:rPr lang="en-GB" sz="9600" b="1"/>
            </a:br>
            <a:r>
              <a:rPr lang="en-US" sz="7200" b="1"/>
              <a:t>Data Availability</a:t>
            </a:r>
          </a:p>
          <a:p>
            <a:r>
              <a:rPr lang="en-US" sz="7200" b="1"/>
              <a:t>Primary Data Source – UK Biobank</a:t>
            </a:r>
            <a:endParaRPr lang="en-US" sz="7200"/>
          </a:p>
          <a:p>
            <a:r>
              <a:rPr lang="en-US" sz="7200" b="1"/>
              <a:t>Demographics</a:t>
            </a:r>
            <a:r>
              <a:rPr lang="en-US" sz="7200"/>
              <a:t>: Age, sex, weight, height ✅</a:t>
            </a:r>
          </a:p>
          <a:p>
            <a:r>
              <a:rPr lang="en-US" sz="7200" b="1"/>
              <a:t>Medical Conditions</a:t>
            </a:r>
            <a:r>
              <a:rPr lang="en-US" sz="7200"/>
              <a:t>: Chronic diseases such as diabetes, hypertension, CKD ✅</a:t>
            </a:r>
          </a:p>
          <a:p>
            <a:r>
              <a:rPr lang="en-US" sz="7200" b="1"/>
              <a:t>Biometric &amp; Lab Data</a:t>
            </a:r>
            <a:r>
              <a:rPr lang="en-US" sz="7200"/>
              <a:t>: HbA1c, cholesterol, creatinine, blood glucose ✅</a:t>
            </a:r>
          </a:p>
          <a:p>
            <a:r>
              <a:rPr lang="en-US" sz="7200" b="1"/>
              <a:t>Physical Activity Data</a:t>
            </a:r>
            <a:r>
              <a:rPr lang="en-US" sz="7200"/>
              <a:t>: Accelerometer-based step count, sleep, heart rate ✅</a:t>
            </a:r>
          </a:p>
          <a:p>
            <a:r>
              <a:rPr lang="en-US" sz="7200" b="1"/>
              <a:t>Nutrient Intake Patterns</a:t>
            </a:r>
            <a:r>
              <a:rPr lang="en-US" sz="7200"/>
              <a:t>: Food frequency questionnaires ✅</a:t>
            </a:r>
          </a:p>
          <a:p>
            <a:r>
              <a:rPr lang="en-US" sz="7200" b="1"/>
              <a:t>Health Outcomes</a:t>
            </a:r>
            <a:r>
              <a:rPr lang="en-US" sz="7200"/>
              <a:t>: Long-term follow-up on weight and disease progression ✅</a:t>
            </a:r>
          </a:p>
          <a:p>
            <a:r>
              <a:rPr lang="en-US" sz="7200" b="1"/>
              <a:t>Coverage</a:t>
            </a:r>
            <a:endParaRPr lang="en-US" sz="7200"/>
          </a:p>
          <a:p>
            <a:r>
              <a:rPr lang="en-US" sz="7200"/>
              <a:t>500,000+ participants → ensures diversity and generalizability</a:t>
            </a:r>
          </a:p>
          <a:p>
            <a:r>
              <a:rPr lang="en-US" sz="7200"/>
              <a:t>De-identified data → compliant with privacy &amp; ethics standards</a:t>
            </a:r>
          </a:p>
          <a:p>
            <a:pPr marL="0" indent="0">
              <a:buNone/>
            </a:pPr>
            <a:endParaRPr lang="en-US" sz="7200"/>
          </a:p>
          <a:p>
            <a:r>
              <a:rPr lang="en-US" sz="7200" b="1"/>
              <a:t>Limitations &amp; External Sources</a:t>
            </a:r>
            <a:endParaRPr lang="en-US" sz="7200"/>
          </a:p>
          <a:p>
            <a:r>
              <a:rPr lang="en-US" sz="7200"/>
              <a:t>❌ No real-time wearable data → handled during deployment via Apple HealthKit/Google Fit</a:t>
            </a:r>
          </a:p>
          <a:p>
            <a:r>
              <a:rPr lang="en-US" sz="7200"/>
              <a:t>❌ No clinical thresholds → addressed using WHO, ADA, AHA guidelines</a:t>
            </a:r>
          </a:p>
          <a:p>
            <a:endParaRPr lang="en-US" sz="7200"/>
          </a:p>
          <a:p>
            <a:r>
              <a:rPr lang="en-US" sz="7200"/>
              <a:t>Rule Thresholds → WHO / ADA / AHA guidelines (clinical thresholds) </a:t>
            </a:r>
          </a:p>
          <a:p>
            <a:r>
              <a:rPr lang="en-US" sz="7200"/>
              <a:t>Deployment Phase → Apple HealthKit &amp; Google Fit APIs(Wearable Data)</a:t>
            </a:r>
            <a:br>
              <a:rPr lang="en-US" sz="7200"/>
            </a:br>
            <a:br>
              <a:rPr lang="en-US" sz="7200"/>
            </a:br>
            <a:endParaRPr lang="en-US" sz="7200"/>
          </a:p>
          <a:p>
            <a:pPr marL="0" indent="0">
              <a:buNone/>
            </a:pPr>
            <a:br>
              <a:rPr lang="en-GB" sz="9600" b="1"/>
            </a:br>
            <a:br>
              <a:rPr lang="en-GB" sz="9600" b="1"/>
            </a:br>
            <a:br>
              <a:rPr lang="en-GB" sz="9600" b="1"/>
            </a:br>
            <a:br>
              <a:rPr lang="en-GB" sz="9600" b="1"/>
            </a:br>
            <a:br>
              <a:rPr lang="en-GB" sz="9600" b="1"/>
            </a:br>
            <a:br>
              <a:rPr lang="en-GB" sz="9600" b="1"/>
            </a:br>
            <a:br>
              <a:rPr lang="en-GB" sz="9600" b="1"/>
            </a:br>
            <a:br>
              <a:rPr lang="en-GB" sz="9600" b="1"/>
            </a:br>
            <a:br>
              <a:rPr lang="en-GB" sz="9600" b="1"/>
            </a:br>
            <a:br>
              <a:rPr lang="en-GB" sz="9600" b="1"/>
            </a:br>
            <a:br>
              <a:rPr lang="en-GB" sz="9600" b="1"/>
            </a:br>
            <a:endParaRPr lang="en-GB" b="1"/>
          </a:p>
        </p:txBody>
      </p:sp>
      <p:sp>
        <p:nvSpPr>
          <p:cNvPr id="4" name="Rectangle 3">
            <a:extLst>
              <a:ext uri="{FF2B5EF4-FFF2-40B4-BE49-F238E27FC236}">
                <a16:creationId xmlns:a16="http://schemas.microsoft.com/office/drawing/2014/main" id="{F9315742-8F08-0EBC-A98C-2094AF150496}"/>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Tree>
    <p:extLst>
      <p:ext uri="{BB962C8B-B14F-4D97-AF65-F5344CB8AC3E}">
        <p14:creationId xmlns:p14="http://schemas.microsoft.com/office/powerpoint/2010/main" val="172158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E2CF-B8F1-B697-9C8C-3880E42029C4}"/>
              </a:ext>
            </a:extLst>
          </p:cNvPr>
          <p:cNvSpPr>
            <a:spLocks noGrp="1"/>
          </p:cNvSpPr>
          <p:nvPr>
            <p:ph type="title"/>
          </p:nvPr>
        </p:nvSpPr>
        <p:spPr>
          <a:xfrm>
            <a:off x="76200" y="-22860"/>
            <a:ext cx="12750800" cy="45719"/>
          </a:xfrm>
        </p:spPr>
        <p:txBody>
          <a:bodyPr>
            <a:no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AI-powered Multi-Disease Adaptive Nutrition and Personalized Health Optimization</a:t>
            </a:r>
          </a:p>
        </p:txBody>
      </p:sp>
      <p:sp>
        <p:nvSpPr>
          <p:cNvPr id="4" name="Rectangle 3">
            <a:extLst>
              <a:ext uri="{FF2B5EF4-FFF2-40B4-BE49-F238E27FC236}">
                <a16:creationId xmlns:a16="http://schemas.microsoft.com/office/drawing/2014/main" id="{89F3C367-A89E-B2AA-D4B5-38BC3BE3B22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pic>
        <p:nvPicPr>
          <p:cNvPr id="5" name="Content Placeholder 4">
            <a:extLst>
              <a:ext uri="{FF2B5EF4-FFF2-40B4-BE49-F238E27FC236}">
                <a16:creationId xmlns:a16="http://schemas.microsoft.com/office/drawing/2014/main" id="{D1EC5247-9F35-C5F2-5D1A-74B357D25682}"/>
              </a:ext>
            </a:extLst>
          </p:cNvPr>
          <p:cNvPicPr>
            <a:picLocks noChangeAspect="1"/>
          </p:cNvPicPr>
          <p:nvPr/>
        </p:nvPicPr>
        <p:blipFill>
          <a:blip r:embed="rId2"/>
          <a:stretch>
            <a:fillRect/>
          </a:stretch>
        </p:blipFill>
        <p:spPr>
          <a:xfrm>
            <a:off x="2632435" y="457200"/>
            <a:ext cx="6740165" cy="5951537"/>
          </a:xfrm>
          <a:prstGeom prst="rect">
            <a:avLst/>
          </a:prstGeom>
        </p:spPr>
      </p:pic>
    </p:spTree>
    <p:extLst>
      <p:ext uri="{BB962C8B-B14F-4D97-AF65-F5344CB8AC3E}">
        <p14:creationId xmlns:p14="http://schemas.microsoft.com/office/powerpoint/2010/main" val="866150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F90B-BC11-5017-5425-34EDB0B4A931}"/>
              </a:ext>
            </a:extLst>
          </p:cNvPr>
          <p:cNvSpPr>
            <a:spLocks noGrp="1"/>
          </p:cNvSpPr>
          <p:nvPr>
            <p:ph type="title"/>
          </p:nvPr>
        </p:nvSpPr>
        <p:spPr>
          <a:xfrm>
            <a:off x="304800" y="304800"/>
            <a:ext cx="11684000" cy="152400"/>
          </a:xfrm>
        </p:spPr>
        <p:txBody>
          <a:bodyPr>
            <a:noAutofit/>
          </a:bodyPr>
          <a:lstStyle/>
          <a:p>
            <a:pPr marL="0" marR="0" lvl="0" indent="0" defTabSz="914400" rtl="0" eaLnBrk="1" fontAlgn="auto" latinLnBrk="0" hangingPunct="1">
              <a:lnSpc>
                <a:spcPct val="100000"/>
              </a:lnSpc>
              <a:spcBef>
                <a:spcPct val="20000"/>
              </a:spcBef>
              <a:spcAft>
                <a:spcPts val="0"/>
              </a:spcAft>
              <a:tabLst/>
              <a:defRPr/>
            </a:pP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t>AI-powered Multi-Disease Adaptive Nutrition and Personalized Health Optimization</a:t>
            </a:r>
            <a:br>
              <a:rPr kumimoji="0" lang="en-GB" sz="2000" b="0" i="0" u="none" strike="noStrike" kern="1200" cap="none" spc="0" normalizeH="0" baseline="0" noProof="0">
                <a:ln>
                  <a:noFill/>
                </a:ln>
                <a:solidFill>
                  <a:prstClr val="black">
                    <a:tint val="75000"/>
                  </a:prstClr>
                </a:solidFill>
                <a:effectLst/>
                <a:uLnTx/>
                <a:uFillTx/>
                <a:latin typeface="Cambria"/>
                <a:ea typeface="+mn-ea"/>
                <a:cs typeface="+mn-cs"/>
              </a:rPr>
            </a:br>
            <a:endParaRPr lang="en-US"/>
          </a:p>
        </p:txBody>
      </p:sp>
      <p:graphicFrame>
        <p:nvGraphicFramePr>
          <p:cNvPr id="9" name="Content Placeholder 8">
            <a:extLst>
              <a:ext uri="{FF2B5EF4-FFF2-40B4-BE49-F238E27FC236}">
                <a16:creationId xmlns:a16="http://schemas.microsoft.com/office/drawing/2014/main" id="{4A770924-E5FA-2F0F-A4B0-85ECCB9F4AC7}"/>
              </a:ext>
            </a:extLst>
          </p:cNvPr>
          <p:cNvGraphicFramePr>
            <a:graphicFrameLocks noGrp="1"/>
          </p:cNvGraphicFramePr>
          <p:nvPr>
            <p:ph idx="1"/>
            <p:extLst>
              <p:ext uri="{D42A27DB-BD31-4B8C-83A1-F6EECF244321}">
                <p14:modId xmlns:p14="http://schemas.microsoft.com/office/powerpoint/2010/main" val="4049069470"/>
              </p:ext>
            </p:extLst>
          </p:nvPr>
        </p:nvGraphicFramePr>
        <p:xfrm>
          <a:off x="431799" y="1214799"/>
          <a:ext cx="11430001" cy="4737100"/>
        </p:xfrm>
        <a:graphic>
          <a:graphicData uri="http://schemas.openxmlformats.org/drawingml/2006/table">
            <a:tbl>
              <a:tblPr>
                <a:tableStyleId>{616DA210-FB5B-4158-B5E0-FEB733F419BA}</a:tableStyleId>
              </a:tblPr>
              <a:tblGrid>
                <a:gridCol w="3511177">
                  <a:extLst>
                    <a:ext uri="{9D8B030D-6E8A-4147-A177-3AD203B41FA5}">
                      <a16:colId xmlns:a16="http://schemas.microsoft.com/office/drawing/2014/main" val="1827116955"/>
                    </a:ext>
                  </a:extLst>
                </a:gridCol>
                <a:gridCol w="3959412">
                  <a:extLst>
                    <a:ext uri="{9D8B030D-6E8A-4147-A177-3AD203B41FA5}">
                      <a16:colId xmlns:a16="http://schemas.microsoft.com/office/drawing/2014/main" val="3742494581"/>
                    </a:ext>
                  </a:extLst>
                </a:gridCol>
                <a:gridCol w="3959412">
                  <a:extLst>
                    <a:ext uri="{9D8B030D-6E8A-4147-A177-3AD203B41FA5}">
                      <a16:colId xmlns:a16="http://schemas.microsoft.com/office/drawing/2014/main" val="500178964"/>
                    </a:ext>
                  </a:extLst>
                </a:gridCol>
              </a:tblGrid>
              <a:tr h="876300">
                <a:tc>
                  <a:txBody>
                    <a:bodyPr/>
                    <a:lstStyle/>
                    <a:p>
                      <a:pPr algn="l">
                        <a:lnSpc>
                          <a:spcPts val="1875"/>
                        </a:lnSpc>
                      </a:pPr>
                      <a:r>
                        <a:rPr lang="en-US" sz="1800" b="1">
                          <a:solidFill>
                            <a:schemeClr val="tx1"/>
                          </a:solidFill>
                          <a:effectLst/>
                        </a:rPr>
                        <a:t>Maria, 68</a:t>
                      </a:r>
                      <a:br>
                        <a:rPr lang="en-US" sz="1800" b="0">
                          <a:solidFill>
                            <a:schemeClr val="tx1"/>
                          </a:solidFill>
                          <a:effectLst/>
                        </a:rPr>
                      </a:br>
                      <a:r>
                        <a:rPr lang="en-US" sz="1800" b="1">
                          <a:solidFill>
                            <a:schemeClr val="tx1"/>
                          </a:solidFill>
                          <a:effectLst/>
                        </a:rPr>
                        <a:t>Medical</a:t>
                      </a:r>
                      <a:br>
                        <a:rPr lang="en-US" sz="1800" b="0">
                          <a:solidFill>
                            <a:schemeClr val="tx1"/>
                          </a:solidFill>
                          <a:effectLst/>
                        </a:rPr>
                      </a:br>
                      <a:r>
                        <a:rPr lang="en-US" sz="1800" b="0">
                          <a:solidFill>
                            <a:schemeClr val="tx1"/>
                          </a:solidFill>
                          <a:effectLst/>
                        </a:rPr>
                        <a:t>🏥</a:t>
                      </a:r>
                      <a:endParaRPr lang="en-US" sz="1800" b="0">
                        <a:solidFill>
                          <a:schemeClr val="tx1"/>
                        </a:solidFill>
                        <a:effectLst/>
                        <a:latin typeface="quote-cjk-patch"/>
                      </a:endParaRPr>
                    </a:p>
                  </a:txBody>
                  <a:tcPr marR="121920" marT="76200" marB="76200" anchor="ctr"/>
                </a:tc>
                <a:tc>
                  <a:txBody>
                    <a:bodyPr/>
                    <a:lstStyle/>
                    <a:p>
                      <a:pPr algn="l">
                        <a:lnSpc>
                          <a:spcPts val="1875"/>
                        </a:lnSpc>
                      </a:pPr>
                      <a:r>
                        <a:rPr lang="en-US" sz="1800" b="1">
                          <a:solidFill>
                            <a:schemeClr val="tx1"/>
                          </a:solidFill>
                          <a:effectLst/>
                        </a:rPr>
                        <a:t>Alex, 28</a:t>
                      </a:r>
                      <a:br>
                        <a:rPr lang="en-US" sz="1800" b="0">
                          <a:solidFill>
                            <a:schemeClr val="tx1"/>
                          </a:solidFill>
                          <a:effectLst/>
                        </a:rPr>
                      </a:br>
                      <a:r>
                        <a:rPr lang="en-US" sz="1800" b="1">
                          <a:solidFill>
                            <a:schemeClr val="tx1"/>
                          </a:solidFill>
                          <a:effectLst/>
                        </a:rPr>
                        <a:t>Fitness</a:t>
                      </a:r>
                      <a:br>
                        <a:rPr lang="en-US" sz="1800" b="0">
                          <a:solidFill>
                            <a:schemeClr val="tx1"/>
                          </a:solidFill>
                          <a:effectLst/>
                        </a:rPr>
                      </a:br>
                      <a:r>
                        <a:rPr lang="en-US" sz="1800" b="0">
                          <a:solidFill>
                            <a:schemeClr val="tx1"/>
                          </a:solidFill>
                          <a:effectLst/>
                        </a:rPr>
                        <a:t>💪</a:t>
                      </a:r>
                      <a:endParaRPr lang="en-US" sz="1800" b="0">
                        <a:solidFill>
                          <a:schemeClr val="tx1"/>
                        </a:solidFill>
                        <a:effectLst/>
                        <a:latin typeface="quote-cjk-patch"/>
                      </a:endParaRPr>
                    </a:p>
                  </a:txBody>
                  <a:tcPr marL="121920" marR="121920" marT="76200" marB="76200" anchor="ctr"/>
                </a:tc>
                <a:tc>
                  <a:txBody>
                    <a:bodyPr/>
                    <a:lstStyle/>
                    <a:p>
                      <a:pPr algn="l">
                        <a:lnSpc>
                          <a:spcPts val="1875"/>
                        </a:lnSpc>
                      </a:pPr>
                      <a:r>
                        <a:rPr lang="en-US" sz="1800" b="1">
                          <a:solidFill>
                            <a:schemeClr val="tx1"/>
                          </a:solidFill>
                          <a:effectLst/>
                        </a:rPr>
                        <a:t>Sam, 42</a:t>
                      </a:r>
                      <a:br>
                        <a:rPr lang="en-US" sz="1800" b="0">
                          <a:solidFill>
                            <a:schemeClr val="tx1"/>
                          </a:solidFill>
                          <a:effectLst/>
                        </a:rPr>
                      </a:br>
                      <a:r>
                        <a:rPr lang="en-US" sz="1800" b="1">
                          <a:solidFill>
                            <a:schemeClr val="tx1"/>
                          </a:solidFill>
                          <a:effectLst/>
                        </a:rPr>
                        <a:t>Wellness</a:t>
                      </a:r>
                      <a:br>
                        <a:rPr lang="en-US" sz="1800" b="0">
                          <a:solidFill>
                            <a:schemeClr val="tx1"/>
                          </a:solidFill>
                          <a:effectLst/>
                        </a:rPr>
                      </a:br>
                      <a:r>
                        <a:rPr lang="en-US" sz="1800" b="0">
                          <a:solidFill>
                            <a:schemeClr val="tx1"/>
                          </a:solidFill>
                          <a:effectLst/>
                        </a:rPr>
                        <a:t>⚡</a:t>
                      </a:r>
                      <a:endParaRPr lang="en-US" sz="1800" b="0">
                        <a:solidFill>
                          <a:schemeClr val="tx1"/>
                        </a:solidFill>
                        <a:effectLst/>
                        <a:latin typeface="quote-cjk-patch"/>
                      </a:endParaRPr>
                    </a:p>
                  </a:txBody>
                  <a:tcPr marL="121920" marR="121920" marT="76200" marB="76200" anchor="ctr"/>
                </a:tc>
                <a:extLst>
                  <a:ext uri="{0D108BD9-81ED-4DB2-BD59-A6C34878D82A}">
                    <a16:rowId xmlns:a16="http://schemas.microsoft.com/office/drawing/2014/main" val="353817880"/>
                  </a:ext>
                </a:extLst>
              </a:tr>
              <a:tr h="901700">
                <a:tc>
                  <a:txBody>
                    <a:bodyPr/>
                    <a:lstStyle/>
                    <a:p>
                      <a:pPr>
                        <a:lnSpc>
                          <a:spcPts val="1875"/>
                        </a:lnSpc>
                      </a:pPr>
                      <a:r>
                        <a:rPr lang="en-GB" sz="1800" b="1">
                          <a:solidFill>
                            <a:schemeClr val="tx1"/>
                          </a:solidFill>
                          <a:effectLst/>
                        </a:rPr>
                        <a:t>Profile:</a:t>
                      </a:r>
                      <a:br>
                        <a:rPr lang="en-GB" sz="1800" b="0">
                          <a:solidFill>
                            <a:schemeClr val="tx1"/>
                          </a:solidFill>
                          <a:effectLst/>
                        </a:rPr>
                      </a:br>
                      <a:r>
                        <a:rPr lang="en-GB" sz="1800" b="0">
                          <a:solidFill>
                            <a:schemeClr val="tx1"/>
                          </a:solidFill>
                          <a:effectLst/>
                        </a:rPr>
                        <a:t>Type 2 Diabetes, Kidney Disease</a:t>
                      </a:r>
                      <a:br>
                        <a:rPr lang="en-GB" sz="1800" b="0">
                          <a:solidFill>
                            <a:schemeClr val="tx1"/>
                          </a:solidFill>
                          <a:effectLst/>
                        </a:rPr>
                      </a:br>
                      <a:r>
                        <a:rPr lang="en-GB" sz="1800" b="1">
                          <a:solidFill>
                            <a:schemeClr val="tx1"/>
                          </a:solidFill>
                          <a:effectLst/>
                        </a:rPr>
                        <a:t>Goal:</a:t>
                      </a:r>
                      <a:r>
                        <a:rPr lang="en-GB" sz="1800" b="0">
                          <a:solidFill>
                            <a:schemeClr val="tx1"/>
                          </a:solidFill>
                          <a:effectLst/>
                        </a:rPr>
                        <a:t> Manage Health</a:t>
                      </a:r>
                      <a:endParaRPr lang="en-GB" sz="1800" b="0">
                        <a:solidFill>
                          <a:schemeClr val="tx1"/>
                        </a:solidFill>
                        <a:effectLst/>
                        <a:latin typeface="quote-cjk-patch"/>
                      </a:endParaRPr>
                    </a:p>
                  </a:txBody>
                  <a:tcPr marR="121920" marT="76200" marB="76200" anchor="ctr"/>
                </a:tc>
                <a:tc>
                  <a:txBody>
                    <a:bodyPr/>
                    <a:lstStyle/>
                    <a:p>
                      <a:pPr>
                        <a:lnSpc>
                          <a:spcPts val="1875"/>
                        </a:lnSpc>
                      </a:pPr>
                      <a:r>
                        <a:rPr lang="en-GB" sz="1800" b="1">
                          <a:solidFill>
                            <a:schemeClr val="tx1"/>
                          </a:solidFill>
                          <a:effectLst/>
                        </a:rPr>
                        <a:t>Profile:</a:t>
                      </a:r>
                      <a:br>
                        <a:rPr lang="en-GB" sz="1800" b="0">
                          <a:solidFill>
                            <a:schemeClr val="tx1"/>
                          </a:solidFill>
                          <a:effectLst/>
                        </a:rPr>
                      </a:br>
                      <a:r>
                        <a:rPr lang="en-GB" sz="1800" b="0">
                          <a:solidFill>
                            <a:schemeClr val="tx1"/>
                          </a:solidFill>
                          <a:effectLst/>
                        </a:rPr>
                        <a:t>Amateur Bodybuilder</a:t>
                      </a:r>
                      <a:br>
                        <a:rPr lang="en-GB" sz="1800" b="0">
                          <a:solidFill>
                            <a:schemeClr val="tx1"/>
                          </a:solidFill>
                          <a:effectLst/>
                        </a:rPr>
                      </a:br>
                      <a:r>
                        <a:rPr lang="en-GB" sz="1800" b="1">
                          <a:solidFill>
                            <a:schemeClr val="tx1"/>
                          </a:solidFill>
                          <a:effectLst/>
                        </a:rPr>
                        <a:t>Goal:</a:t>
                      </a:r>
                      <a:r>
                        <a:rPr lang="en-GB" sz="1800" b="0">
                          <a:solidFill>
                            <a:schemeClr val="tx1"/>
                          </a:solidFill>
                          <a:effectLst/>
                        </a:rPr>
                        <a:t> Build Muscle Mass</a:t>
                      </a:r>
                      <a:endParaRPr lang="en-GB" sz="1800" b="0">
                        <a:solidFill>
                          <a:schemeClr val="tx1"/>
                        </a:solidFill>
                        <a:effectLst/>
                        <a:latin typeface="quote-cjk-patch"/>
                      </a:endParaRPr>
                    </a:p>
                  </a:txBody>
                  <a:tcPr marL="121920" marR="121920" marT="76200" marB="76200" anchor="ctr"/>
                </a:tc>
                <a:tc>
                  <a:txBody>
                    <a:bodyPr/>
                    <a:lstStyle/>
                    <a:p>
                      <a:pPr>
                        <a:lnSpc>
                          <a:spcPts val="1875"/>
                        </a:lnSpc>
                      </a:pPr>
                      <a:r>
                        <a:rPr lang="en-GB" sz="1800" b="1">
                          <a:solidFill>
                            <a:schemeClr val="tx1"/>
                          </a:solidFill>
                          <a:effectLst/>
                        </a:rPr>
                        <a:t>Profile:</a:t>
                      </a:r>
                      <a:br>
                        <a:rPr lang="en-GB" sz="1800" b="0">
                          <a:solidFill>
                            <a:schemeClr val="tx1"/>
                          </a:solidFill>
                          <a:effectLst/>
                        </a:rPr>
                      </a:br>
                      <a:r>
                        <a:rPr lang="en-GB" sz="1800" b="0">
                          <a:solidFill>
                            <a:schemeClr val="tx1"/>
                          </a:solidFill>
                          <a:effectLst/>
                        </a:rPr>
                        <a:t>Busy Professional, Fatigue</a:t>
                      </a:r>
                      <a:br>
                        <a:rPr lang="en-GB" sz="1800" b="0">
                          <a:solidFill>
                            <a:schemeClr val="tx1"/>
                          </a:solidFill>
                          <a:effectLst/>
                        </a:rPr>
                      </a:br>
                      <a:r>
                        <a:rPr lang="en-GB" sz="1800" b="1">
                          <a:solidFill>
                            <a:schemeClr val="tx1"/>
                          </a:solidFill>
                          <a:effectLst/>
                        </a:rPr>
                        <a:t>Goal:</a:t>
                      </a:r>
                      <a:r>
                        <a:rPr lang="en-GB" sz="1800" b="0">
                          <a:solidFill>
                            <a:schemeClr val="tx1"/>
                          </a:solidFill>
                          <a:effectLst/>
                        </a:rPr>
                        <a:t> Improve Daily Energy</a:t>
                      </a:r>
                      <a:endParaRPr lang="en-GB" sz="1800" b="0">
                        <a:solidFill>
                          <a:schemeClr val="tx1"/>
                        </a:solidFill>
                        <a:effectLst/>
                        <a:latin typeface="quote-cjk-patch"/>
                      </a:endParaRPr>
                    </a:p>
                  </a:txBody>
                  <a:tcPr marL="121920" marR="121920" marT="76200" marB="76200" anchor="ctr"/>
                </a:tc>
                <a:extLst>
                  <a:ext uri="{0D108BD9-81ED-4DB2-BD59-A6C34878D82A}">
                    <a16:rowId xmlns:a16="http://schemas.microsoft.com/office/drawing/2014/main" val="1799236482"/>
                  </a:ext>
                </a:extLst>
              </a:tr>
              <a:tr h="876300">
                <a:tc>
                  <a:txBody>
                    <a:bodyPr/>
                    <a:lstStyle/>
                    <a:p>
                      <a:pPr>
                        <a:lnSpc>
                          <a:spcPts val="1875"/>
                        </a:lnSpc>
                      </a:pPr>
                      <a:r>
                        <a:rPr lang="en-GB" sz="1800" b="1">
                          <a:solidFill>
                            <a:schemeClr val="tx1"/>
                          </a:solidFill>
                          <a:effectLst/>
                        </a:rPr>
                        <a:t>The Problem:</a:t>
                      </a:r>
                      <a:br>
                        <a:rPr lang="en-GB" sz="1800" b="0">
                          <a:solidFill>
                            <a:schemeClr val="tx1"/>
                          </a:solidFill>
                          <a:effectLst/>
                        </a:rPr>
                      </a:br>
                      <a:r>
                        <a:rPr lang="en-GB" sz="1800" b="0">
                          <a:solidFill>
                            <a:schemeClr val="tx1"/>
                          </a:solidFill>
                          <a:effectLst/>
                        </a:rPr>
                        <a:t>Conflicting dietary needs create confusion and risk.</a:t>
                      </a:r>
                      <a:endParaRPr lang="en-GB" sz="1800" b="0">
                        <a:solidFill>
                          <a:schemeClr val="tx1"/>
                        </a:solidFill>
                        <a:effectLst/>
                        <a:latin typeface="quote-cjk-patch"/>
                      </a:endParaRPr>
                    </a:p>
                  </a:txBody>
                  <a:tcPr marR="121920" marT="76200" marB="76200" anchor="ctr"/>
                </a:tc>
                <a:tc>
                  <a:txBody>
                    <a:bodyPr/>
                    <a:lstStyle/>
                    <a:p>
                      <a:pPr>
                        <a:lnSpc>
                          <a:spcPts val="1875"/>
                        </a:lnSpc>
                      </a:pPr>
                      <a:r>
                        <a:rPr lang="en-GB" sz="1800" b="1">
                          <a:solidFill>
                            <a:schemeClr val="tx1"/>
                          </a:solidFill>
                          <a:effectLst/>
                        </a:rPr>
                        <a:t>The Problem:</a:t>
                      </a:r>
                      <a:br>
                        <a:rPr lang="en-GB" sz="1800" b="0">
                          <a:solidFill>
                            <a:schemeClr val="tx1"/>
                          </a:solidFill>
                          <a:effectLst/>
                        </a:rPr>
                      </a:br>
                      <a:r>
                        <a:rPr lang="en-GB" sz="1800" b="0">
                          <a:solidFill>
                            <a:schemeClr val="tx1"/>
                          </a:solidFill>
                          <a:effectLst/>
                        </a:rPr>
                        <a:t>Generic plans lack the precision for optimal performance.</a:t>
                      </a:r>
                      <a:endParaRPr lang="en-GB" sz="1800" b="0">
                        <a:solidFill>
                          <a:schemeClr val="tx1"/>
                        </a:solidFill>
                        <a:effectLst/>
                        <a:latin typeface="quote-cjk-patch"/>
                      </a:endParaRPr>
                    </a:p>
                  </a:txBody>
                  <a:tcPr marL="121920" marR="121920" marT="76200" marB="76200" anchor="ctr"/>
                </a:tc>
                <a:tc>
                  <a:txBody>
                    <a:bodyPr/>
                    <a:lstStyle/>
                    <a:p>
                      <a:pPr>
                        <a:lnSpc>
                          <a:spcPts val="1875"/>
                        </a:lnSpc>
                      </a:pPr>
                      <a:r>
                        <a:rPr lang="en-GB" sz="1800" b="1">
                          <a:solidFill>
                            <a:schemeClr val="tx1"/>
                          </a:solidFill>
                          <a:effectLst/>
                        </a:rPr>
                        <a:t>The Problem:</a:t>
                      </a:r>
                      <a:br>
                        <a:rPr lang="en-GB" sz="1800" b="0">
                          <a:solidFill>
                            <a:schemeClr val="tx1"/>
                          </a:solidFill>
                          <a:effectLst/>
                        </a:rPr>
                      </a:br>
                      <a:r>
                        <a:rPr lang="en-GB" sz="1800" b="0">
                          <a:solidFill>
                            <a:schemeClr val="tx1"/>
                          </a:solidFill>
                          <a:effectLst/>
                        </a:rPr>
                        <a:t>Energy crashes from poor food choices and lifestyle mismatch.</a:t>
                      </a:r>
                      <a:endParaRPr lang="en-GB" sz="1800" b="0">
                        <a:solidFill>
                          <a:schemeClr val="tx1"/>
                        </a:solidFill>
                        <a:effectLst/>
                        <a:latin typeface="quote-cjk-patch"/>
                      </a:endParaRPr>
                    </a:p>
                  </a:txBody>
                  <a:tcPr marL="121920" marR="121920" marT="76200" marB="76200" anchor="ctr"/>
                </a:tc>
                <a:extLst>
                  <a:ext uri="{0D108BD9-81ED-4DB2-BD59-A6C34878D82A}">
                    <a16:rowId xmlns:a16="http://schemas.microsoft.com/office/drawing/2014/main" val="2345263144"/>
                  </a:ext>
                </a:extLst>
              </a:tr>
              <a:tr h="1841500">
                <a:tc>
                  <a:txBody>
                    <a:bodyPr/>
                    <a:lstStyle/>
                    <a:p>
                      <a:pPr>
                        <a:lnSpc>
                          <a:spcPts val="1875"/>
                        </a:lnSpc>
                      </a:pPr>
                      <a:r>
                        <a:rPr lang="en-GB" sz="1800" b="1">
                          <a:solidFill>
                            <a:schemeClr val="tx1"/>
                          </a:solidFill>
                          <a:effectLst/>
                        </a:rPr>
                        <a:t>How Our AI Helps:</a:t>
                      </a:r>
                      <a:br>
                        <a:rPr lang="en-GB" sz="1800" b="0">
                          <a:solidFill>
                            <a:schemeClr val="tx1"/>
                          </a:solidFill>
                          <a:effectLst/>
                        </a:rPr>
                      </a:br>
                      <a:r>
                        <a:rPr lang="en-GB" sz="1800" b="0">
                          <a:solidFill>
                            <a:schemeClr val="tx1"/>
                          </a:solidFill>
                          <a:effectLst/>
                        </a:rPr>
                        <a:t>• </a:t>
                      </a:r>
                      <a:r>
                        <a:rPr lang="en-GB" sz="1800" b="1">
                          <a:solidFill>
                            <a:schemeClr val="tx1"/>
                          </a:solidFill>
                          <a:effectLst/>
                        </a:rPr>
                        <a:t>Guardian:</a:t>
                      </a:r>
                      <a:r>
                        <a:rPr lang="en-GB" sz="1800" b="0">
                          <a:solidFill>
                            <a:schemeClr val="tx1"/>
                          </a:solidFill>
                          <a:effectLst/>
                        </a:rPr>
                        <a:t> Locks potassium &amp; carb limits.</a:t>
                      </a:r>
                      <a:br>
                        <a:rPr lang="en-GB" sz="1800" b="0">
                          <a:solidFill>
                            <a:schemeClr val="tx1"/>
                          </a:solidFill>
                          <a:effectLst/>
                        </a:rPr>
                      </a:br>
                      <a:r>
                        <a:rPr lang="en-GB" sz="1800" b="0">
                          <a:solidFill>
                            <a:schemeClr val="tx1"/>
                          </a:solidFill>
                          <a:effectLst/>
                        </a:rPr>
                        <a:t>• </a:t>
                      </a:r>
                      <a:r>
                        <a:rPr lang="en-GB" sz="1800" b="1">
                          <a:solidFill>
                            <a:schemeClr val="tx1"/>
                          </a:solidFill>
                          <a:effectLst/>
                        </a:rPr>
                        <a:t>Optimizer:</a:t>
                      </a:r>
                      <a:r>
                        <a:rPr lang="en-GB" sz="1800" b="0">
                          <a:solidFill>
                            <a:schemeClr val="tx1"/>
                          </a:solidFill>
                          <a:effectLst/>
                        </a:rPr>
                        <a:t> Uses activity data to fuel walks.</a:t>
                      </a:r>
                      <a:br>
                        <a:rPr lang="en-GB" sz="1800" b="0">
                          <a:solidFill>
                            <a:schemeClr val="tx1"/>
                          </a:solidFill>
                          <a:effectLst/>
                        </a:rPr>
                      </a:br>
                      <a:r>
                        <a:rPr lang="en-GB" sz="1800" b="0">
                          <a:solidFill>
                            <a:schemeClr val="tx1"/>
                          </a:solidFill>
                          <a:effectLst/>
                        </a:rPr>
                        <a:t>• </a:t>
                      </a:r>
                      <a:r>
                        <a:rPr lang="en-GB" sz="1800" b="1">
                          <a:solidFill>
                            <a:schemeClr val="tx1"/>
                          </a:solidFill>
                          <a:effectLst/>
                        </a:rPr>
                        <a:t>Explains:</a:t>
                      </a:r>
                      <a:r>
                        <a:rPr lang="en-GB" sz="1800" b="0">
                          <a:solidFill>
                            <a:schemeClr val="tx1"/>
                          </a:solidFill>
                          <a:effectLst/>
                        </a:rPr>
                        <a:t> "Added healthy fats for energy, kept it kidney-friendly."</a:t>
                      </a:r>
                      <a:endParaRPr lang="en-GB" sz="1800" b="0">
                        <a:solidFill>
                          <a:schemeClr val="tx1"/>
                        </a:solidFill>
                        <a:effectLst/>
                        <a:latin typeface="quote-cjk-patch"/>
                      </a:endParaRPr>
                    </a:p>
                  </a:txBody>
                  <a:tcPr marR="121920" marT="76200" marB="76200" anchor="ctr"/>
                </a:tc>
                <a:tc>
                  <a:txBody>
                    <a:bodyPr/>
                    <a:lstStyle/>
                    <a:p>
                      <a:pPr>
                        <a:lnSpc>
                          <a:spcPts val="1875"/>
                        </a:lnSpc>
                      </a:pPr>
                      <a:r>
                        <a:rPr lang="en-GB" sz="1800" b="1">
                          <a:solidFill>
                            <a:schemeClr val="tx1"/>
                          </a:solidFill>
                          <a:effectLst/>
                        </a:rPr>
                        <a:t>How Our AI Helps:</a:t>
                      </a:r>
                      <a:br>
                        <a:rPr lang="en-GB" sz="1800" b="0">
                          <a:solidFill>
                            <a:schemeClr val="tx1"/>
                          </a:solidFill>
                          <a:effectLst/>
                        </a:rPr>
                      </a:br>
                      <a:r>
                        <a:rPr lang="en-GB" sz="1800" b="0">
                          <a:solidFill>
                            <a:schemeClr val="tx1"/>
                          </a:solidFill>
                          <a:effectLst/>
                        </a:rPr>
                        <a:t>• </a:t>
                      </a:r>
                      <a:r>
                        <a:rPr lang="en-GB" sz="1800" b="1">
                          <a:solidFill>
                            <a:schemeClr val="tx1"/>
                          </a:solidFill>
                          <a:effectLst/>
                        </a:rPr>
                        <a:t>Guardian:</a:t>
                      </a:r>
                      <a:r>
                        <a:rPr lang="en-GB" sz="1800" b="0">
                          <a:solidFill>
                            <a:schemeClr val="tx1"/>
                          </a:solidFill>
                          <a:effectLst/>
                        </a:rPr>
                        <a:t> Ensures safe protein intake.</a:t>
                      </a:r>
                      <a:br>
                        <a:rPr lang="en-GB" sz="1800" b="0">
                          <a:solidFill>
                            <a:schemeClr val="tx1"/>
                          </a:solidFill>
                          <a:effectLst/>
                        </a:rPr>
                      </a:br>
                      <a:r>
                        <a:rPr lang="en-GB" sz="1800" b="0">
                          <a:solidFill>
                            <a:schemeClr val="tx1"/>
                          </a:solidFill>
                          <a:effectLst/>
                        </a:rPr>
                        <a:t>• </a:t>
                      </a:r>
                      <a:r>
                        <a:rPr lang="en-GB" sz="1800" b="1">
                          <a:solidFill>
                            <a:schemeClr val="tx1"/>
                          </a:solidFill>
                          <a:effectLst/>
                        </a:rPr>
                        <a:t>Optimizer:</a:t>
                      </a:r>
                      <a:r>
                        <a:rPr lang="en-GB" sz="1800" b="0">
                          <a:solidFill>
                            <a:schemeClr val="tx1"/>
                          </a:solidFill>
                          <a:effectLst/>
                        </a:rPr>
                        <a:t> Boosts calories/protein based on workout strain.</a:t>
                      </a:r>
                      <a:br>
                        <a:rPr lang="en-GB" sz="1800" b="0">
                          <a:solidFill>
                            <a:schemeClr val="tx1"/>
                          </a:solidFill>
                          <a:effectLst/>
                        </a:rPr>
                      </a:br>
                      <a:r>
                        <a:rPr lang="en-GB" sz="1800" b="0">
                          <a:solidFill>
                            <a:schemeClr val="tx1"/>
                          </a:solidFill>
                          <a:effectLst/>
                        </a:rPr>
                        <a:t>• </a:t>
                      </a:r>
                      <a:r>
                        <a:rPr lang="en-GB" sz="1800" b="1">
                          <a:solidFill>
                            <a:schemeClr val="tx1"/>
                          </a:solidFill>
                          <a:effectLst/>
                        </a:rPr>
                        <a:t>Explains:</a:t>
                      </a:r>
                      <a:r>
                        <a:rPr lang="en-GB" sz="1800" b="0">
                          <a:solidFill>
                            <a:schemeClr val="tx1"/>
                          </a:solidFill>
                          <a:effectLst/>
                        </a:rPr>
                        <a:t> "+400 cal &amp; 50g protein for muscle repair after your lift."*</a:t>
                      </a:r>
                      <a:endParaRPr lang="en-GB" sz="1800" b="0">
                        <a:solidFill>
                          <a:schemeClr val="tx1"/>
                        </a:solidFill>
                        <a:effectLst/>
                        <a:latin typeface="quote-cjk-patch"/>
                      </a:endParaRPr>
                    </a:p>
                  </a:txBody>
                  <a:tcPr marL="121920" marR="121920" marT="76200" marB="76200" anchor="ctr"/>
                </a:tc>
                <a:tc>
                  <a:txBody>
                    <a:bodyPr/>
                    <a:lstStyle/>
                    <a:p>
                      <a:pPr>
                        <a:lnSpc>
                          <a:spcPts val="1875"/>
                        </a:lnSpc>
                      </a:pPr>
                      <a:r>
                        <a:rPr lang="en-GB" sz="1800" b="1">
                          <a:solidFill>
                            <a:schemeClr val="tx1"/>
                          </a:solidFill>
                          <a:effectLst/>
                        </a:rPr>
                        <a:t>How Our AI Helps:</a:t>
                      </a:r>
                      <a:br>
                        <a:rPr lang="en-GB" sz="1800" b="0">
                          <a:solidFill>
                            <a:schemeClr val="tx1"/>
                          </a:solidFill>
                          <a:effectLst/>
                        </a:rPr>
                      </a:br>
                      <a:r>
                        <a:rPr lang="en-GB" sz="1800" b="0">
                          <a:solidFill>
                            <a:schemeClr val="tx1"/>
                          </a:solidFill>
                          <a:effectLst/>
                        </a:rPr>
                        <a:t>• </a:t>
                      </a:r>
                      <a:r>
                        <a:rPr lang="en-GB" sz="1800" b="1">
                          <a:solidFill>
                            <a:schemeClr val="tx1"/>
                          </a:solidFill>
                          <a:effectLst/>
                        </a:rPr>
                        <a:t>Guardian:</a:t>
                      </a:r>
                      <a:r>
                        <a:rPr lang="en-GB" sz="1800" b="0">
                          <a:solidFill>
                            <a:schemeClr val="tx1"/>
                          </a:solidFill>
                          <a:effectLst/>
                        </a:rPr>
                        <a:t> Promotes balanced meals.</a:t>
                      </a:r>
                      <a:br>
                        <a:rPr lang="en-GB" sz="1800" b="0">
                          <a:solidFill>
                            <a:schemeClr val="tx1"/>
                          </a:solidFill>
                          <a:effectLst/>
                        </a:rPr>
                      </a:br>
                      <a:r>
                        <a:rPr lang="en-GB" sz="1800" b="0">
                          <a:solidFill>
                            <a:schemeClr val="tx1"/>
                          </a:solidFill>
                          <a:effectLst/>
                        </a:rPr>
                        <a:t>• </a:t>
                      </a:r>
                      <a:r>
                        <a:rPr lang="en-GB" sz="1800" b="1">
                          <a:solidFill>
                            <a:schemeClr val="tx1"/>
                          </a:solidFill>
                          <a:effectLst/>
                        </a:rPr>
                        <a:t>Optimizer:</a:t>
                      </a:r>
                      <a:r>
                        <a:rPr lang="en-GB" sz="1800" b="0">
                          <a:solidFill>
                            <a:schemeClr val="tx1"/>
                          </a:solidFill>
                          <a:effectLst/>
                        </a:rPr>
                        <a:t> Analyzes sleep &amp; activity to prevent crashes.</a:t>
                      </a:r>
                      <a:br>
                        <a:rPr lang="en-GB" sz="1800" b="0">
                          <a:solidFill>
                            <a:schemeClr val="tx1"/>
                          </a:solidFill>
                          <a:effectLst/>
                        </a:rPr>
                      </a:br>
                      <a:r>
                        <a:rPr lang="en-GB" sz="1800" b="0">
                          <a:solidFill>
                            <a:schemeClr val="tx1"/>
                          </a:solidFill>
                          <a:effectLst/>
                        </a:rPr>
                        <a:t>• </a:t>
                      </a:r>
                      <a:r>
                        <a:rPr lang="en-GB" sz="1800" b="1">
                          <a:solidFill>
                            <a:schemeClr val="tx1"/>
                          </a:solidFill>
                          <a:effectLst/>
                        </a:rPr>
                        <a:t>Explains:</a:t>
                      </a:r>
                      <a:r>
                        <a:rPr lang="en-GB" sz="1800" b="0">
                          <a:solidFill>
                            <a:schemeClr val="tx1"/>
                          </a:solidFill>
                          <a:effectLst/>
                        </a:rPr>
                        <a:t> "Lunch with slow-release energy to prevent your 3 PM slump."*</a:t>
                      </a:r>
                      <a:endParaRPr lang="en-GB" sz="1800" b="0">
                        <a:solidFill>
                          <a:schemeClr val="tx1"/>
                        </a:solidFill>
                        <a:effectLst/>
                        <a:latin typeface="quote-cjk-patch"/>
                      </a:endParaRPr>
                    </a:p>
                  </a:txBody>
                  <a:tcPr marL="121920" marR="121920" marT="76200" marB="76200" anchor="ctr"/>
                </a:tc>
                <a:extLst>
                  <a:ext uri="{0D108BD9-81ED-4DB2-BD59-A6C34878D82A}">
                    <a16:rowId xmlns:a16="http://schemas.microsoft.com/office/drawing/2014/main" val="1708659209"/>
                  </a:ext>
                </a:extLst>
              </a:tr>
            </a:tbl>
          </a:graphicData>
        </a:graphic>
      </p:graphicFrame>
      <p:sp>
        <p:nvSpPr>
          <p:cNvPr id="8" name="Rectangle 7">
            <a:extLst>
              <a:ext uri="{FF2B5EF4-FFF2-40B4-BE49-F238E27FC236}">
                <a16:creationId xmlns:a16="http://schemas.microsoft.com/office/drawing/2014/main" id="{92DE9C7D-0495-9F32-BB76-3D76CE5C812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
        <p:nvSpPr>
          <p:cNvPr id="3" name="TextBox 2">
            <a:extLst>
              <a:ext uri="{FF2B5EF4-FFF2-40B4-BE49-F238E27FC236}">
                <a16:creationId xmlns:a16="http://schemas.microsoft.com/office/drawing/2014/main" id="{6AF18C62-C876-284D-15C5-569645D6FB5D}"/>
              </a:ext>
            </a:extLst>
          </p:cNvPr>
          <p:cNvSpPr txBox="1"/>
          <p:nvPr/>
        </p:nvSpPr>
        <p:spPr>
          <a:xfrm>
            <a:off x="-35560" y="570269"/>
            <a:ext cx="11734800" cy="461665"/>
          </a:xfrm>
          <a:prstGeom prst="rect">
            <a:avLst/>
          </a:prstGeom>
          <a:noFill/>
        </p:spPr>
        <p:txBody>
          <a:bodyPr wrap="square" rtlCol="0">
            <a:spAutoFit/>
          </a:bodyPr>
          <a:lstStyle/>
          <a:p>
            <a:pPr algn="ctr"/>
            <a:r>
              <a:rPr lang="en-US" sz="2400" b="1">
                <a:solidFill>
                  <a:srgbClr val="FF0000"/>
                </a:solidFill>
              </a:rPr>
              <a:t>Real-world Example</a:t>
            </a:r>
            <a:endParaRPr lang="en-US" sz="2400">
              <a:solidFill>
                <a:srgbClr val="FF0000"/>
              </a:solidFill>
            </a:endParaRPr>
          </a:p>
        </p:txBody>
      </p:sp>
    </p:spTree>
    <p:extLst>
      <p:ext uri="{BB962C8B-B14F-4D97-AF65-F5344CB8AC3E}">
        <p14:creationId xmlns:p14="http://schemas.microsoft.com/office/powerpoint/2010/main" val="218265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6634-4AA2-D418-1127-D8BE61485774}"/>
              </a:ext>
            </a:extLst>
          </p:cNvPr>
          <p:cNvSpPr>
            <a:spLocks noGrp="1"/>
          </p:cNvSpPr>
          <p:nvPr>
            <p:ph type="title"/>
          </p:nvPr>
        </p:nvSpPr>
        <p:spPr>
          <a:xfrm>
            <a:off x="0" y="510084"/>
            <a:ext cx="11684000" cy="792162"/>
          </a:xfrm>
        </p:spPr>
        <p:txBody>
          <a:bodyPr>
            <a:normAutofit/>
          </a:bodyPr>
          <a:lstStyle/>
          <a:p>
            <a:r>
              <a:rPr lang="en-GB" sz="3200">
                <a:ea typeface="Cambria"/>
              </a:rPr>
              <a:t>Work Breakdown Structure</a:t>
            </a:r>
          </a:p>
        </p:txBody>
      </p:sp>
      <p:sp>
        <p:nvSpPr>
          <p:cNvPr id="7" name="TextBox 6">
            <a:extLst>
              <a:ext uri="{FF2B5EF4-FFF2-40B4-BE49-F238E27FC236}">
                <a16:creationId xmlns:a16="http://schemas.microsoft.com/office/drawing/2014/main" id="{41F8F2D0-8F99-F8AD-D3F2-8B1850F334D5}"/>
              </a:ext>
            </a:extLst>
          </p:cNvPr>
          <p:cNvSpPr txBox="1"/>
          <p:nvPr/>
        </p:nvSpPr>
        <p:spPr>
          <a:xfrm>
            <a:off x="2594610" y="6477000"/>
            <a:ext cx="6484620" cy="369332"/>
          </a:xfrm>
          <a:prstGeom prst="rect">
            <a:avLst/>
          </a:prstGeom>
          <a:noFill/>
        </p:spPr>
        <p:txBody>
          <a:bodyPr wrap="square">
            <a:spAutoFit/>
          </a:bodyP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
        <p:nvSpPr>
          <p:cNvPr id="9" name="TextBox 8">
            <a:extLst>
              <a:ext uri="{FF2B5EF4-FFF2-40B4-BE49-F238E27FC236}">
                <a16:creationId xmlns:a16="http://schemas.microsoft.com/office/drawing/2014/main" id="{2DE42480-3280-F57E-75EE-FA60EF533EDF}"/>
              </a:ext>
            </a:extLst>
          </p:cNvPr>
          <p:cNvSpPr txBox="1"/>
          <p:nvPr/>
        </p:nvSpPr>
        <p:spPr>
          <a:xfrm>
            <a:off x="0" y="-304800"/>
            <a:ext cx="12192000" cy="923330"/>
          </a:xfrm>
          <a:prstGeom prst="rect">
            <a:avLst/>
          </a:prstGeom>
          <a:noFill/>
        </p:spPr>
        <p:txBody>
          <a:bodyPr wrap="square">
            <a:spAutoFit/>
          </a:bodyPr>
          <a:lstStyle/>
          <a:p>
            <a:pPr algn="ctr"/>
            <a:br>
              <a:rPr kumimoji="0" lang="en-GB" sz="1800" b="0" i="0" u="none" strike="noStrike" kern="1200" cap="none" spc="0" normalizeH="0" baseline="0" noProof="0">
                <a:ln>
                  <a:noFill/>
                </a:ln>
                <a:solidFill>
                  <a:prstClr val="black">
                    <a:tint val="75000"/>
                  </a:prstClr>
                </a:solidFill>
                <a:effectLst/>
                <a:uLnTx/>
                <a:uFillTx/>
                <a:latin typeface="Cambria"/>
                <a:ea typeface="+mn-ea"/>
                <a:cs typeface="+mn-cs"/>
              </a:rPr>
            </a:br>
            <a:r>
              <a:rPr kumimoji="0" lang="en-GB" sz="1800" b="0" i="0" u="none" strike="noStrike" kern="1200" cap="none" spc="0" normalizeH="0" baseline="0" noProof="0">
                <a:ln>
                  <a:noFill/>
                </a:ln>
                <a:solidFill>
                  <a:prstClr val="black">
                    <a:tint val="75000"/>
                  </a:prstClr>
                </a:solidFill>
                <a:effectLst/>
                <a:uLnTx/>
                <a:uFillTx/>
                <a:latin typeface="Cambria"/>
                <a:ea typeface="+mn-ea"/>
                <a:cs typeface="+mn-cs"/>
              </a:rPr>
              <a:t>AI-powered Multi-Disease Adaptive Nutrition and Personalized Health Optimization</a:t>
            </a:r>
            <a:br>
              <a:rPr kumimoji="0" lang="en-GB" sz="1800" b="0" i="0" u="none" strike="noStrike" kern="1200" cap="none" spc="0" normalizeH="0" baseline="0" noProof="0">
                <a:ln>
                  <a:noFill/>
                </a:ln>
                <a:solidFill>
                  <a:prstClr val="black">
                    <a:tint val="75000"/>
                  </a:prstClr>
                </a:solidFill>
                <a:effectLst/>
                <a:uLnTx/>
                <a:uFillTx/>
                <a:latin typeface="Cambria"/>
                <a:ea typeface="+mn-ea"/>
                <a:cs typeface="+mn-cs"/>
              </a:rPr>
            </a:br>
            <a:endParaRPr lang="en-US"/>
          </a:p>
        </p:txBody>
      </p:sp>
      <p:pic>
        <p:nvPicPr>
          <p:cNvPr id="13" name="Content Placeholder 12" descr="A diagram of a multi-disease nutrition engine&#10;&#10;AI-generated content may be incorrect.">
            <a:extLst>
              <a:ext uri="{FF2B5EF4-FFF2-40B4-BE49-F238E27FC236}">
                <a16:creationId xmlns:a16="http://schemas.microsoft.com/office/drawing/2014/main" id="{A1D0C4DA-0AA7-2305-A11E-7E504AFA5F52}"/>
              </a:ext>
            </a:extLst>
          </p:cNvPr>
          <p:cNvPicPr>
            <a:picLocks noGrp="1" noChangeAspect="1"/>
          </p:cNvPicPr>
          <p:nvPr>
            <p:ph idx="1"/>
          </p:nvPr>
        </p:nvPicPr>
        <p:blipFill>
          <a:blip r:embed="rId2"/>
          <a:stretch>
            <a:fillRect/>
          </a:stretch>
        </p:blipFill>
        <p:spPr>
          <a:xfrm>
            <a:off x="2260600" y="1143000"/>
            <a:ext cx="7772400" cy="5181600"/>
          </a:xfrm>
        </p:spPr>
      </p:pic>
    </p:spTree>
    <p:extLst>
      <p:ext uri="{BB962C8B-B14F-4D97-AF65-F5344CB8AC3E}">
        <p14:creationId xmlns:p14="http://schemas.microsoft.com/office/powerpoint/2010/main" val="372287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p>
            <a:r>
              <a:rPr lang="en-US">
                <a:latin typeface="Adobe Devanagari"/>
              </a:rPr>
              <a:t>IT22343352 | Ekanayake M Y R</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1115484" y="4326494"/>
            <a:ext cx="10363200" cy="784448"/>
          </a:xfrm>
        </p:spPr>
        <p:txBody>
          <a:bodyPr/>
          <a:lstStyle/>
          <a:p>
            <a:r>
              <a:rPr lang="en-US"/>
              <a:t>AI-powered Dynamic Meal Generator and Visual Ingredient Identifier</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IT22343352</a:t>
            </a:r>
            <a:r>
              <a:rPr lang="en-US" sz="1800">
                <a:solidFill>
                  <a:schemeClr val="tx1"/>
                </a:solidFill>
              </a:rPr>
              <a:t>   |   Ekanayake M.Y.R|   25-26J-386</a:t>
            </a:r>
            <a:endParaRPr lang="en-US" sz="1800" b="0">
              <a:solidFill>
                <a:schemeClr val="tx1"/>
              </a:solidFill>
            </a:endParaRPr>
          </a:p>
        </p:txBody>
      </p:sp>
      <p:pic>
        <p:nvPicPr>
          <p:cNvPr id="1026" name="Picture 2" descr="C:\Users\User\Downloads\WhatsApp Image 2025-09-05 at 09.54.36.jpe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373" b="4121"/>
          <a:stretch/>
        </p:blipFill>
        <p:spPr bwMode="auto">
          <a:xfrm>
            <a:off x="10134600" y="159328"/>
            <a:ext cx="1981200" cy="2266603"/>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5">
            <a:extLst>
              <a:ext uri="{FF2B5EF4-FFF2-40B4-BE49-F238E27FC236}">
                <a16:creationId xmlns:a16="http://schemas.microsoft.com/office/drawing/2014/main" id="{07A91C59-28F0-4A9C-ACA2-19A536A0C380}"/>
              </a:ext>
            </a:extLst>
          </p:cNvPr>
          <p:cNvSpPr txBox="1">
            <a:spLocks/>
          </p:cNvSpPr>
          <p:nvPr/>
        </p:nvSpPr>
        <p:spPr>
          <a:xfrm>
            <a:off x="1115484" y="5105400"/>
            <a:ext cx="10363200" cy="784448"/>
          </a:xfrm>
          <a:prstGeom prst="rect">
            <a:avLst/>
          </a:prstGeom>
        </p:spPr>
        <p:txBody>
          <a:bodyPr vert="horz" lIns="91440" tIns="45720" rIns="91440" bIns="45720" rtlCol="0" anchor="b">
            <a:normAutofit/>
          </a:bodyPr>
          <a:lstStyle>
            <a:lvl1pPr marL="0" indent="0" algn="l"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a:t>BSc (Hons) in Information Technology Specialization in Information Technology</a:t>
            </a:r>
          </a:p>
        </p:txBody>
      </p:sp>
    </p:spTree>
    <p:extLst>
      <p:ext uri="{BB962C8B-B14F-4D97-AF65-F5344CB8AC3E}">
        <p14:creationId xmlns:p14="http://schemas.microsoft.com/office/powerpoint/2010/main" val="98207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t>AI-powered Dynamic Meal Generator and Visual Ingredient Identifier</a:t>
            </a:r>
          </a:p>
        </p:txBody>
      </p:sp>
      <p:sp>
        <p:nvSpPr>
          <p:cNvPr id="3" name="Content Placeholder 2"/>
          <p:cNvSpPr>
            <a:spLocks noGrp="1"/>
          </p:cNvSpPr>
          <p:nvPr>
            <p:ph idx="1"/>
          </p:nvPr>
        </p:nvSpPr>
        <p:spPr/>
        <p:txBody>
          <a:bodyPr vert="horz" lIns="91440" tIns="45720" rIns="91440" bIns="45720" rtlCol="0" anchor="t">
            <a:normAutofit/>
          </a:bodyPr>
          <a:lstStyle/>
          <a:p>
            <a:r>
              <a:rPr lang="en-US" sz="2200" b="1"/>
              <a:t>Problem</a:t>
            </a:r>
          </a:p>
          <a:p>
            <a:pPr lvl="1"/>
            <a:r>
              <a:rPr lang="en-US" sz="2200"/>
              <a:t>The global rise in lifestyle diseases like obesity and diabetes.</a:t>
            </a:r>
            <a:endParaRPr lang="en-US" sz="2200">
              <a:ea typeface="Cambria"/>
            </a:endParaRPr>
          </a:p>
          <a:p>
            <a:pPr lvl="1"/>
            <a:r>
              <a:rPr lang="en-US" sz="2200"/>
              <a:t>Traditional meal tracking (like food diaries) is difficult, slow, and often inaccurate.</a:t>
            </a:r>
            <a:endParaRPr lang="en-US" sz="2200">
              <a:ea typeface="Cambria"/>
            </a:endParaRPr>
          </a:p>
          <a:p>
            <a:pPr lvl="1"/>
            <a:endParaRPr lang="en-US" sz="2200">
              <a:ea typeface="Cambria"/>
            </a:endParaRPr>
          </a:p>
          <a:p>
            <a:r>
              <a:rPr lang="en-US" sz="2200" b="1"/>
              <a:t>Solution</a:t>
            </a:r>
            <a:endParaRPr lang="en-US" sz="2200"/>
          </a:p>
          <a:p>
            <a:pPr lvl="1"/>
            <a:r>
              <a:rPr lang="en-US" sz="2200"/>
              <a:t>Build an AI based mobile App to analyze food data and provide personalized nutrition guidance.</a:t>
            </a:r>
            <a:endParaRPr lang="en-US" sz="2200">
              <a:ea typeface="Cambria"/>
            </a:endParaRPr>
          </a:p>
          <a:p>
            <a:endParaRPr lang="en-US" sz="2200"/>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IT22343352</a:t>
            </a:r>
            <a:r>
              <a:rPr lang="en-US" sz="1800">
                <a:solidFill>
                  <a:schemeClr val="tx1"/>
                </a:solidFill>
              </a:rPr>
              <a:t>   |   Ekanayake M.Y.R|   25-26J-386</a:t>
            </a:r>
            <a:endParaRPr lang="en-US" sz="1800" b="0">
              <a:solidFill>
                <a:schemeClr val="tx1"/>
              </a:solidFill>
            </a:endParaRPr>
          </a:p>
        </p:txBody>
      </p:sp>
      <p:grpSp>
        <p:nvGrpSpPr>
          <p:cNvPr id="5" name="Group 4">
            <a:extLst>
              <a:ext uri="{FF2B5EF4-FFF2-40B4-BE49-F238E27FC236}">
                <a16:creationId xmlns:a16="http://schemas.microsoft.com/office/drawing/2014/main" id="{32399B51-6695-57B3-3A95-32331022BCB2}"/>
              </a:ext>
            </a:extLst>
          </p:cNvPr>
          <p:cNvGrpSpPr/>
          <p:nvPr/>
        </p:nvGrpSpPr>
        <p:grpSpPr>
          <a:xfrm>
            <a:off x="966038" y="3729891"/>
            <a:ext cx="10358489" cy="2711343"/>
            <a:chOff x="1402397" y="1352712"/>
            <a:chExt cx="10358489" cy="2711343"/>
          </a:xfrm>
        </p:grpSpPr>
        <p:pic>
          <p:nvPicPr>
            <p:cNvPr id="6" name="Picture 5" descr="A meal plan with a meal planner and a pen&#10;&#10;AI-generated content may be incorrect.">
              <a:extLst>
                <a:ext uri="{FF2B5EF4-FFF2-40B4-BE49-F238E27FC236}">
                  <a16:creationId xmlns:a16="http://schemas.microsoft.com/office/drawing/2014/main" id="{01F14D88-396F-4227-5AF4-60C2BE07D8C0}"/>
                </a:ext>
              </a:extLst>
            </p:cNvPr>
            <p:cNvPicPr>
              <a:picLocks noChangeAspect="1"/>
            </p:cNvPicPr>
            <p:nvPr/>
          </p:nvPicPr>
          <p:blipFill>
            <a:blip r:embed="rId2"/>
            <a:stretch>
              <a:fillRect/>
            </a:stretch>
          </p:blipFill>
          <p:spPr>
            <a:xfrm>
              <a:off x="1402397" y="1558363"/>
              <a:ext cx="3763273" cy="2505692"/>
            </a:xfrm>
            <a:prstGeom prst="rect">
              <a:avLst/>
            </a:prstGeom>
          </p:spPr>
        </p:pic>
        <p:sp>
          <p:nvSpPr>
            <p:cNvPr id="7" name="Arrow: Right 6">
              <a:extLst>
                <a:ext uri="{FF2B5EF4-FFF2-40B4-BE49-F238E27FC236}">
                  <a16:creationId xmlns:a16="http://schemas.microsoft.com/office/drawing/2014/main" id="{C325B461-86F4-06FD-5263-64784B0FF4B0}"/>
                </a:ext>
              </a:extLst>
            </p:cNvPr>
            <p:cNvSpPr/>
            <p:nvPr/>
          </p:nvSpPr>
          <p:spPr>
            <a:xfrm>
              <a:off x="5603394" y="2447636"/>
              <a:ext cx="1370060" cy="600363"/>
            </a:xfrm>
            <a:prstGeom prst="rightArrow">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grpSp>
          <p:nvGrpSpPr>
            <p:cNvPr id="8" name="Group 7">
              <a:extLst>
                <a:ext uri="{FF2B5EF4-FFF2-40B4-BE49-F238E27FC236}">
                  <a16:creationId xmlns:a16="http://schemas.microsoft.com/office/drawing/2014/main" id="{718FE760-81BC-6A81-E430-CC5BC12F6105}"/>
                </a:ext>
              </a:extLst>
            </p:cNvPr>
            <p:cNvGrpSpPr/>
            <p:nvPr/>
          </p:nvGrpSpPr>
          <p:grpSpPr>
            <a:xfrm>
              <a:off x="7372179" y="1352712"/>
              <a:ext cx="1265194" cy="2586680"/>
              <a:chOff x="7372179" y="1352712"/>
              <a:chExt cx="990600" cy="2133600"/>
            </a:xfrm>
          </p:grpSpPr>
          <p:pic>
            <p:nvPicPr>
              <p:cNvPr id="12" name="Picture 11">
                <a:extLst>
                  <a:ext uri="{FF2B5EF4-FFF2-40B4-BE49-F238E27FC236}">
                    <a16:creationId xmlns:a16="http://schemas.microsoft.com/office/drawing/2014/main" id="{2A1DEE6A-69E1-BF57-8A43-FB3222D967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7477" y="1536848"/>
                <a:ext cx="965104" cy="1868952"/>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9">
                <a:extLst>
                  <a:ext uri="{FF2B5EF4-FFF2-40B4-BE49-F238E27FC236}">
                    <a16:creationId xmlns:a16="http://schemas.microsoft.com/office/drawing/2014/main" id="{6CA3469E-4CEF-A356-2C10-EE7CEAD22016}"/>
                  </a:ext>
                </a:extLst>
              </p:cNvPr>
              <p:cNvSpPr/>
              <p:nvPr/>
            </p:nvSpPr>
            <p:spPr>
              <a:xfrm>
                <a:off x="7372179" y="1352712"/>
                <a:ext cx="990600" cy="21336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grpSp>
        <p:sp>
          <p:nvSpPr>
            <p:cNvPr id="9" name="Cross 8">
              <a:extLst>
                <a:ext uri="{FF2B5EF4-FFF2-40B4-BE49-F238E27FC236}">
                  <a16:creationId xmlns:a16="http://schemas.microsoft.com/office/drawing/2014/main" id="{F473D877-4D78-5EFD-6D86-7CFC00F99EE0}"/>
                </a:ext>
              </a:extLst>
            </p:cNvPr>
            <p:cNvSpPr/>
            <p:nvPr/>
          </p:nvSpPr>
          <p:spPr>
            <a:xfrm>
              <a:off x="9157729" y="2395838"/>
              <a:ext cx="755135" cy="700216"/>
            </a:xfrm>
            <a:prstGeom prst="plus">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0" name="Picture 9">
              <a:extLst>
                <a:ext uri="{FF2B5EF4-FFF2-40B4-BE49-F238E27FC236}">
                  <a16:creationId xmlns:a16="http://schemas.microsoft.com/office/drawing/2014/main" id="{52BEE3D5-FF20-9049-A4EE-894624FA371E}"/>
                </a:ext>
              </a:extLst>
            </p:cNvPr>
            <p:cNvPicPr>
              <a:picLocks noChangeAspect="1"/>
            </p:cNvPicPr>
            <p:nvPr/>
          </p:nvPicPr>
          <p:blipFill>
            <a:blip r:embed="rId4"/>
            <a:stretch>
              <a:fillRect/>
            </a:stretch>
          </p:blipFill>
          <p:spPr>
            <a:xfrm>
              <a:off x="10247870" y="1484870"/>
              <a:ext cx="1513016" cy="1519880"/>
            </a:xfrm>
            <a:prstGeom prst="rect">
              <a:avLst/>
            </a:prstGeom>
          </p:spPr>
        </p:pic>
        <p:sp>
          <p:nvSpPr>
            <p:cNvPr id="11" name="TextBox 12">
              <a:extLst>
                <a:ext uri="{FF2B5EF4-FFF2-40B4-BE49-F238E27FC236}">
                  <a16:creationId xmlns:a16="http://schemas.microsoft.com/office/drawing/2014/main" id="{3F9074E8-E9F3-7078-EF54-9E6A89F0F032}"/>
                </a:ext>
              </a:extLst>
            </p:cNvPr>
            <p:cNvSpPr txBox="1"/>
            <p:nvPr/>
          </p:nvSpPr>
          <p:spPr>
            <a:xfrm>
              <a:off x="10353800" y="3090774"/>
              <a:ext cx="1405712"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2800"/>
                <a:t>AI</a:t>
              </a:r>
              <a:endParaRPr lang="en-US" sz="2800"/>
            </a:p>
          </p:txBody>
        </p:sp>
      </p:grpSp>
    </p:spTree>
    <p:extLst>
      <p:ext uri="{BB962C8B-B14F-4D97-AF65-F5344CB8AC3E}">
        <p14:creationId xmlns:p14="http://schemas.microsoft.com/office/powerpoint/2010/main" val="152311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E5BC02D-DD89-BA2B-F0AE-67FAEF8CBCF7}"/>
              </a:ext>
            </a:extLst>
          </p:cNvPr>
          <p:cNvGraphicFramePr>
            <a:graphicFrameLocks noGrp="1"/>
          </p:cNvGraphicFramePr>
          <p:nvPr>
            <p:extLst>
              <p:ext uri="{D42A27DB-BD31-4B8C-83A1-F6EECF244321}">
                <p14:modId xmlns:p14="http://schemas.microsoft.com/office/powerpoint/2010/main" val="2436977892"/>
              </p:ext>
            </p:extLst>
          </p:nvPr>
        </p:nvGraphicFramePr>
        <p:xfrm>
          <a:off x="1282244" y="3428790"/>
          <a:ext cx="9888033" cy="2291080"/>
        </p:xfrm>
        <a:graphic>
          <a:graphicData uri="http://schemas.openxmlformats.org/drawingml/2006/table">
            <a:tbl>
              <a:tblPr firstRow="1" bandRow="1">
                <a:tableStyleId>{2D5ABB26-0587-4C30-8999-92F81FD0307C}</a:tableStyleId>
              </a:tblPr>
              <a:tblGrid>
                <a:gridCol w="3296011">
                  <a:extLst>
                    <a:ext uri="{9D8B030D-6E8A-4147-A177-3AD203B41FA5}">
                      <a16:colId xmlns:a16="http://schemas.microsoft.com/office/drawing/2014/main" val="2581800122"/>
                    </a:ext>
                  </a:extLst>
                </a:gridCol>
                <a:gridCol w="3296011">
                  <a:extLst>
                    <a:ext uri="{9D8B030D-6E8A-4147-A177-3AD203B41FA5}">
                      <a16:colId xmlns:a16="http://schemas.microsoft.com/office/drawing/2014/main" val="1832228072"/>
                    </a:ext>
                  </a:extLst>
                </a:gridCol>
                <a:gridCol w="3296011">
                  <a:extLst>
                    <a:ext uri="{9D8B030D-6E8A-4147-A177-3AD203B41FA5}">
                      <a16:colId xmlns:a16="http://schemas.microsoft.com/office/drawing/2014/main" val="1353906457"/>
                    </a:ext>
                  </a:extLst>
                </a:gridCol>
              </a:tblGrid>
              <a:tr h="370840">
                <a:tc>
                  <a:txBody>
                    <a:bodyPr/>
                    <a:lstStyle/>
                    <a:p>
                      <a:r>
                        <a:rPr lang="en-GB"/>
                        <a:t>Research Gap</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r>
                        <a:rPr lang="en-GB"/>
                        <a:t>Existing App behaviour</a:t>
                      </a:r>
                      <a:endParaRPr lang="en-GB" err="1"/>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r>
                        <a:rPr lang="en-GB"/>
                        <a:t>Proposed Solution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extLst>
                  <a:ext uri="{0D108BD9-81ED-4DB2-BD59-A6C34878D82A}">
                    <a16:rowId xmlns:a16="http://schemas.microsoft.com/office/drawing/2014/main" val="2038080406"/>
                  </a:ext>
                </a:extLst>
              </a:tr>
              <a:tr h="370702">
                <a:tc>
                  <a:txBody>
                    <a:bodyPr/>
                    <a:lstStyle/>
                    <a:p>
                      <a:pPr lvl="0">
                        <a:buNone/>
                      </a:pPr>
                      <a:r>
                        <a:rPr lang="en-GB" sz="1800" b="0" i="0" u="none" strike="noStrike" noProof="0">
                          <a:latin typeface="Aptos"/>
                        </a:rPr>
                        <a:t>Data Quality</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GB" sz="1800" b="1" i="0" u="none" strike="noStrike" noProof="0">
                          <a:latin typeface="Aptos"/>
                        </a:rPr>
                        <a:t>MyFitnessPal </a:t>
                      </a:r>
                      <a:r>
                        <a:rPr lang="en-GB" sz="1800" b="0" i="0" u="none" strike="noStrike" noProof="0">
                          <a:latin typeface="Aptos"/>
                        </a:rPr>
                        <a:t>uses manual data entry or barcode scanning</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GB"/>
                        <a:t>Input food images by uploads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60506833"/>
                  </a:ext>
                </a:extLst>
              </a:tr>
              <a:tr h="370839">
                <a:tc>
                  <a:txBody>
                    <a:bodyPr/>
                    <a:lstStyle/>
                    <a:p>
                      <a:r>
                        <a:rPr lang="en-GB"/>
                        <a:t>Food Analysis</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GB" sz="1800" b="1" i="0" u="none" strike="noStrike" noProof="0">
                          <a:latin typeface="Aptos"/>
                        </a:rPr>
                        <a:t>Cal Pal </a:t>
                      </a:r>
                      <a:r>
                        <a:rPr lang="en-GB" sz="1800" b="0" i="0" u="none" strike="noStrike" noProof="0">
                          <a:latin typeface="Aptos"/>
                        </a:rPr>
                        <a:t>only predicts calories</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Predicts calories , nutrients and ingredients</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895663"/>
                  </a:ext>
                </a:extLst>
              </a:tr>
              <a:tr h="370838">
                <a:tc>
                  <a:txBody>
                    <a:bodyPr/>
                    <a:lstStyle/>
                    <a:p>
                      <a:pPr lvl="0">
                        <a:buNone/>
                      </a:pPr>
                      <a:r>
                        <a:rPr lang="en-GB" sz="1800" b="0" i="0" u="none" strike="noStrike" noProof="0">
                          <a:latin typeface="Aptos"/>
                        </a:rPr>
                        <a:t>Personalization &amp; Unhealthy Warnings</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GB" b="1"/>
                        <a:t>Yazio </a:t>
                      </a:r>
                      <a:r>
                        <a:rPr lang="en-GB" b="0"/>
                        <a:t>has </a:t>
                      </a:r>
                      <a:r>
                        <a:rPr lang="en-GB"/>
                        <a:t>no alternative food suggestions or warnings</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GB"/>
                        <a:t>Suggest alternative foods &amp; warnings based on user profile</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10436509"/>
                  </a:ext>
                </a:extLst>
              </a:tr>
            </a:tbl>
          </a:graphicData>
        </a:graphic>
      </p:graphicFrame>
      <p:sp>
        <p:nvSpPr>
          <p:cNvPr id="3" name="Title 1">
            <a:extLst>
              <a:ext uri="{FF2B5EF4-FFF2-40B4-BE49-F238E27FC236}">
                <a16:creationId xmlns:a16="http://schemas.microsoft.com/office/drawing/2014/main" id="{831D57BF-E51B-19A5-E521-72497F78AB99}"/>
              </a:ext>
            </a:extLst>
          </p:cNvPr>
          <p:cNvSpPr txBox="1">
            <a:spLocks/>
          </p:cNvSpPr>
          <p:nvPr/>
        </p:nvSpPr>
        <p:spPr>
          <a:xfrm>
            <a:off x="304800" y="304800"/>
            <a:ext cx="11684000" cy="792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sz="2400"/>
              <a:t>AI-powered Dynamic Meal Generator and Visual Ingredient Identifier</a:t>
            </a:r>
          </a:p>
        </p:txBody>
      </p:sp>
      <p:sp>
        <p:nvSpPr>
          <p:cNvPr id="4" name="TextBox 3">
            <a:extLst>
              <a:ext uri="{FF2B5EF4-FFF2-40B4-BE49-F238E27FC236}">
                <a16:creationId xmlns:a16="http://schemas.microsoft.com/office/drawing/2014/main" id="{D4D12454-AE28-91EF-9ACF-85B530F12609}"/>
              </a:ext>
            </a:extLst>
          </p:cNvPr>
          <p:cNvSpPr txBox="1"/>
          <p:nvPr/>
        </p:nvSpPr>
        <p:spPr>
          <a:xfrm>
            <a:off x="319658" y="1715814"/>
            <a:ext cx="11173426" cy="1118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lvl="2" indent="-228600">
              <a:lnSpc>
                <a:spcPts val="1950"/>
              </a:lnSpc>
              <a:buFont typeface="Wingdings"/>
              <a:buChar char="Ø"/>
            </a:pPr>
            <a:r>
              <a:rPr lang="en-US" sz="2200">
                <a:cs typeface="Arial"/>
              </a:rPr>
              <a:t>Current apps either analyze food or give meal plans, but they don't do both in a smart, integrated way. ​</a:t>
            </a:r>
            <a:endParaRPr lang="en-US" sz="2200">
              <a:ea typeface="Cambria"/>
              <a:cs typeface="Arial"/>
            </a:endParaRPr>
          </a:p>
          <a:p>
            <a:pPr marL="685800" lvl="2" indent="-228600">
              <a:lnSpc>
                <a:spcPts val="1950"/>
              </a:lnSpc>
              <a:buFont typeface="Wingdings"/>
              <a:buChar char="Ø"/>
            </a:pPr>
            <a:endParaRPr lang="en-US" sz="2200">
              <a:cs typeface="Arial"/>
            </a:endParaRPr>
          </a:p>
          <a:p>
            <a:pPr marL="685800" lvl="2" indent="-228600">
              <a:lnSpc>
                <a:spcPts val="1950"/>
              </a:lnSpc>
              <a:buFont typeface="Wingdings"/>
              <a:buChar char="Ø"/>
            </a:pPr>
            <a:r>
              <a:rPr lang="en-US" sz="2200">
                <a:cs typeface="Arial"/>
              </a:rPr>
              <a:t>Existing solutions don't provide warnings about unhealthy foods with reasoning.</a:t>
            </a:r>
            <a:endParaRPr lang="en-US" sz="2200">
              <a:ea typeface="Cambria"/>
              <a:cs typeface="Arial"/>
            </a:endParaRPr>
          </a:p>
        </p:txBody>
      </p:sp>
      <p:sp>
        <p:nvSpPr>
          <p:cNvPr id="6" name="TextBox 5">
            <a:extLst>
              <a:ext uri="{FF2B5EF4-FFF2-40B4-BE49-F238E27FC236}">
                <a16:creationId xmlns:a16="http://schemas.microsoft.com/office/drawing/2014/main" id="{D805A924-D09A-C151-BD8B-6A1098C163B3}"/>
              </a:ext>
            </a:extLst>
          </p:cNvPr>
          <p:cNvSpPr txBox="1"/>
          <p:nvPr/>
        </p:nvSpPr>
        <p:spPr>
          <a:xfrm>
            <a:off x="319656" y="1262667"/>
            <a:ext cx="2743200" cy="348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1950"/>
              </a:lnSpc>
              <a:buFont typeface=""/>
              <a:buChar char="•"/>
            </a:pPr>
            <a:r>
              <a:rPr lang="en-US" sz="2200" b="1">
                <a:cs typeface="Arial"/>
              </a:rPr>
              <a:t>Research Gaps</a:t>
            </a:r>
            <a:endParaRPr lang="en-US" sz="2200">
              <a:ea typeface="Cambria"/>
              <a:cs typeface="Arial"/>
            </a:endParaRPr>
          </a:p>
        </p:txBody>
      </p:sp>
    </p:spTree>
    <p:extLst>
      <p:ext uri="{BB962C8B-B14F-4D97-AF65-F5344CB8AC3E}">
        <p14:creationId xmlns:p14="http://schemas.microsoft.com/office/powerpoint/2010/main" val="109857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t>AI-powered Dynamic Meal Generator and Visual Ingredient Identifier</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IT22343352</a:t>
            </a:r>
            <a:r>
              <a:rPr lang="en-US" sz="1800">
                <a:solidFill>
                  <a:schemeClr val="tx1"/>
                </a:solidFill>
              </a:rPr>
              <a:t>   |   Ekanayake M.Y.R|   25-26J-386</a:t>
            </a:r>
            <a:endParaRPr lang="en-US" sz="1800" b="0">
              <a:solidFill>
                <a:schemeClr val="tx1"/>
              </a:solidFill>
            </a:endParaRPr>
          </a:p>
        </p:txBody>
      </p:sp>
      <p:sp>
        <p:nvSpPr>
          <p:cNvPr id="6" name="Content Placeholder 2"/>
          <p:cNvSpPr>
            <a:spLocks noGrp="1"/>
          </p:cNvSpPr>
          <p:nvPr>
            <p:ph idx="1"/>
          </p:nvPr>
        </p:nvSpPr>
        <p:spPr>
          <a:xfrm>
            <a:off x="304800" y="1143000"/>
            <a:ext cx="11684000" cy="5181600"/>
          </a:xfrm>
        </p:spPr>
        <p:txBody>
          <a:bodyPr vert="horz" lIns="91440" tIns="45720" rIns="91440" bIns="45720" rtlCol="0" anchor="t">
            <a:normAutofit/>
          </a:bodyPr>
          <a:lstStyle/>
          <a:p>
            <a:r>
              <a:rPr lang="en-US" sz="2200" b="1"/>
              <a:t>Key Domains</a:t>
            </a:r>
          </a:p>
          <a:p>
            <a:pPr lvl="1"/>
            <a:r>
              <a:rPr lang="en-US" sz="2200"/>
              <a:t>Image Processing &amp; Computer Vision</a:t>
            </a:r>
            <a:endParaRPr lang="en-US" sz="2200">
              <a:ea typeface="Cambria"/>
            </a:endParaRPr>
          </a:p>
          <a:p>
            <a:pPr lvl="1"/>
            <a:r>
              <a:rPr lang="en-US" sz="2200"/>
              <a:t>Machine Learning</a:t>
            </a:r>
            <a:endParaRPr lang="en-US"/>
          </a:p>
          <a:p>
            <a:pPr lvl="1"/>
            <a:r>
              <a:rPr lang="en-US" sz="2200"/>
              <a:t>Mobile &amp; Backend Development</a:t>
            </a:r>
            <a:endParaRPr lang="en-US">
              <a:ea typeface="Cambria"/>
            </a:endParaRPr>
          </a:p>
          <a:p>
            <a:pPr marL="457200" lvl="1" indent="0">
              <a:buNone/>
            </a:pPr>
            <a:endParaRPr lang="en-US" sz="2200">
              <a:ea typeface="Cambria"/>
            </a:endParaRPr>
          </a:p>
          <a:p>
            <a:r>
              <a:rPr lang="en-US" sz="2200" b="1"/>
              <a:t>Latest Technologies</a:t>
            </a:r>
            <a:endParaRPr lang="en-US" sz="2200" b="1">
              <a:ea typeface="Cambria"/>
            </a:endParaRPr>
          </a:p>
          <a:p>
            <a:pPr lvl="1"/>
            <a:r>
              <a:rPr lang="en-US" sz="2200" b="1"/>
              <a:t>Image Processing</a:t>
            </a:r>
            <a:endParaRPr lang="en-US" sz="2200"/>
          </a:p>
          <a:p>
            <a:pPr lvl="1"/>
            <a:r>
              <a:rPr lang="en-US" sz="2200" b="1"/>
              <a:t>Convolutional Neural Network (CNN)</a:t>
            </a:r>
            <a:endParaRPr lang="en-US" sz="2200" b="1">
              <a:ea typeface="Cambria"/>
            </a:endParaRPr>
          </a:p>
          <a:p>
            <a:pPr lvl="1"/>
            <a:r>
              <a:rPr lang="en-US" sz="2200"/>
              <a:t>Machine Learning algorithms like </a:t>
            </a:r>
            <a:r>
              <a:rPr lang="en-US" sz="2200" b="1" err="1"/>
              <a:t>XGBoost</a:t>
            </a:r>
            <a:r>
              <a:rPr lang="en-US" sz="2200"/>
              <a:t> or </a:t>
            </a:r>
            <a:r>
              <a:rPr lang="en-US" sz="2200" b="1" err="1"/>
              <a:t>LightGBM</a:t>
            </a:r>
            <a:endParaRPr lang="en-US" sz="2200" err="1">
              <a:ea typeface="Cambria"/>
            </a:endParaRPr>
          </a:p>
        </p:txBody>
      </p:sp>
    </p:spTree>
    <p:extLst>
      <p:ext uri="{BB962C8B-B14F-4D97-AF65-F5344CB8AC3E}">
        <p14:creationId xmlns:p14="http://schemas.microsoft.com/office/powerpoint/2010/main" val="4164635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t>AI-powered Dynamic Meal Generator and Visual Ingredient Identifier</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IT22343352</a:t>
            </a:r>
            <a:r>
              <a:rPr lang="en-US" sz="1800">
                <a:solidFill>
                  <a:schemeClr val="tx1"/>
                </a:solidFill>
              </a:rPr>
              <a:t>   |   Ekanayake M.Y.R|   25-26J-386</a:t>
            </a:r>
            <a:endParaRPr lang="en-US" sz="1800" b="0">
              <a:solidFill>
                <a:schemeClr val="tx1"/>
              </a:solidFill>
            </a:endParaRPr>
          </a:p>
        </p:txBody>
      </p:sp>
      <p:sp>
        <p:nvSpPr>
          <p:cNvPr id="5" name="Content Placeholder 2"/>
          <p:cNvSpPr>
            <a:spLocks noGrp="1"/>
          </p:cNvSpPr>
          <p:nvPr>
            <p:ph idx="1"/>
          </p:nvPr>
        </p:nvSpPr>
        <p:spPr>
          <a:xfrm>
            <a:off x="304800" y="1143000"/>
            <a:ext cx="11684000" cy="5181600"/>
          </a:xfrm>
        </p:spPr>
        <p:txBody>
          <a:bodyPr vert="horz" lIns="91440" tIns="45720" rIns="91440" bIns="45720" rtlCol="0" anchor="t">
            <a:normAutofit/>
          </a:bodyPr>
          <a:lstStyle/>
          <a:p>
            <a:r>
              <a:rPr lang="en-US" sz="2000" b="1"/>
              <a:t>Main Objective</a:t>
            </a:r>
            <a:endParaRPr lang="en-US" sz="2000" b="1">
              <a:ea typeface="Cambria"/>
            </a:endParaRPr>
          </a:p>
          <a:p>
            <a:pPr lvl="1"/>
            <a:r>
              <a:rPr lang="en-US" sz="2000">
                <a:ea typeface="Cambria"/>
              </a:rPr>
              <a:t>To implement an AI powered App for personalized meal management</a:t>
            </a:r>
          </a:p>
          <a:p>
            <a:pPr marL="457200" lvl="1" indent="0">
              <a:buNone/>
            </a:pPr>
            <a:endParaRPr lang="en-US" sz="2000">
              <a:ea typeface="Cambria"/>
            </a:endParaRPr>
          </a:p>
          <a:p>
            <a:r>
              <a:rPr lang="en-US" sz="2000" b="1">
                <a:ea typeface="Cambria"/>
              </a:rPr>
              <a:t>Sub Objectives</a:t>
            </a:r>
          </a:p>
          <a:p>
            <a:pPr marL="457200" lvl="1" indent="0">
              <a:buNone/>
            </a:pPr>
            <a:endParaRPr lang="en-US" sz="1800">
              <a:ea typeface="Cambria"/>
            </a:endParaRPr>
          </a:p>
          <a:p>
            <a:pPr lvl="1"/>
            <a:endParaRPr lang="en-US" sz="2200">
              <a:ea typeface="Cambria"/>
            </a:endParaRPr>
          </a:p>
          <a:p>
            <a:pPr lvl="1"/>
            <a:endParaRPr lang="en-US" sz="2200"/>
          </a:p>
          <a:p>
            <a:endParaRPr lang="en-US" sz="2200" b="1"/>
          </a:p>
          <a:p>
            <a:r>
              <a:rPr lang="en-US" sz="2200" b="1"/>
              <a:t>Data &amp; Ethics</a:t>
            </a:r>
            <a:endParaRPr lang="en-US" sz="2200" b="1">
              <a:ea typeface="Cambria"/>
            </a:endParaRPr>
          </a:p>
          <a:p>
            <a:pPr lvl="1"/>
            <a:r>
              <a:rPr lang="en-US" sz="2000" b="1"/>
              <a:t>Data collection</a:t>
            </a:r>
            <a:r>
              <a:rPr lang="en-US" sz="2000"/>
              <a:t> – we use publicly available datasets to train our models</a:t>
            </a:r>
            <a:endParaRPr lang="en-US" sz="2000">
              <a:ea typeface="Cambria"/>
            </a:endParaRPr>
          </a:p>
          <a:p>
            <a:pPr lvl="1"/>
            <a:r>
              <a:rPr lang="en-US" sz="2000" b="1"/>
              <a:t>Data Privacy </a:t>
            </a:r>
            <a:r>
              <a:rPr lang="en-US" sz="2000"/>
              <a:t>– use strong security to protect all sensitive user data</a:t>
            </a:r>
            <a:endParaRPr lang="en-US" sz="2000">
              <a:ea typeface="Cambria"/>
            </a:endParaRPr>
          </a:p>
          <a:p>
            <a:pPr lvl="1"/>
            <a:r>
              <a:rPr lang="en-US" sz="2000" b="1"/>
              <a:t>Transparency</a:t>
            </a:r>
            <a:r>
              <a:rPr lang="en-US" sz="2000"/>
              <a:t> – app will be designed to explain why it gives certain recommendations. It helps build user trust. </a:t>
            </a:r>
            <a:endParaRPr lang="en-US" sz="2000">
              <a:ea typeface="Cambria"/>
            </a:endParaRPr>
          </a:p>
        </p:txBody>
      </p:sp>
      <p:graphicFrame>
        <p:nvGraphicFramePr>
          <p:cNvPr id="7" name="Table 6">
            <a:extLst>
              <a:ext uri="{FF2B5EF4-FFF2-40B4-BE49-F238E27FC236}">
                <a16:creationId xmlns:a16="http://schemas.microsoft.com/office/drawing/2014/main" id="{A44B8457-156A-07C1-359C-7C86018CD586}"/>
              </a:ext>
            </a:extLst>
          </p:cNvPr>
          <p:cNvGraphicFramePr>
            <a:graphicFrameLocks noGrp="1"/>
          </p:cNvGraphicFramePr>
          <p:nvPr>
            <p:extLst>
              <p:ext uri="{D42A27DB-BD31-4B8C-83A1-F6EECF244321}">
                <p14:modId xmlns:p14="http://schemas.microsoft.com/office/powerpoint/2010/main" val="2855502801"/>
              </p:ext>
            </p:extLst>
          </p:nvPr>
        </p:nvGraphicFramePr>
        <p:xfrm>
          <a:off x="755900" y="2700805"/>
          <a:ext cx="10068206" cy="1151928"/>
        </p:xfrm>
        <a:graphic>
          <a:graphicData uri="http://schemas.openxmlformats.org/drawingml/2006/table">
            <a:tbl>
              <a:tblPr bandRow="1">
                <a:tableStyleId>{5C22544A-7EE6-4342-B048-85BDC9FD1C3A}</a:tableStyleId>
              </a:tblPr>
              <a:tblGrid>
                <a:gridCol w="5034103">
                  <a:extLst>
                    <a:ext uri="{9D8B030D-6E8A-4147-A177-3AD203B41FA5}">
                      <a16:colId xmlns:a16="http://schemas.microsoft.com/office/drawing/2014/main" val="3918265180"/>
                    </a:ext>
                  </a:extLst>
                </a:gridCol>
                <a:gridCol w="5034103">
                  <a:extLst>
                    <a:ext uri="{9D8B030D-6E8A-4147-A177-3AD203B41FA5}">
                      <a16:colId xmlns:a16="http://schemas.microsoft.com/office/drawing/2014/main" val="2551214557"/>
                    </a:ext>
                  </a:extLst>
                </a:gridCol>
              </a:tblGrid>
              <a:tr h="384848">
                <a:tc>
                  <a:txBody>
                    <a:bodyPr/>
                    <a:lstStyle/>
                    <a:p>
                      <a:pPr marL="342900" lvl="0" indent="-342900" algn="l" fontAlgn="base">
                        <a:lnSpc>
                          <a:spcPts val="2175"/>
                        </a:lnSpc>
                        <a:buFont typeface="Wingdings"/>
                        <a:buChar char="Ø"/>
                      </a:pPr>
                      <a:r>
                        <a:rPr lang="en-GB" sz="2000" b="0" i="0" u="none" strike="noStrike">
                          <a:solidFill>
                            <a:srgbClr val="000000"/>
                          </a:solidFill>
                          <a:effectLst/>
                          <a:latin typeface="Cambria"/>
                        </a:rPr>
                        <a:t> Data Collection and Management</a:t>
                      </a:r>
                      <a:endParaRPr lang="en-GB" sz="2000" b="0" i="0">
                        <a:solidFill>
                          <a:srgbClr val="000000"/>
                        </a:solidFill>
                        <a:effectLst/>
                        <a:latin typeface="Cambria"/>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342900" indent="-342900" algn="l" fontAlgn="base">
                        <a:lnSpc>
                          <a:spcPts val="2175"/>
                        </a:lnSpc>
                        <a:buFont typeface="Wingdings"/>
                        <a:buChar char="Ø"/>
                      </a:pPr>
                      <a:r>
                        <a:rPr lang="en-GB" sz="2000" b="0" i="0" u="none" strike="noStrike">
                          <a:solidFill>
                            <a:srgbClr val="000000"/>
                          </a:solidFill>
                          <a:effectLst/>
                          <a:latin typeface="Cambria"/>
                        </a:rPr>
                        <a:t>Visual Analysis System</a:t>
                      </a:r>
                      <a:endParaRPr lang="en-GB" sz="2000" b="0" i="0">
                        <a:solidFill>
                          <a:srgbClr val="000000"/>
                        </a:solidFill>
                        <a:effectLst/>
                        <a:latin typeface="Cambria"/>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171045715"/>
                  </a:ext>
                </a:extLst>
              </a:tr>
              <a:tr h="361950">
                <a:tc>
                  <a:txBody>
                    <a:bodyPr/>
                    <a:lstStyle/>
                    <a:p>
                      <a:pPr marL="342900" indent="-342900" algn="l" fontAlgn="base">
                        <a:lnSpc>
                          <a:spcPts val="2175"/>
                        </a:lnSpc>
                        <a:buFont typeface="Wingdings"/>
                        <a:buChar char="Ø"/>
                      </a:pPr>
                      <a:r>
                        <a:rPr lang="en-GB" sz="2000" b="0" i="0" u="none" strike="noStrike">
                          <a:solidFill>
                            <a:srgbClr val="000000"/>
                          </a:solidFill>
                          <a:effectLst/>
                          <a:latin typeface="Cambria"/>
                        </a:rPr>
                        <a:t> Personalization Engine</a:t>
                      </a:r>
                      <a:endParaRPr lang="en-GB" sz="2000" b="0" i="0">
                        <a:solidFill>
                          <a:srgbClr val="000000"/>
                        </a:solidFill>
                        <a:effectLst/>
                        <a:latin typeface="Cambria"/>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342900" indent="-342900" algn="l" fontAlgn="base">
                        <a:lnSpc>
                          <a:spcPts val="2175"/>
                        </a:lnSpc>
                        <a:buFont typeface="Wingdings"/>
                        <a:buChar char="Ø"/>
                      </a:pPr>
                      <a:r>
                        <a:rPr lang="en-GB" sz="2000" b="0" i="0" u="none" strike="noStrike">
                          <a:solidFill>
                            <a:srgbClr val="000000"/>
                          </a:solidFill>
                          <a:effectLst/>
                          <a:latin typeface="Cambria"/>
                        </a:rPr>
                        <a:t>System Validation and Optimization</a:t>
                      </a:r>
                      <a:endParaRPr lang="en-GB" sz="2000" b="0" i="0">
                        <a:solidFill>
                          <a:srgbClr val="000000"/>
                        </a:solidFill>
                        <a:effectLst/>
                        <a:latin typeface="Cambria"/>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86837224"/>
                  </a:ext>
                </a:extLst>
              </a:tr>
              <a:tr h="361950">
                <a:tc>
                  <a:txBody>
                    <a:bodyPr/>
                    <a:lstStyle/>
                    <a:p>
                      <a:pPr marL="342900" indent="-342900" algn="l" fontAlgn="base">
                        <a:lnSpc>
                          <a:spcPts val="2175"/>
                        </a:lnSpc>
                        <a:buFont typeface="Wingdings"/>
                        <a:buChar char="Ø"/>
                      </a:pPr>
                      <a:r>
                        <a:rPr lang="en-GB" sz="2000" b="0" i="0">
                          <a:solidFill>
                            <a:srgbClr val="000000"/>
                          </a:solidFill>
                          <a:effectLst/>
                          <a:latin typeface="Cambria"/>
                        </a:rPr>
                        <a:t> </a:t>
                      </a:r>
                      <a:r>
                        <a:rPr lang="en-GB" sz="2000" b="0" i="0" u="none" strike="noStrike">
                          <a:solidFill>
                            <a:srgbClr val="000000"/>
                          </a:solidFill>
                          <a:effectLst/>
                          <a:latin typeface="Cambria"/>
                        </a:rPr>
                        <a:t>User Interface Design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t">
                        <a:buNone/>
                      </a:pPr>
                      <a:endParaRPr lang="en-GB" sz="2000">
                        <a:effectLst/>
                        <a:latin typeface="Cambria"/>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73315970"/>
                  </a:ext>
                </a:extLst>
              </a:tr>
            </a:tbl>
          </a:graphicData>
        </a:graphic>
      </p:graphicFrame>
    </p:spTree>
    <p:extLst>
      <p:ext uri="{BB962C8B-B14F-4D97-AF65-F5344CB8AC3E}">
        <p14:creationId xmlns:p14="http://schemas.microsoft.com/office/powerpoint/2010/main" val="4164635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t>AI-powered Dynamic Meal Generator and Visual Ingredient Identifier</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IT22343352</a:t>
            </a:r>
            <a:r>
              <a:rPr lang="en-US" sz="1800">
                <a:solidFill>
                  <a:schemeClr val="tx1"/>
                </a:solidFill>
              </a:rPr>
              <a:t>   |   Ekanayake M.Y.R|   25-26J-386</a:t>
            </a:r>
            <a:endParaRPr lang="en-US" sz="1800" b="0">
              <a:solidFill>
                <a:schemeClr val="tx1"/>
              </a:solidFill>
            </a:endParaRPr>
          </a:p>
        </p:txBody>
      </p:sp>
      <p:sp>
        <p:nvSpPr>
          <p:cNvPr id="5" name="Content Placeholder 2"/>
          <p:cNvSpPr>
            <a:spLocks noGrp="1"/>
          </p:cNvSpPr>
          <p:nvPr>
            <p:ph idx="1"/>
          </p:nvPr>
        </p:nvSpPr>
        <p:spPr>
          <a:xfrm>
            <a:off x="304800" y="1143000"/>
            <a:ext cx="11684000" cy="5181600"/>
          </a:xfrm>
        </p:spPr>
        <p:txBody>
          <a:bodyPr vert="horz" lIns="91440" tIns="45720" rIns="91440" bIns="45720" rtlCol="0" anchor="t">
            <a:normAutofit lnSpcReduction="10000"/>
          </a:bodyPr>
          <a:lstStyle/>
          <a:p>
            <a:r>
              <a:rPr lang="en-US" sz="2200" b="1"/>
              <a:t>System Overview</a:t>
            </a:r>
          </a:p>
          <a:p>
            <a:pPr marL="457200" lvl="1" indent="0">
              <a:buNone/>
            </a:pPr>
            <a:endParaRPr lang="en-US" sz="2200"/>
          </a:p>
          <a:p>
            <a:pPr marL="457200" lvl="1" indent="0">
              <a:buNone/>
            </a:pPr>
            <a:endParaRPr lang="en-US" sz="2200"/>
          </a:p>
          <a:p>
            <a:pPr marL="457200" lvl="1" indent="0">
              <a:buNone/>
            </a:pPr>
            <a:endParaRPr lang="en-US" sz="2200"/>
          </a:p>
          <a:p>
            <a:pPr marL="457200" lvl="1" indent="0">
              <a:buNone/>
            </a:pPr>
            <a:endParaRPr lang="en-US" sz="2200"/>
          </a:p>
          <a:p>
            <a:pPr marL="457200" lvl="1" indent="0">
              <a:buNone/>
            </a:pPr>
            <a:endParaRPr lang="en-US" sz="2200"/>
          </a:p>
          <a:p>
            <a:pPr marL="457200" lvl="1" indent="0">
              <a:buNone/>
            </a:pPr>
            <a:endParaRPr lang="en-US" sz="2200"/>
          </a:p>
          <a:p>
            <a:pPr lvl="1"/>
            <a:endParaRPr lang="en-US" sz="2200"/>
          </a:p>
          <a:p>
            <a:r>
              <a:rPr lang="en-US" sz="2200" b="1"/>
              <a:t>A Real-world Example</a:t>
            </a:r>
          </a:p>
          <a:p>
            <a:pPr lvl="1"/>
            <a:endParaRPr lang="en-US" sz="2200"/>
          </a:p>
          <a:p>
            <a:pPr lvl="1"/>
            <a:r>
              <a:rPr lang="en-US" sz="2200"/>
              <a:t>User takes a picture of the meal and upload to the app</a:t>
            </a:r>
          </a:p>
          <a:p>
            <a:pPr lvl="1"/>
            <a:r>
              <a:rPr lang="en-US" sz="2200"/>
              <a:t>App recognizes the nutrients, ingredients off the app and predicts calories</a:t>
            </a:r>
          </a:p>
          <a:p>
            <a:pPr lvl="1"/>
            <a:r>
              <a:rPr lang="en-US" sz="2200"/>
              <a:t>It will provide alternative personalized food suggestions if meal is unhealthy</a:t>
            </a:r>
          </a:p>
          <a:p>
            <a:endParaRPr lang="en-US" sz="2200"/>
          </a:p>
        </p:txBody>
      </p:sp>
      <p:pic>
        <p:nvPicPr>
          <p:cNvPr id="3076" name="Picture 4" descr="C:\Users\User\Pictures\Screenshots\Screenshot (76).png"/>
          <p:cNvPicPr>
            <a:picLocks noChangeAspect="1" noChangeArrowheads="1"/>
          </p:cNvPicPr>
          <p:nvPr/>
        </p:nvPicPr>
        <p:blipFill>
          <a:blip r:embed="rId2">
            <a:extLst>
              <a:ext uri="{28A0092B-C50C-407E-A947-70E740481C1C}">
                <a14:useLocalDpi xmlns:a14="http://schemas.microsoft.com/office/drawing/2010/main" val="0"/>
              </a:ext>
            </a:extLst>
          </a:blip>
          <a:srcRect r="593" b="3226"/>
          <a:stretch>
            <a:fillRect/>
          </a:stretch>
        </p:blipFill>
        <p:spPr bwMode="auto">
          <a:xfrm>
            <a:off x="3581400" y="937062"/>
            <a:ext cx="7710175" cy="354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483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09">
            <a:extLst>
              <a:ext uri="{FF2B5EF4-FFF2-40B4-BE49-F238E27FC236}">
                <a16:creationId xmlns:a16="http://schemas.microsoft.com/office/drawing/2014/main" id="{04BE471B-2493-09D1-44E7-EA31DAAA1E8C}"/>
              </a:ext>
            </a:extLst>
          </p:cNvPr>
          <p:cNvSpPr txBox="1"/>
          <p:nvPr/>
        </p:nvSpPr>
        <p:spPr>
          <a:xfrm>
            <a:off x="11126667" y="8666854"/>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a:t>
            </a:r>
          </a:p>
        </p:txBody>
      </p:sp>
      <p:grpSp>
        <p:nvGrpSpPr>
          <p:cNvPr id="104" name="Group 103">
            <a:extLst>
              <a:ext uri="{FF2B5EF4-FFF2-40B4-BE49-F238E27FC236}">
                <a16:creationId xmlns:a16="http://schemas.microsoft.com/office/drawing/2014/main" id="{C806CB68-A20F-8E00-CD0A-335F4DC350CD}"/>
              </a:ext>
            </a:extLst>
          </p:cNvPr>
          <p:cNvGrpSpPr/>
          <p:nvPr/>
        </p:nvGrpSpPr>
        <p:grpSpPr>
          <a:xfrm>
            <a:off x="1281540" y="357352"/>
            <a:ext cx="9828949" cy="5972358"/>
            <a:chOff x="1281540" y="357352"/>
            <a:chExt cx="9828949" cy="5972358"/>
          </a:xfrm>
        </p:grpSpPr>
        <p:grpSp>
          <p:nvGrpSpPr>
            <p:cNvPr id="28" name="Group 27">
              <a:extLst>
                <a:ext uri="{FF2B5EF4-FFF2-40B4-BE49-F238E27FC236}">
                  <a16:creationId xmlns:a16="http://schemas.microsoft.com/office/drawing/2014/main" id="{5E190FE6-50A1-FA5B-4659-63AE7484C9F0}"/>
                </a:ext>
              </a:extLst>
            </p:cNvPr>
            <p:cNvGrpSpPr/>
            <p:nvPr/>
          </p:nvGrpSpPr>
          <p:grpSpPr>
            <a:xfrm>
              <a:off x="1281540" y="1793091"/>
              <a:ext cx="1400966" cy="633342"/>
              <a:chOff x="1485178" y="1379246"/>
              <a:chExt cx="1400966" cy="633342"/>
            </a:xfrm>
          </p:grpSpPr>
          <p:sp>
            <p:nvSpPr>
              <p:cNvPr id="4" name="Rectangle: Rounded Corners 3">
                <a:extLst>
                  <a:ext uri="{FF2B5EF4-FFF2-40B4-BE49-F238E27FC236}">
                    <a16:creationId xmlns:a16="http://schemas.microsoft.com/office/drawing/2014/main" id="{FB47905F-A7F6-971C-A77C-C2875ABC010A}"/>
                  </a:ext>
                </a:extLst>
              </p:cNvPr>
              <p:cNvSpPr/>
              <p:nvPr/>
            </p:nvSpPr>
            <p:spPr>
              <a:xfrm>
                <a:off x="1485178" y="1381021"/>
                <a:ext cx="1400966" cy="631567"/>
              </a:xfrm>
              <a:prstGeom prst="roundRect">
                <a:avLst/>
              </a:prstGeom>
              <a:solidFill>
                <a:schemeClr val="accent1">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solidFill>
                      <a:srgbClr val="000000"/>
                    </a:solidFill>
                  </a:rPr>
                  <a:t>Initialization</a:t>
                </a:r>
                <a:endParaRPr lang="en-US"/>
              </a:p>
            </p:txBody>
          </p:sp>
          <p:sp>
            <p:nvSpPr>
              <p:cNvPr id="17" name="TextBox 16">
                <a:extLst>
                  <a:ext uri="{FF2B5EF4-FFF2-40B4-BE49-F238E27FC236}">
                    <a16:creationId xmlns:a16="http://schemas.microsoft.com/office/drawing/2014/main" id="{CBE08010-B139-8B10-47E9-75BDD30558C3}"/>
                  </a:ext>
                </a:extLst>
              </p:cNvPr>
              <p:cNvSpPr txBox="1"/>
              <p:nvPr/>
            </p:nvSpPr>
            <p:spPr>
              <a:xfrm>
                <a:off x="1487368" y="1379246"/>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1.</a:t>
                </a:r>
              </a:p>
            </p:txBody>
          </p:sp>
        </p:grpSp>
        <p:grpSp>
          <p:nvGrpSpPr>
            <p:cNvPr id="35" name="Group 34">
              <a:extLst>
                <a:ext uri="{FF2B5EF4-FFF2-40B4-BE49-F238E27FC236}">
                  <a16:creationId xmlns:a16="http://schemas.microsoft.com/office/drawing/2014/main" id="{C26BDE4B-0A12-9D55-94A2-150AB1B6B14A}"/>
                </a:ext>
              </a:extLst>
            </p:cNvPr>
            <p:cNvGrpSpPr/>
            <p:nvPr/>
          </p:nvGrpSpPr>
          <p:grpSpPr>
            <a:xfrm>
              <a:off x="2956626" y="1793091"/>
              <a:ext cx="1400966" cy="633342"/>
              <a:chOff x="3160264" y="1379246"/>
              <a:chExt cx="1400966" cy="633342"/>
            </a:xfrm>
          </p:grpSpPr>
          <p:sp>
            <p:nvSpPr>
              <p:cNvPr id="9" name="Rectangle: Rounded Corners 8">
                <a:extLst>
                  <a:ext uri="{FF2B5EF4-FFF2-40B4-BE49-F238E27FC236}">
                    <a16:creationId xmlns:a16="http://schemas.microsoft.com/office/drawing/2014/main" id="{DA608A34-FDD5-8D6F-F49B-5451F93D7CD3}"/>
                  </a:ext>
                </a:extLst>
              </p:cNvPr>
              <p:cNvSpPr/>
              <p:nvPr/>
            </p:nvSpPr>
            <p:spPr>
              <a:xfrm>
                <a:off x="3160264" y="1381021"/>
                <a:ext cx="1400966" cy="631567"/>
              </a:xfrm>
              <a:prstGeom prst="roundRect">
                <a:avLst/>
              </a:prstGeom>
              <a:solidFill>
                <a:schemeClr val="accent2">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Planning</a:t>
                </a:r>
              </a:p>
            </p:txBody>
          </p:sp>
          <p:sp>
            <p:nvSpPr>
              <p:cNvPr id="18" name="TextBox 17">
                <a:extLst>
                  <a:ext uri="{FF2B5EF4-FFF2-40B4-BE49-F238E27FC236}">
                    <a16:creationId xmlns:a16="http://schemas.microsoft.com/office/drawing/2014/main" id="{40747EBE-926B-384A-3066-57AB87086E5F}"/>
                  </a:ext>
                </a:extLst>
              </p:cNvPr>
              <p:cNvSpPr txBox="1"/>
              <p:nvPr/>
            </p:nvSpPr>
            <p:spPr>
              <a:xfrm>
                <a:off x="3162454" y="1379246"/>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2.</a:t>
                </a:r>
              </a:p>
            </p:txBody>
          </p:sp>
        </p:grpSp>
        <p:grpSp>
          <p:nvGrpSpPr>
            <p:cNvPr id="38" name="Group 37">
              <a:extLst>
                <a:ext uri="{FF2B5EF4-FFF2-40B4-BE49-F238E27FC236}">
                  <a16:creationId xmlns:a16="http://schemas.microsoft.com/office/drawing/2014/main" id="{0AB84AF2-9597-28F3-D71C-EDB367DFF88A}"/>
                </a:ext>
              </a:extLst>
            </p:cNvPr>
            <p:cNvGrpSpPr/>
            <p:nvPr/>
          </p:nvGrpSpPr>
          <p:grpSpPr>
            <a:xfrm>
              <a:off x="4631712" y="1793090"/>
              <a:ext cx="1400966" cy="633343"/>
              <a:chOff x="4835350" y="1379245"/>
              <a:chExt cx="1400966" cy="633343"/>
            </a:xfrm>
          </p:grpSpPr>
          <p:sp>
            <p:nvSpPr>
              <p:cNvPr id="10" name="Rectangle: Rounded Corners 9">
                <a:extLst>
                  <a:ext uri="{FF2B5EF4-FFF2-40B4-BE49-F238E27FC236}">
                    <a16:creationId xmlns:a16="http://schemas.microsoft.com/office/drawing/2014/main" id="{5691DB5B-E9C0-BE50-8A77-471432333842}"/>
                  </a:ext>
                </a:extLst>
              </p:cNvPr>
              <p:cNvSpPr/>
              <p:nvPr/>
            </p:nvSpPr>
            <p:spPr>
              <a:xfrm>
                <a:off x="4835350" y="1381021"/>
                <a:ext cx="1400966" cy="631567"/>
              </a:xfrm>
              <a:prstGeom prst="roundRect">
                <a:avLst/>
              </a:prstGeom>
              <a:solidFill>
                <a:schemeClr val="accent3">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Designing</a:t>
                </a:r>
              </a:p>
            </p:txBody>
          </p:sp>
          <p:sp>
            <p:nvSpPr>
              <p:cNvPr id="19" name="TextBox 18">
                <a:extLst>
                  <a:ext uri="{FF2B5EF4-FFF2-40B4-BE49-F238E27FC236}">
                    <a16:creationId xmlns:a16="http://schemas.microsoft.com/office/drawing/2014/main" id="{DA226B1F-33A3-5E78-F307-E309AD4779BA}"/>
                  </a:ext>
                </a:extLst>
              </p:cNvPr>
              <p:cNvSpPr txBox="1"/>
              <p:nvPr/>
            </p:nvSpPr>
            <p:spPr>
              <a:xfrm>
                <a:off x="4837540" y="1379245"/>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3.</a:t>
                </a:r>
              </a:p>
            </p:txBody>
          </p:sp>
        </p:grpSp>
        <p:grpSp>
          <p:nvGrpSpPr>
            <p:cNvPr id="41" name="Group 40">
              <a:extLst>
                <a:ext uri="{FF2B5EF4-FFF2-40B4-BE49-F238E27FC236}">
                  <a16:creationId xmlns:a16="http://schemas.microsoft.com/office/drawing/2014/main" id="{7E682883-A640-8A1F-A5DA-B93547104A0E}"/>
                </a:ext>
              </a:extLst>
            </p:cNvPr>
            <p:cNvGrpSpPr/>
            <p:nvPr/>
          </p:nvGrpSpPr>
          <p:grpSpPr>
            <a:xfrm>
              <a:off x="9709523" y="1793090"/>
              <a:ext cx="1400966" cy="633343"/>
              <a:chOff x="9913161" y="1379245"/>
              <a:chExt cx="1400966" cy="633343"/>
            </a:xfrm>
          </p:grpSpPr>
          <p:sp>
            <p:nvSpPr>
              <p:cNvPr id="13" name="Rectangle: Rounded Corners 12">
                <a:extLst>
                  <a:ext uri="{FF2B5EF4-FFF2-40B4-BE49-F238E27FC236}">
                    <a16:creationId xmlns:a16="http://schemas.microsoft.com/office/drawing/2014/main" id="{182BB055-1099-FDA1-4916-A2C2750020C2}"/>
                  </a:ext>
                </a:extLst>
              </p:cNvPr>
              <p:cNvSpPr/>
              <p:nvPr/>
            </p:nvSpPr>
            <p:spPr>
              <a:xfrm>
                <a:off x="9913161" y="1381021"/>
                <a:ext cx="1400966" cy="631567"/>
              </a:xfrm>
              <a:prstGeom prst="roundRect">
                <a:avLst/>
              </a:prstGeom>
              <a:solidFill>
                <a:schemeClr val="bg2">
                  <a:lumMod val="5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Documentation</a:t>
                </a:r>
              </a:p>
            </p:txBody>
          </p:sp>
          <p:sp>
            <p:nvSpPr>
              <p:cNvPr id="20" name="TextBox 19">
                <a:extLst>
                  <a:ext uri="{FF2B5EF4-FFF2-40B4-BE49-F238E27FC236}">
                    <a16:creationId xmlns:a16="http://schemas.microsoft.com/office/drawing/2014/main" id="{599ED21F-387A-B252-8ED1-1163E9D914F1}"/>
                  </a:ext>
                </a:extLst>
              </p:cNvPr>
              <p:cNvSpPr txBox="1"/>
              <p:nvPr/>
            </p:nvSpPr>
            <p:spPr>
              <a:xfrm>
                <a:off x="9915350" y="1379245"/>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6.</a:t>
                </a:r>
              </a:p>
            </p:txBody>
          </p:sp>
        </p:grpSp>
        <p:grpSp>
          <p:nvGrpSpPr>
            <p:cNvPr id="39" name="Group 38">
              <a:extLst>
                <a:ext uri="{FF2B5EF4-FFF2-40B4-BE49-F238E27FC236}">
                  <a16:creationId xmlns:a16="http://schemas.microsoft.com/office/drawing/2014/main" id="{34D4D27D-9181-DF39-BBD5-6A470D8CB64D}"/>
                </a:ext>
              </a:extLst>
            </p:cNvPr>
            <p:cNvGrpSpPr/>
            <p:nvPr/>
          </p:nvGrpSpPr>
          <p:grpSpPr>
            <a:xfrm>
              <a:off x="6326505" y="1793090"/>
              <a:ext cx="1400966" cy="633342"/>
              <a:chOff x="6530143" y="1379245"/>
              <a:chExt cx="1400966" cy="633342"/>
            </a:xfrm>
          </p:grpSpPr>
          <p:sp>
            <p:nvSpPr>
              <p:cNvPr id="11" name="Rectangle: Rounded Corners 10">
                <a:extLst>
                  <a:ext uri="{FF2B5EF4-FFF2-40B4-BE49-F238E27FC236}">
                    <a16:creationId xmlns:a16="http://schemas.microsoft.com/office/drawing/2014/main" id="{BC8D75C6-C2AC-6608-D0E0-CE60283AD2A5}"/>
                  </a:ext>
                </a:extLst>
              </p:cNvPr>
              <p:cNvSpPr/>
              <p:nvPr/>
            </p:nvSpPr>
            <p:spPr>
              <a:xfrm>
                <a:off x="6530143" y="1381020"/>
                <a:ext cx="1400966" cy="631567"/>
              </a:xfrm>
              <a:prstGeom prst="roundRect">
                <a:avLst/>
              </a:prstGeom>
              <a:solidFill>
                <a:schemeClr val="accent5">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Implementation</a:t>
                </a:r>
              </a:p>
            </p:txBody>
          </p:sp>
          <p:sp>
            <p:nvSpPr>
              <p:cNvPr id="21" name="TextBox 20">
                <a:extLst>
                  <a:ext uri="{FF2B5EF4-FFF2-40B4-BE49-F238E27FC236}">
                    <a16:creationId xmlns:a16="http://schemas.microsoft.com/office/drawing/2014/main" id="{7746BE47-3755-D311-6463-4566C544705C}"/>
                  </a:ext>
                </a:extLst>
              </p:cNvPr>
              <p:cNvSpPr txBox="1"/>
              <p:nvPr/>
            </p:nvSpPr>
            <p:spPr>
              <a:xfrm>
                <a:off x="6532333" y="1379245"/>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4.</a:t>
                </a:r>
              </a:p>
            </p:txBody>
          </p:sp>
        </p:grpSp>
        <p:grpSp>
          <p:nvGrpSpPr>
            <p:cNvPr id="40" name="Group 39">
              <a:extLst>
                <a:ext uri="{FF2B5EF4-FFF2-40B4-BE49-F238E27FC236}">
                  <a16:creationId xmlns:a16="http://schemas.microsoft.com/office/drawing/2014/main" id="{C658409B-35A7-F72A-BFAE-082AB7AE49F5}"/>
                </a:ext>
              </a:extLst>
            </p:cNvPr>
            <p:cNvGrpSpPr/>
            <p:nvPr/>
          </p:nvGrpSpPr>
          <p:grpSpPr>
            <a:xfrm>
              <a:off x="8014730" y="1793090"/>
              <a:ext cx="1400966" cy="633343"/>
              <a:chOff x="8218368" y="1379245"/>
              <a:chExt cx="1400966" cy="633343"/>
            </a:xfrm>
          </p:grpSpPr>
          <p:sp>
            <p:nvSpPr>
              <p:cNvPr id="12" name="Rectangle: Rounded Corners 11">
                <a:extLst>
                  <a:ext uri="{FF2B5EF4-FFF2-40B4-BE49-F238E27FC236}">
                    <a16:creationId xmlns:a16="http://schemas.microsoft.com/office/drawing/2014/main" id="{4411B7E3-2281-70DA-A6F2-90EE0B11F879}"/>
                  </a:ext>
                </a:extLst>
              </p:cNvPr>
              <p:cNvSpPr/>
              <p:nvPr/>
            </p:nvSpPr>
            <p:spPr>
              <a:xfrm>
                <a:off x="8218368" y="1381021"/>
                <a:ext cx="1400966" cy="631567"/>
              </a:xfrm>
              <a:prstGeom prst="roundRect">
                <a:avLst/>
              </a:prstGeom>
              <a:solidFill>
                <a:schemeClr val="accent6">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Validation</a:t>
                </a:r>
              </a:p>
            </p:txBody>
          </p:sp>
          <p:sp>
            <p:nvSpPr>
              <p:cNvPr id="22" name="TextBox 21">
                <a:extLst>
                  <a:ext uri="{FF2B5EF4-FFF2-40B4-BE49-F238E27FC236}">
                    <a16:creationId xmlns:a16="http://schemas.microsoft.com/office/drawing/2014/main" id="{41D6273C-AB0D-2530-91EB-15CE252F63F8}"/>
                  </a:ext>
                </a:extLst>
              </p:cNvPr>
              <p:cNvSpPr txBox="1"/>
              <p:nvPr/>
            </p:nvSpPr>
            <p:spPr>
              <a:xfrm>
                <a:off x="8220557" y="1379245"/>
                <a:ext cx="370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a:t>
                </a:r>
              </a:p>
            </p:txBody>
          </p:sp>
        </p:grpSp>
        <p:sp>
          <p:nvSpPr>
            <p:cNvPr id="25" name="Title 1">
              <a:extLst>
                <a:ext uri="{FF2B5EF4-FFF2-40B4-BE49-F238E27FC236}">
                  <a16:creationId xmlns:a16="http://schemas.microsoft.com/office/drawing/2014/main" id="{EE34F305-4F38-87A3-98EB-EA0C11572220}"/>
                </a:ext>
              </a:extLst>
            </p:cNvPr>
            <p:cNvSpPr>
              <a:spLocks noGrp="1"/>
            </p:cNvSpPr>
            <p:nvPr/>
          </p:nvSpPr>
          <p:spPr>
            <a:xfrm>
              <a:off x="1658007" y="357352"/>
              <a:ext cx="9095828" cy="792162"/>
            </a:xfrm>
            <a:prstGeom prst="rect">
              <a:avLst/>
            </a:prstGeo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sz="2400"/>
                <a:t>AI-powered Dynamic Meal Generator and Visual Ingredient Identifier</a:t>
              </a:r>
            </a:p>
          </p:txBody>
        </p:sp>
        <p:grpSp>
          <p:nvGrpSpPr>
            <p:cNvPr id="29" name="Group 28">
              <a:extLst>
                <a:ext uri="{FF2B5EF4-FFF2-40B4-BE49-F238E27FC236}">
                  <a16:creationId xmlns:a16="http://schemas.microsoft.com/office/drawing/2014/main" id="{16C102BA-B3AE-196A-2EB8-5CB98F4B34C1}"/>
                </a:ext>
              </a:extLst>
            </p:cNvPr>
            <p:cNvGrpSpPr/>
            <p:nvPr/>
          </p:nvGrpSpPr>
          <p:grpSpPr>
            <a:xfrm>
              <a:off x="1281540" y="2758729"/>
              <a:ext cx="1400966" cy="633342"/>
              <a:chOff x="1485178" y="1379246"/>
              <a:chExt cx="1400966" cy="633342"/>
            </a:xfrm>
          </p:grpSpPr>
          <p:sp>
            <p:nvSpPr>
              <p:cNvPr id="30" name="Rectangle: Rounded Corners 29">
                <a:extLst>
                  <a:ext uri="{FF2B5EF4-FFF2-40B4-BE49-F238E27FC236}">
                    <a16:creationId xmlns:a16="http://schemas.microsoft.com/office/drawing/2014/main" id="{88B70635-58EC-8049-97DD-1DC7BB7EB42B}"/>
                  </a:ext>
                </a:extLst>
              </p:cNvPr>
              <p:cNvSpPr/>
              <p:nvPr/>
            </p:nvSpPr>
            <p:spPr>
              <a:xfrm>
                <a:off x="1485178" y="1381021"/>
                <a:ext cx="1400966" cy="631567"/>
              </a:xfrm>
              <a:prstGeom prst="round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Identify the Problem</a:t>
                </a:r>
                <a:endParaRPr lang="en-US"/>
              </a:p>
            </p:txBody>
          </p:sp>
          <p:sp>
            <p:nvSpPr>
              <p:cNvPr id="31" name="TextBox 30">
                <a:extLst>
                  <a:ext uri="{FF2B5EF4-FFF2-40B4-BE49-F238E27FC236}">
                    <a16:creationId xmlns:a16="http://schemas.microsoft.com/office/drawing/2014/main" id="{248B3EEA-6BE3-D7EB-A913-B0F9E4700597}"/>
                  </a:ext>
                </a:extLst>
              </p:cNvPr>
              <p:cNvSpPr txBox="1"/>
              <p:nvPr/>
            </p:nvSpPr>
            <p:spPr>
              <a:xfrm>
                <a:off x="1487368" y="1379246"/>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1.1</a:t>
                </a:r>
              </a:p>
            </p:txBody>
          </p:sp>
        </p:grpSp>
        <p:grpSp>
          <p:nvGrpSpPr>
            <p:cNvPr id="32" name="Group 31">
              <a:extLst>
                <a:ext uri="{FF2B5EF4-FFF2-40B4-BE49-F238E27FC236}">
                  <a16:creationId xmlns:a16="http://schemas.microsoft.com/office/drawing/2014/main" id="{EFC178A4-0F61-F3C9-D159-2D30DFF29CFE}"/>
                </a:ext>
              </a:extLst>
            </p:cNvPr>
            <p:cNvGrpSpPr/>
            <p:nvPr/>
          </p:nvGrpSpPr>
          <p:grpSpPr>
            <a:xfrm>
              <a:off x="1281540" y="3726141"/>
              <a:ext cx="1400966" cy="631567"/>
              <a:chOff x="1485178" y="1381021"/>
              <a:chExt cx="1400966" cy="631567"/>
            </a:xfrm>
          </p:grpSpPr>
          <p:sp>
            <p:nvSpPr>
              <p:cNvPr id="33" name="Rectangle: Rounded Corners 32">
                <a:extLst>
                  <a:ext uri="{FF2B5EF4-FFF2-40B4-BE49-F238E27FC236}">
                    <a16:creationId xmlns:a16="http://schemas.microsoft.com/office/drawing/2014/main" id="{1AF6340C-191B-90BD-EBFD-31820552A5A7}"/>
                  </a:ext>
                </a:extLst>
              </p:cNvPr>
              <p:cNvSpPr/>
              <p:nvPr/>
            </p:nvSpPr>
            <p:spPr>
              <a:xfrm>
                <a:off x="1485178" y="1381021"/>
                <a:ext cx="1400966" cy="631567"/>
              </a:xfrm>
              <a:prstGeom prst="round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Find existing Solutions</a:t>
                </a:r>
                <a:endParaRPr lang="en-US"/>
              </a:p>
            </p:txBody>
          </p:sp>
          <p:sp>
            <p:nvSpPr>
              <p:cNvPr id="34" name="TextBox 33">
                <a:extLst>
                  <a:ext uri="{FF2B5EF4-FFF2-40B4-BE49-F238E27FC236}">
                    <a16:creationId xmlns:a16="http://schemas.microsoft.com/office/drawing/2014/main" id="{C5BF7BD9-FBE1-7CAC-85E5-AC89927CA40F}"/>
                  </a:ext>
                </a:extLst>
              </p:cNvPr>
              <p:cNvSpPr txBox="1"/>
              <p:nvPr/>
            </p:nvSpPr>
            <p:spPr>
              <a:xfrm>
                <a:off x="1487368" y="1392383"/>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1.2</a:t>
                </a:r>
              </a:p>
            </p:txBody>
          </p:sp>
        </p:grpSp>
        <p:grpSp>
          <p:nvGrpSpPr>
            <p:cNvPr id="2" name="Group 1">
              <a:extLst>
                <a:ext uri="{FF2B5EF4-FFF2-40B4-BE49-F238E27FC236}">
                  <a16:creationId xmlns:a16="http://schemas.microsoft.com/office/drawing/2014/main" id="{47D710EE-C793-4D6B-0576-664B11BCA3F4}"/>
                </a:ext>
              </a:extLst>
            </p:cNvPr>
            <p:cNvGrpSpPr/>
            <p:nvPr/>
          </p:nvGrpSpPr>
          <p:grpSpPr>
            <a:xfrm>
              <a:off x="2956626" y="2758729"/>
              <a:ext cx="1400966" cy="633342"/>
              <a:chOff x="3160264" y="1379246"/>
              <a:chExt cx="1400966" cy="633342"/>
            </a:xfrm>
          </p:grpSpPr>
          <p:sp>
            <p:nvSpPr>
              <p:cNvPr id="3" name="Rectangle: Rounded Corners 2">
                <a:extLst>
                  <a:ext uri="{FF2B5EF4-FFF2-40B4-BE49-F238E27FC236}">
                    <a16:creationId xmlns:a16="http://schemas.microsoft.com/office/drawing/2014/main" id="{5D5AE132-60EA-4396-0DB4-829F8D2C1807}"/>
                  </a:ext>
                </a:extLst>
              </p:cNvPr>
              <p:cNvSpPr/>
              <p:nvPr/>
            </p:nvSpPr>
            <p:spPr>
              <a:xfrm>
                <a:off x="3160264" y="1381021"/>
                <a:ext cx="1400966" cy="631567"/>
              </a:xfrm>
              <a:prstGeom prst="round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Requirement Gathering</a:t>
                </a:r>
              </a:p>
            </p:txBody>
          </p:sp>
          <p:sp>
            <p:nvSpPr>
              <p:cNvPr id="5" name="TextBox 4">
                <a:extLst>
                  <a:ext uri="{FF2B5EF4-FFF2-40B4-BE49-F238E27FC236}">
                    <a16:creationId xmlns:a16="http://schemas.microsoft.com/office/drawing/2014/main" id="{C92B30BB-3188-1675-F99F-93585A036AF4}"/>
                  </a:ext>
                </a:extLst>
              </p:cNvPr>
              <p:cNvSpPr txBox="1"/>
              <p:nvPr/>
            </p:nvSpPr>
            <p:spPr>
              <a:xfrm>
                <a:off x="3188729" y="1379246"/>
                <a:ext cx="46923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2.1</a:t>
                </a:r>
              </a:p>
            </p:txBody>
          </p:sp>
        </p:grpSp>
        <p:grpSp>
          <p:nvGrpSpPr>
            <p:cNvPr id="6" name="Group 5">
              <a:extLst>
                <a:ext uri="{FF2B5EF4-FFF2-40B4-BE49-F238E27FC236}">
                  <a16:creationId xmlns:a16="http://schemas.microsoft.com/office/drawing/2014/main" id="{1835E97A-9197-A779-98D5-E09BB7B68DE5}"/>
                </a:ext>
              </a:extLst>
            </p:cNvPr>
            <p:cNvGrpSpPr/>
            <p:nvPr/>
          </p:nvGrpSpPr>
          <p:grpSpPr>
            <a:xfrm>
              <a:off x="2956626" y="3744074"/>
              <a:ext cx="1400966" cy="646479"/>
              <a:chOff x="3160264" y="1366109"/>
              <a:chExt cx="1400966" cy="646479"/>
            </a:xfrm>
          </p:grpSpPr>
          <p:sp>
            <p:nvSpPr>
              <p:cNvPr id="7" name="Rectangle: Rounded Corners 6">
                <a:extLst>
                  <a:ext uri="{FF2B5EF4-FFF2-40B4-BE49-F238E27FC236}">
                    <a16:creationId xmlns:a16="http://schemas.microsoft.com/office/drawing/2014/main" id="{7EB27818-2600-E850-299E-54A01C405342}"/>
                  </a:ext>
                </a:extLst>
              </p:cNvPr>
              <p:cNvSpPr/>
              <p:nvPr/>
            </p:nvSpPr>
            <p:spPr>
              <a:xfrm>
                <a:off x="3160264" y="1381021"/>
                <a:ext cx="1400966" cy="631567"/>
              </a:xfrm>
              <a:prstGeom prst="round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Finding Dataset</a:t>
                </a:r>
              </a:p>
            </p:txBody>
          </p:sp>
          <p:sp>
            <p:nvSpPr>
              <p:cNvPr id="8" name="TextBox 7">
                <a:extLst>
                  <a:ext uri="{FF2B5EF4-FFF2-40B4-BE49-F238E27FC236}">
                    <a16:creationId xmlns:a16="http://schemas.microsoft.com/office/drawing/2014/main" id="{62199576-E848-6EA3-DEC8-6012E707F10C}"/>
                  </a:ext>
                </a:extLst>
              </p:cNvPr>
              <p:cNvSpPr txBox="1"/>
              <p:nvPr/>
            </p:nvSpPr>
            <p:spPr>
              <a:xfrm>
                <a:off x="3188729" y="1366109"/>
                <a:ext cx="4560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2.2</a:t>
                </a:r>
              </a:p>
            </p:txBody>
          </p:sp>
        </p:grpSp>
        <p:grpSp>
          <p:nvGrpSpPr>
            <p:cNvPr id="45" name="Group 44">
              <a:extLst>
                <a:ext uri="{FF2B5EF4-FFF2-40B4-BE49-F238E27FC236}">
                  <a16:creationId xmlns:a16="http://schemas.microsoft.com/office/drawing/2014/main" id="{DD935D33-AE6A-6FAA-B268-4F681D1F6FB4}"/>
                </a:ext>
              </a:extLst>
            </p:cNvPr>
            <p:cNvGrpSpPr/>
            <p:nvPr/>
          </p:nvGrpSpPr>
          <p:grpSpPr>
            <a:xfrm>
              <a:off x="4631712" y="2758728"/>
              <a:ext cx="1400966" cy="633343"/>
              <a:chOff x="4835350" y="1379245"/>
              <a:chExt cx="1400966" cy="633343"/>
            </a:xfrm>
          </p:grpSpPr>
          <p:sp>
            <p:nvSpPr>
              <p:cNvPr id="46" name="Rectangle: Rounded Corners 45">
                <a:extLst>
                  <a:ext uri="{FF2B5EF4-FFF2-40B4-BE49-F238E27FC236}">
                    <a16:creationId xmlns:a16="http://schemas.microsoft.com/office/drawing/2014/main" id="{9F647DF9-3C0E-A558-8DC8-F5CF99194157}"/>
                  </a:ext>
                </a:extLst>
              </p:cNvPr>
              <p:cNvSpPr/>
              <p:nvPr/>
            </p:nvSpPr>
            <p:spPr>
              <a:xfrm>
                <a:off x="4835350" y="1381021"/>
                <a:ext cx="1400966" cy="631567"/>
              </a:xfrm>
              <a:prstGeom prst="round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System Design</a:t>
                </a:r>
                <a:endParaRPr lang="en-US"/>
              </a:p>
            </p:txBody>
          </p:sp>
          <p:sp>
            <p:nvSpPr>
              <p:cNvPr id="47" name="TextBox 46">
                <a:extLst>
                  <a:ext uri="{FF2B5EF4-FFF2-40B4-BE49-F238E27FC236}">
                    <a16:creationId xmlns:a16="http://schemas.microsoft.com/office/drawing/2014/main" id="{CBACCA90-C74C-94AE-95DA-8EEF01930929}"/>
                  </a:ext>
                </a:extLst>
              </p:cNvPr>
              <p:cNvSpPr txBox="1"/>
              <p:nvPr/>
            </p:nvSpPr>
            <p:spPr>
              <a:xfrm>
                <a:off x="4837540" y="1379245"/>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3.1</a:t>
                </a:r>
              </a:p>
            </p:txBody>
          </p:sp>
        </p:grpSp>
        <p:grpSp>
          <p:nvGrpSpPr>
            <p:cNvPr id="48" name="Group 47">
              <a:extLst>
                <a:ext uri="{FF2B5EF4-FFF2-40B4-BE49-F238E27FC236}">
                  <a16:creationId xmlns:a16="http://schemas.microsoft.com/office/drawing/2014/main" id="{477236AA-623F-68F0-6F0A-ECA56F441139}"/>
                </a:ext>
              </a:extLst>
            </p:cNvPr>
            <p:cNvGrpSpPr/>
            <p:nvPr/>
          </p:nvGrpSpPr>
          <p:grpSpPr>
            <a:xfrm>
              <a:off x="4631712" y="3750642"/>
              <a:ext cx="1400966" cy="639911"/>
              <a:chOff x="4835350" y="1372677"/>
              <a:chExt cx="1400966" cy="639911"/>
            </a:xfrm>
          </p:grpSpPr>
          <p:sp>
            <p:nvSpPr>
              <p:cNvPr id="49" name="Rectangle: Rounded Corners 48">
                <a:extLst>
                  <a:ext uri="{FF2B5EF4-FFF2-40B4-BE49-F238E27FC236}">
                    <a16:creationId xmlns:a16="http://schemas.microsoft.com/office/drawing/2014/main" id="{4FCC0967-7E61-D609-11FC-E6B003A5FE52}"/>
                  </a:ext>
                </a:extLst>
              </p:cNvPr>
              <p:cNvSpPr/>
              <p:nvPr/>
            </p:nvSpPr>
            <p:spPr>
              <a:xfrm>
                <a:off x="4835350" y="1381021"/>
                <a:ext cx="1400966" cy="631567"/>
              </a:xfrm>
              <a:prstGeom prst="round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UI Design</a:t>
                </a:r>
              </a:p>
            </p:txBody>
          </p:sp>
          <p:sp>
            <p:nvSpPr>
              <p:cNvPr id="50" name="TextBox 49">
                <a:extLst>
                  <a:ext uri="{FF2B5EF4-FFF2-40B4-BE49-F238E27FC236}">
                    <a16:creationId xmlns:a16="http://schemas.microsoft.com/office/drawing/2014/main" id="{1CBDBD48-A608-9F55-5109-FC6AF877DA23}"/>
                  </a:ext>
                </a:extLst>
              </p:cNvPr>
              <p:cNvSpPr txBox="1"/>
              <p:nvPr/>
            </p:nvSpPr>
            <p:spPr>
              <a:xfrm>
                <a:off x="4837540" y="1372677"/>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3.2</a:t>
                </a:r>
              </a:p>
            </p:txBody>
          </p:sp>
        </p:grpSp>
        <p:grpSp>
          <p:nvGrpSpPr>
            <p:cNvPr id="51" name="Group 50">
              <a:extLst>
                <a:ext uri="{FF2B5EF4-FFF2-40B4-BE49-F238E27FC236}">
                  <a16:creationId xmlns:a16="http://schemas.microsoft.com/office/drawing/2014/main" id="{B63B2836-1837-1067-8B87-C6AE402367BA}"/>
                </a:ext>
              </a:extLst>
            </p:cNvPr>
            <p:cNvGrpSpPr/>
            <p:nvPr/>
          </p:nvGrpSpPr>
          <p:grpSpPr>
            <a:xfrm>
              <a:off x="6326505" y="3757210"/>
              <a:ext cx="1400966" cy="633342"/>
              <a:chOff x="6530143" y="1379245"/>
              <a:chExt cx="1400966" cy="633342"/>
            </a:xfrm>
          </p:grpSpPr>
          <p:sp>
            <p:nvSpPr>
              <p:cNvPr id="52" name="Rectangle: Rounded Corners 51">
                <a:extLst>
                  <a:ext uri="{FF2B5EF4-FFF2-40B4-BE49-F238E27FC236}">
                    <a16:creationId xmlns:a16="http://schemas.microsoft.com/office/drawing/2014/main" id="{E00D318A-FE65-911D-6870-001F7FA9CDFB}"/>
                  </a:ext>
                </a:extLst>
              </p:cNvPr>
              <p:cNvSpPr/>
              <p:nvPr/>
            </p:nvSpPr>
            <p:spPr>
              <a:xfrm>
                <a:off x="6530143" y="1381020"/>
                <a:ext cx="1400966" cy="631567"/>
              </a:xfrm>
              <a:prstGeom prst="round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Substitution Model</a:t>
                </a:r>
              </a:p>
            </p:txBody>
          </p:sp>
          <p:sp>
            <p:nvSpPr>
              <p:cNvPr id="53" name="TextBox 52">
                <a:extLst>
                  <a:ext uri="{FF2B5EF4-FFF2-40B4-BE49-F238E27FC236}">
                    <a16:creationId xmlns:a16="http://schemas.microsoft.com/office/drawing/2014/main" id="{809D8DF2-4F44-8FA2-ED3F-88A760DBB231}"/>
                  </a:ext>
                </a:extLst>
              </p:cNvPr>
              <p:cNvSpPr txBox="1"/>
              <p:nvPr/>
            </p:nvSpPr>
            <p:spPr>
              <a:xfrm>
                <a:off x="6532333" y="1379245"/>
                <a:ext cx="482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4.2</a:t>
                </a:r>
              </a:p>
            </p:txBody>
          </p:sp>
        </p:grpSp>
        <p:grpSp>
          <p:nvGrpSpPr>
            <p:cNvPr id="54" name="Group 53">
              <a:extLst>
                <a:ext uri="{FF2B5EF4-FFF2-40B4-BE49-F238E27FC236}">
                  <a16:creationId xmlns:a16="http://schemas.microsoft.com/office/drawing/2014/main" id="{BF068F74-33B8-1F0A-A12E-F0896131C25D}"/>
                </a:ext>
              </a:extLst>
            </p:cNvPr>
            <p:cNvGrpSpPr/>
            <p:nvPr/>
          </p:nvGrpSpPr>
          <p:grpSpPr>
            <a:xfrm>
              <a:off x="6326505" y="2758727"/>
              <a:ext cx="1400966" cy="633342"/>
              <a:chOff x="6530143" y="1379245"/>
              <a:chExt cx="1400966" cy="633342"/>
            </a:xfrm>
          </p:grpSpPr>
          <p:sp>
            <p:nvSpPr>
              <p:cNvPr id="55" name="Rectangle: Rounded Corners 54">
                <a:extLst>
                  <a:ext uri="{FF2B5EF4-FFF2-40B4-BE49-F238E27FC236}">
                    <a16:creationId xmlns:a16="http://schemas.microsoft.com/office/drawing/2014/main" id="{3DFEC6DD-B4B5-912A-0968-6B0165E9AF1B}"/>
                  </a:ext>
                </a:extLst>
              </p:cNvPr>
              <p:cNvSpPr/>
              <p:nvPr/>
            </p:nvSpPr>
            <p:spPr>
              <a:xfrm>
                <a:off x="6530143" y="1381020"/>
                <a:ext cx="1400966" cy="631567"/>
              </a:xfrm>
              <a:prstGeom prst="round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Prediction Model</a:t>
                </a:r>
                <a:endParaRPr lang="en-US"/>
              </a:p>
            </p:txBody>
          </p:sp>
          <p:sp>
            <p:nvSpPr>
              <p:cNvPr id="56" name="TextBox 55">
                <a:extLst>
                  <a:ext uri="{FF2B5EF4-FFF2-40B4-BE49-F238E27FC236}">
                    <a16:creationId xmlns:a16="http://schemas.microsoft.com/office/drawing/2014/main" id="{3766C634-F84F-B828-5C92-00E3ED7F97D3}"/>
                  </a:ext>
                </a:extLst>
              </p:cNvPr>
              <p:cNvSpPr txBox="1"/>
              <p:nvPr/>
            </p:nvSpPr>
            <p:spPr>
              <a:xfrm>
                <a:off x="6532333" y="1379245"/>
                <a:ext cx="5086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4.1</a:t>
                </a:r>
              </a:p>
            </p:txBody>
          </p:sp>
        </p:grpSp>
        <p:grpSp>
          <p:nvGrpSpPr>
            <p:cNvPr id="57" name="Group 56">
              <a:extLst>
                <a:ext uri="{FF2B5EF4-FFF2-40B4-BE49-F238E27FC236}">
                  <a16:creationId xmlns:a16="http://schemas.microsoft.com/office/drawing/2014/main" id="{0F276D52-6C38-9F82-1AB2-68DAF4DE9FB0}"/>
                </a:ext>
              </a:extLst>
            </p:cNvPr>
            <p:cNvGrpSpPr/>
            <p:nvPr/>
          </p:nvGrpSpPr>
          <p:grpSpPr>
            <a:xfrm>
              <a:off x="8014730" y="3726141"/>
              <a:ext cx="1400966" cy="631567"/>
              <a:chOff x="8218368" y="1381021"/>
              <a:chExt cx="1400966" cy="631567"/>
            </a:xfrm>
          </p:grpSpPr>
          <p:sp>
            <p:nvSpPr>
              <p:cNvPr id="58" name="Rectangle: Rounded Corners 57">
                <a:extLst>
                  <a:ext uri="{FF2B5EF4-FFF2-40B4-BE49-F238E27FC236}">
                    <a16:creationId xmlns:a16="http://schemas.microsoft.com/office/drawing/2014/main" id="{DA264D31-AD75-16C2-C441-6AD92DF5B475}"/>
                  </a:ext>
                </a:extLst>
              </p:cNvPr>
              <p:cNvSpPr/>
              <p:nvPr/>
            </p:nvSpPr>
            <p:spPr>
              <a:xfrm>
                <a:off x="8218368" y="1381021"/>
                <a:ext cx="1400966" cy="631567"/>
              </a:xfrm>
              <a:prstGeom prst="roundRect">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Unit Testing</a:t>
                </a:r>
              </a:p>
            </p:txBody>
          </p:sp>
          <p:sp>
            <p:nvSpPr>
              <p:cNvPr id="59" name="TextBox 58">
                <a:extLst>
                  <a:ext uri="{FF2B5EF4-FFF2-40B4-BE49-F238E27FC236}">
                    <a16:creationId xmlns:a16="http://schemas.microsoft.com/office/drawing/2014/main" id="{B795846B-1650-5C49-D4B4-DD251F42603C}"/>
                  </a:ext>
                </a:extLst>
              </p:cNvPr>
              <p:cNvSpPr txBox="1"/>
              <p:nvPr/>
            </p:nvSpPr>
            <p:spPr>
              <a:xfrm>
                <a:off x="8220557" y="1385813"/>
                <a:ext cx="49551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5.2</a:t>
                </a:r>
              </a:p>
            </p:txBody>
          </p:sp>
        </p:grpSp>
        <p:grpSp>
          <p:nvGrpSpPr>
            <p:cNvPr id="60" name="Group 59">
              <a:extLst>
                <a:ext uri="{FF2B5EF4-FFF2-40B4-BE49-F238E27FC236}">
                  <a16:creationId xmlns:a16="http://schemas.microsoft.com/office/drawing/2014/main" id="{88ED308B-D5E2-74EA-75BC-282857CA1CF6}"/>
                </a:ext>
              </a:extLst>
            </p:cNvPr>
            <p:cNvGrpSpPr/>
            <p:nvPr/>
          </p:nvGrpSpPr>
          <p:grpSpPr>
            <a:xfrm>
              <a:off x="8014730" y="2758728"/>
              <a:ext cx="1400966" cy="633343"/>
              <a:chOff x="8218368" y="1379245"/>
              <a:chExt cx="1400966" cy="633343"/>
            </a:xfrm>
          </p:grpSpPr>
          <p:sp>
            <p:nvSpPr>
              <p:cNvPr id="61" name="Rectangle: Rounded Corners 60">
                <a:extLst>
                  <a:ext uri="{FF2B5EF4-FFF2-40B4-BE49-F238E27FC236}">
                    <a16:creationId xmlns:a16="http://schemas.microsoft.com/office/drawing/2014/main" id="{5D2A71C7-62C4-FF5A-D145-2E66E45C72BE}"/>
                  </a:ext>
                </a:extLst>
              </p:cNvPr>
              <p:cNvSpPr/>
              <p:nvPr/>
            </p:nvSpPr>
            <p:spPr>
              <a:xfrm>
                <a:off x="8218368" y="1381021"/>
                <a:ext cx="1400966" cy="631567"/>
              </a:xfrm>
              <a:prstGeom prst="roundRect">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Model evaluation</a:t>
                </a:r>
              </a:p>
            </p:txBody>
          </p:sp>
          <p:sp>
            <p:nvSpPr>
              <p:cNvPr id="62" name="TextBox 61">
                <a:extLst>
                  <a:ext uri="{FF2B5EF4-FFF2-40B4-BE49-F238E27FC236}">
                    <a16:creationId xmlns:a16="http://schemas.microsoft.com/office/drawing/2014/main" id="{772F4BC9-EB7E-2A3F-8182-FB022E9C2173}"/>
                  </a:ext>
                </a:extLst>
              </p:cNvPr>
              <p:cNvSpPr txBox="1"/>
              <p:nvPr/>
            </p:nvSpPr>
            <p:spPr>
              <a:xfrm>
                <a:off x="8220557" y="1379245"/>
                <a:ext cx="5086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5.1</a:t>
                </a:r>
              </a:p>
            </p:txBody>
          </p:sp>
        </p:grpSp>
        <p:grpSp>
          <p:nvGrpSpPr>
            <p:cNvPr id="63" name="Group 62">
              <a:extLst>
                <a:ext uri="{FF2B5EF4-FFF2-40B4-BE49-F238E27FC236}">
                  <a16:creationId xmlns:a16="http://schemas.microsoft.com/office/drawing/2014/main" id="{3D04F87F-41FD-BA41-170B-441786D31205}"/>
                </a:ext>
              </a:extLst>
            </p:cNvPr>
            <p:cNvGrpSpPr/>
            <p:nvPr/>
          </p:nvGrpSpPr>
          <p:grpSpPr>
            <a:xfrm>
              <a:off x="9709523" y="4709710"/>
              <a:ext cx="1400966" cy="633343"/>
              <a:chOff x="9913161" y="1379245"/>
              <a:chExt cx="1400966" cy="633343"/>
            </a:xfrm>
          </p:grpSpPr>
          <p:sp>
            <p:nvSpPr>
              <p:cNvPr id="64" name="Rectangle: Rounded Corners 63">
                <a:extLst>
                  <a:ext uri="{FF2B5EF4-FFF2-40B4-BE49-F238E27FC236}">
                    <a16:creationId xmlns:a16="http://schemas.microsoft.com/office/drawing/2014/main" id="{CD307C29-61C4-B36A-1D47-13B6E97A94BC}"/>
                  </a:ext>
                </a:extLst>
              </p:cNvPr>
              <p:cNvSpPr/>
              <p:nvPr/>
            </p:nvSpPr>
            <p:spPr>
              <a:xfrm>
                <a:off x="9913161" y="1381021"/>
                <a:ext cx="1400966" cy="631567"/>
              </a:xfrm>
              <a:prstGeom prst="round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Research Paper</a:t>
                </a:r>
                <a:endParaRPr lang="en-US"/>
              </a:p>
            </p:txBody>
          </p:sp>
          <p:sp>
            <p:nvSpPr>
              <p:cNvPr id="65" name="TextBox 64">
                <a:extLst>
                  <a:ext uri="{FF2B5EF4-FFF2-40B4-BE49-F238E27FC236}">
                    <a16:creationId xmlns:a16="http://schemas.microsoft.com/office/drawing/2014/main" id="{F65092A3-5C3B-D328-BFEF-1AAD9A3499FA}"/>
                  </a:ext>
                </a:extLst>
              </p:cNvPr>
              <p:cNvSpPr txBox="1"/>
              <p:nvPr/>
            </p:nvSpPr>
            <p:spPr>
              <a:xfrm>
                <a:off x="9915350" y="1379245"/>
                <a:ext cx="4363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6.3</a:t>
                </a:r>
              </a:p>
            </p:txBody>
          </p:sp>
        </p:grpSp>
        <p:grpSp>
          <p:nvGrpSpPr>
            <p:cNvPr id="66" name="Group 65">
              <a:extLst>
                <a:ext uri="{FF2B5EF4-FFF2-40B4-BE49-F238E27FC236}">
                  <a16:creationId xmlns:a16="http://schemas.microsoft.com/office/drawing/2014/main" id="{6D7D1700-153A-EB61-3967-B0D4076370AA}"/>
                </a:ext>
              </a:extLst>
            </p:cNvPr>
            <p:cNvGrpSpPr/>
            <p:nvPr/>
          </p:nvGrpSpPr>
          <p:grpSpPr>
            <a:xfrm>
              <a:off x="9709523" y="3724366"/>
              <a:ext cx="1400966" cy="633343"/>
              <a:chOff x="9913161" y="1379245"/>
              <a:chExt cx="1400966" cy="633343"/>
            </a:xfrm>
          </p:grpSpPr>
          <p:sp>
            <p:nvSpPr>
              <p:cNvPr id="67" name="Rectangle: Rounded Corners 66">
                <a:extLst>
                  <a:ext uri="{FF2B5EF4-FFF2-40B4-BE49-F238E27FC236}">
                    <a16:creationId xmlns:a16="http://schemas.microsoft.com/office/drawing/2014/main" id="{6106E383-883C-6223-7C9A-615816D8C221}"/>
                  </a:ext>
                </a:extLst>
              </p:cNvPr>
              <p:cNvSpPr/>
              <p:nvPr/>
            </p:nvSpPr>
            <p:spPr>
              <a:xfrm>
                <a:off x="9913161" y="1381021"/>
                <a:ext cx="1400966" cy="631567"/>
              </a:xfrm>
              <a:prstGeom prst="round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Project Proposal</a:t>
                </a:r>
              </a:p>
            </p:txBody>
          </p:sp>
          <p:sp>
            <p:nvSpPr>
              <p:cNvPr id="68" name="TextBox 67">
                <a:extLst>
                  <a:ext uri="{FF2B5EF4-FFF2-40B4-BE49-F238E27FC236}">
                    <a16:creationId xmlns:a16="http://schemas.microsoft.com/office/drawing/2014/main" id="{4A685500-17C6-8D21-CCF8-43E7E6B768CD}"/>
                  </a:ext>
                </a:extLst>
              </p:cNvPr>
              <p:cNvSpPr txBox="1"/>
              <p:nvPr/>
            </p:nvSpPr>
            <p:spPr>
              <a:xfrm>
                <a:off x="9915350" y="1379245"/>
                <a:ext cx="55463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6.2</a:t>
                </a:r>
              </a:p>
            </p:txBody>
          </p:sp>
        </p:grpSp>
        <p:grpSp>
          <p:nvGrpSpPr>
            <p:cNvPr id="69" name="Group 68">
              <a:extLst>
                <a:ext uri="{FF2B5EF4-FFF2-40B4-BE49-F238E27FC236}">
                  <a16:creationId xmlns:a16="http://schemas.microsoft.com/office/drawing/2014/main" id="{611EECE7-B7CF-48F7-E3D9-8460175FF114}"/>
                </a:ext>
              </a:extLst>
            </p:cNvPr>
            <p:cNvGrpSpPr/>
            <p:nvPr/>
          </p:nvGrpSpPr>
          <p:grpSpPr>
            <a:xfrm>
              <a:off x="1281540" y="4696573"/>
              <a:ext cx="1400966" cy="633342"/>
              <a:chOff x="1485178" y="1379246"/>
              <a:chExt cx="1400966" cy="633342"/>
            </a:xfrm>
          </p:grpSpPr>
          <p:sp>
            <p:nvSpPr>
              <p:cNvPr id="70" name="Rectangle: Rounded Corners 69">
                <a:extLst>
                  <a:ext uri="{FF2B5EF4-FFF2-40B4-BE49-F238E27FC236}">
                    <a16:creationId xmlns:a16="http://schemas.microsoft.com/office/drawing/2014/main" id="{08C80CCC-549F-9CBE-CAA4-7740EC714A8B}"/>
                  </a:ext>
                </a:extLst>
              </p:cNvPr>
              <p:cNvSpPr/>
              <p:nvPr/>
            </p:nvSpPr>
            <p:spPr>
              <a:xfrm>
                <a:off x="1485178" y="1381021"/>
                <a:ext cx="1400966" cy="631567"/>
              </a:xfrm>
              <a:prstGeom prst="round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Find Better Solution</a:t>
                </a:r>
              </a:p>
            </p:txBody>
          </p:sp>
          <p:sp>
            <p:nvSpPr>
              <p:cNvPr id="71" name="TextBox 70">
                <a:extLst>
                  <a:ext uri="{FF2B5EF4-FFF2-40B4-BE49-F238E27FC236}">
                    <a16:creationId xmlns:a16="http://schemas.microsoft.com/office/drawing/2014/main" id="{9976AFAC-AAB9-21B4-979B-1FD6CD0CBBBB}"/>
                  </a:ext>
                </a:extLst>
              </p:cNvPr>
              <p:cNvSpPr txBox="1"/>
              <p:nvPr/>
            </p:nvSpPr>
            <p:spPr>
              <a:xfrm>
                <a:off x="1487368" y="1379246"/>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1.3</a:t>
                </a:r>
              </a:p>
            </p:txBody>
          </p:sp>
        </p:grpSp>
        <p:grpSp>
          <p:nvGrpSpPr>
            <p:cNvPr id="87" name="Group 86">
              <a:extLst>
                <a:ext uri="{FF2B5EF4-FFF2-40B4-BE49-F238E27FC236}">
                  <a16:creationId xmlns:a16="http://schemas.microsoft.com/office/drawing/2014/main" id="{C0D8398C-069C-E817-42B4-B6C8D91BA8F1}"/>
                </a:ext>
              </a:extLst>
            </p:cNvPr>
            <p:cNvGrpSpPr/>
            <p:nvPr/>
          </p:nvGrpSpPr>
          <p:grpSpPr>
            <a:xfrm>
              <a:off x="2956626" y="4703142"/>
              <a:ext cx="1400966" cy="633342"/>
              <a:chOff x="3160264" y="1379246"/>
              <a:chExt cx="1400966" cy="633342"/>
            </a:xfrm>
          </p:grpSpPr>
          <p:sp>
            <p:nvSpPr>
              <p:cNvPr id="88" name="Rectangle: Rounded Corners 87">
                <a:extLst>
                  <a:ext uri="{FF2B5EF4-FFF2-40B4-BE49-F238E27FC236}">
                    <a16:creationId xmlns:a16="http://schemas.microsoft.com/office/drawing/2014/main" id="{AF5D5020-1655-1C99-ACF2-C7C43E431002}"/>
                  </a:ext>
                </a:extLst>
              </p:cNvPr>
              <p:cNvSpPr/>
              <p:nvPr/>
            </p:nvSpPr>
            <p:spPr>
              <a:xfrm>
                <a:off x="3160264" y="1381021"/>
                <a:ext cx="1400966" cy="631567"/>
              </a:xfrm>
              <a:prstGeom prst="round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Finalize Project Plan</a:t>
                </a:r>
                <a:endParaRPr lang="en-US"/>
              </a:p>
            </p:txBody>
          </p:sp>
          <p:sp>
            <p:nvSpPr>
              <p:cNvPr id="89" name="TextBox 88">
                <a:extLst>
                  <a:ext uri="{FF2B5EF4-FFF2-40B4-BE49-F238E27FC236}">
                    <a16:creationId xmlns:a16="http://schemas.microsoft.com/office/drawing/2014/main" id="{B65FFDA3-111B-B1CB-F35F-DFBBA97CA1D2}"/>
                  </a:ext>
                </a:extLst>
              </p:cNvPr>
              <p:cNvSpPr txBox="1"/>
              <p:nvPr/>
            </p:nvSpPr>
            <p:spPr>
              <a:xfrm>
                <a:off x="3188729" y="1379246"/>
                <a:ext cx="5612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2.3</a:t>
                </a:r>
              </a:p>
            </p:txBody>
          </p:sp>
        </p:grpSp>
        <p:sp>
          <p:nvSpPr>
            <p:cNvPr id="94" name="Rectangle: Rounded Corners 93">
              <a:extLst>
                <a:ext uri="{FF2B5EF4-FFF2-40B4-BE49-F238E27FC236}">
                  <a16:creationId xmlns:a16="http://schemas.microsoft.com/office/drawing/2014/main" id="{A71A2DC7-2FA0-BC97-94EC-4DB99A2260FB}"/>
                </a:ext>
              </a:extLst>
            </p:cNvPr>
            <p:cNvSpPr/>
            <p:nvPr/>
          </p:nvSpPr>
          <p:spPr>
            <a:xfrm>
              <a:off x="6321250" y="4706230"/>
              <a:ext cx="1400966" cy="631567"/>
            </a:xfrm>
            <a:prstGeom prst="round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Backend</a:t>
              </a:r>
            </a:p>
          </p:txBody>
        </p:sp>
        <p:grpSp>
          <p:nvGrpSpPr>
            <p:cNvPr id="101" name="Group 100">
              <a:extLst>
                <a:ext uri="{FF2B5EF4-FFF2-40B4-BE49-F238E27FC236}">
                  <a16:creationId xmlns:a16="http://schemas.microsoft.com/office/drawing/2014/main" id="{77A07DA8-36ED-4D12-8EBD-0425B3701050}"/>
                </a:ext>
              </a:extLst>
            </p:cNvPr>
            <p:cNvGrpSpPr/>
            <p:nvPr/>
          </p:nvGrpSpPr>
          <p:grpSpPr>
            <a:xfrm>
              <a:off x="8021299" y="4709710"/>
              <a:ext cx="1400966" cy="633343"/>
              <a:chOff x="8218368" y="1379245"/>
              <a:chExt cx="1400966" cy="633343"/>
            </a:xfrm>
          </p:grpSpPr>
          <p:sp>
            <p:nvSpPr>
              <p:cNvPr id="102" name="Rectangle: Rounded Corners 101">
                <a:extLst>
                  <a:ext uri="{FF2B5EF4-FFF2-40B4-BE49-F238E27FC236}">
                    <a16:creationId xmlns:a16="http://schemas.microsoft.com/office/drawing/2014/main" id="{0E744893-121B-8E05-B0D3-96DBD091AF3E}"/>
                  </a:ext>
                </a:extLst>
              </p:cNvPr>
              <p:cNvSpPr/>
              <p:nvPr/>
            </p:nvSpPr>
            <p:spPr>
              <a:xfrm>
                <a:off x="8218368" y="1381021"/>
                <a:ext cx="1400966" cy="631567"/>
              </a:xfrm>
              <a:prstGeom prst="roundRect">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Integration Testing</a:t>
                </a:r>
              </a:p>
            </p:txBody>
          </p:sp>
          <p:sp>
            <p:nvSpPr>
              <p:cNvPr id="103" name="TextBox 102">
                <a:extLst>
                  <a:ext uri="{FF2B5EF4-FFF2-40B4-BE49-F238E27FC236}">
                    <a16:creationId xmlns:a16="http://schemas.microsoft.com/office/drawing/2014/main" id="{C655E222-86B3-FB04-4DC1-E1554C80E373}"/>
                  </a:ext>
                </a:extLst>
              </p:cNvPr>
              <p:cNvSpPr txBox="1"/>
              <p:nvPr/>
            </p:nvSpPr>
            <p:spPr>
              <a:xfrm>
                <a:off x="8220557" y="1379245"/>
                <a:ext cx="4692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5.3</a:t>
                </a:r>
              </a:p>
            </p:txBody>
          </p:sp>
        </p:grpSp>
        <p:grpSp>
          <p:nvGrpSpPr>
            <p:cNvPr id="81" name="Group 80">
              <a:extLst>
                <a:ext uri="{FF2B5EF4-FFF2-40B4-BE49-F238E27FC236}">
                  <a16:creationId xmlns:a16="http://schemas.microsoft.com/office/drawing/2014/main" id="{ACAF9549-9344-A5CA-F11E-8EAB80A2E527}"/>
                </a:ext>
              </a:extLst>
            </p:cNvPr>
            <p:cNvGrpSpPr/>
            <p:nvPr/>
          </p:nvGrpSpPr>
          <p:grpSpPr>
            <a:xfrm>
              <a:off x="8016044" y="5689799"/>
              <a:ext cx="1400966" cy="633343"/>
              <a:chOff x="8016044" y="5689799"/>
              <a:chExt cx="1400966" cy="633343"/>
            </a:xfrm>
          </p:grpSpPr>
          <p:sp>
            <p:nvSpPr>
              <p:cNvPr id="99" name="Rectangle: Rounded Corners 98">
                <a:extLst>
                  <a:ext uri="{FF2B5EF4-FFF2-40B4-BE49-F238E27FC236}">
                    <a16:creationId xmlns:a16="http://schemas.microsoft.com/office/drawing/2014/main" id="{0DE8570A-9FA6-DBC8-4A4A-4246F70808BB}"/>
                  </a:ext>
                </a:extLst>
              </p:cNvPr>
              <p:cNvSpPr/>
              <p:nvPr/>
            </p:nvSpPr>
            <p:spPr>
              <a:xfrm>
                <a:off x="8016044" y="5691575"/>
                <a:ext cx="1400966" cy="631567"/>
              </a:xfrm>
              <a:prstGeom prst="roundRect">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Performance Testing</a:t>
                </a:r>
              </a:p>
            </p:txBody>
          </p:sp>
          <p:sp>
            <p:nvSpPr>
              <p:cNvPr id="106" name="TextBox 105">
                <a:extLst>
                  <a:ext uri="{FF2B5EF4-FFF2-40B4-BE49-F238E27FC236}">
                    <a16:creationId xmlns:a16="http://schemas.microsoft.com/office/drawing/2014/main" id="{538DB9F5-A35C-A12D-A67A-BBF002AF39DF}"/>
                  </a:ext>
                </a:extLst>
              </p:cNvPr>
              <p:cNvSpPr txBox="1"/>
              <p:nvPr/>
            </p:nvSpPr>
            <p:spPr>
              <a:xfrm>
                <a:off x="8018233" y="5689799"/>
                <a:ext cx="482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5.4</a:t>
                </a:r>
              </a:p>
            </p:txBody>
          </p:sp>
        </p:grpSp>
        <p:grpSp>
          <p:nvGrpSpPr>
            <p:cNvPr id="80" name="Group 79">
              <a:extLst>
                <a:ext uri="{FF2B5EF4-FFF2-40B4-BE49-F238E27FC236}">
                  <a16:creationId xmlns:a16="http://schemas.microsoft.com/office/drawing/2014/main" id="{DBB65534-8215-F712-9DB5-F20E4B1020A2}"/>
                </a:ext>
              </a:extLst>
            </p:cNvPr>
            <p:cNvGrpSpPr/>
            <p:nvPr/>
          </p:nvGrpSpPr>
          <p:grpSpPr>
            <a:xfrm>
              <a:off x="6327819" y="5691113"/>
              <a:ext cx="1400966" cy="638597"/>
              <a:chOff x="6327819" y="5691113"/>
              <a:chExt cx="1400966" cy="638597"/>
            </a:xfrm>
          </p:grpSpPr>
          <p:sp>
            <p:nvSpPr>
              <p:cNvPr id="100" name="Rectangle: Rounded Corners 99">
                <a:extLst>
                  <a:ext uri="{FF2B5EF4-FFF2-40B4-BE49-F238E27FC236}">
                    <a16:creationId xmlns:a16="http://schemas.microsoft.com/office/drawing/2014/main" id="{2777B17C-590B-87DE-160A-8238438DE832}"/>
                  </a:ext>
                </a:extLst>
              </p:cNvPr>
              <p:cNvSpPr/>
              <p:nvPr/>
            </p:nvSpPr>
            <p:spPr>
              <a:xfrm>
                <a:off x="6327819" y="5698143"/>
                <a:ext cx="1400966" cy="631567"/>
              </a:xfrm>
              <a:prstGeom prst="round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UI development</a:t>
                </a:r>
              </a:p>
            </p:txBody>
          </p:sp>
          <p:sp>
            <p:nvSpPr>
              <p:cNvPr id="112" name="TextBox 111">
                <a:extLst>
                  <a:ext uri="{FF2B5EF4-FFF2-40B4-BE49-F238E27FC236}">
                    <a16:creationId xmlns:a16="http://schemas.microsoft.com/office/drawing/2014/main" id="{379D25C1-32C0-029D-BCA1-825CB83DE4C2}"/>
                  </a:ext>
                </a:extLst>
              </p:cNvPr>
              <p:cNvSpPr txBox="1"/>
              <p:nvPr/>
            </p:nvSpPr>
            <p:spPr>
              <a:xfrm>
                <a:off x="6337892" y="5691113"/>
                <a:ext cx="54806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4.4</a:t>
                </a:r>
              </a:p>
            </p:txBody>
          </p:sp>
        </p:grpSp>
        <p:sp>
          <p:nvSpPr>
            <p:cNvPr id="114" name="TextBox 113">
              <a:extLst>
                <a:ext uri="{FF2B5EF4-FFF2-40B4-BE49-F238E27FC236}">
                  <a16:creationId xmlns:a16="http://schemas.microsoft.com/office/drawing/2014/main" id="{72F140B8-C5A7-8A46-D540-C0239FDDA47C}"/>
                </a:ext>
              </a:extLst>
            </p:cNvPr>
            <p:cNvSpPr txBox="1"/>
            <p:nvPr/>
          </p:nvSpPr>
          <p:spPr>
            <a:xfrm>
              <a:off x="6326067" y="4654530"/>
              <a:ext cx="5612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4.3</a:t>
              </a:r>
            </a:p>
          </p:txBody>
        </p:sp>
        <p:grpSp>
          <p:nvGrpSpPr>
            <p:cNvPr id="116" name="Group 115">
              <a:extLst>
                <a:ext uri="{FF2B5EF4-FFF2-40B4-BE49-F238E27FC236}">
                  <a16:creationId xmlns:a16="http://schemas.microsoft.com/office/drawing/2014/main" id="{C2E43725-3E64-7983-0726-30095F6CF214}"/>
                </a:ext>
              </a:extLst>
            </p:cNvPr>
            <p:cNvGrpSpPr/>
            <p:nvPr/>
          </p:nvGrpSpPr>
          <p:grpSpPr>
            <a:xfrm>
              <a:off x="9709523" y="2758728"/>
              <a:ext cx="1400966" cy="633343"/>
              <a:chOff x="9913161" y="1379245"/>
              <a:chExt cx="1400966" cy="633343"/>
            </a:xfrm>
          </p:grpSpPr>
          <p:sp>
            <p:nvSpPr>
              <p:cNvPr id="117" name="Rectangle: Rounded Corners 116">
                <a:extLst>
                  <a:ext uri="{FF2B5EF4-FFF2-40B4-BE49-F238E27FC236}">
                    <a16:creationId xmlns:a16="http://schemas.microsoft.com/office/drawing/2014/main" id="{EB05175B-72F0-55D2-68E6-B14E11905882}"/>
                  </a:ext>
                </a:extLst>
              </p:cNvPr>
              <p:cNvSpPr/>
              <p:nvPr/>
            </p:nvSpPr>
            <p:spPr>
              <a:xfrm>
                <a:off x="9913161" y="1381021"/>
                <a:ext cx="1400966" cy="631567"/>
              </a:xfrm>
              <a:prstGeom prst="round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solidFill>
                      <a:srgbClr val="000000"/>
                    </a:solidFill>
                  </a:rPr>
                  <a:t>TAF document</a:t>
                </a:r>
              </a:p>
            </p:txBody>
          </p:sp>
          <p:sp>
            <p:nvSpPr>
              <p:cNvPr id="118" name="TextBox 117">
                <a:extLst>
                  <a:ext uri="{FF2B5EF4-FFF2-40B4-BE49-F238E27FC236}">
                    <a16:creationId xmlns:a16="http://schemas.microsoft.com/office/drawing/2014/main" id="{D08A9B5D-E320-E81B-84C9-EDED81A1A23F}"/>
                  </a:ext>
                </a:extLst>
              </p:cNvPr>
              <p:cNvSpPr txBox="1"/>
              <p:nvPr/>
            </p:nvSpPr>
            <p:spPr>
              <a:xfrm>
                <a:off x="9915350" y="1379245"/>
                <a:ext cx="55463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a:t>6.1</a:t>
                </a:r>
              </a:p>
            </p:txBody>
          </p:sp>
        </p:grpSp>
        <p:cxnSp>
          <p:nvCxnSpPr>
            <p:cNvPr id="42" name="Straight Arrow Connector 41">
              <a:extLst>
                <a:ext uri="{FF2B5EF4-FFF2-40B4-BE49-F238E27FC236}">
                  <a16:creationId xmlns:a16="http://schemas.microsoft.com/office/drawing/2014/main" id="{0093FA41-07AE-A4DB-E4C8-E3F2FB47E4D4}"/>
                </a:ext>
              </a:extLst>
            </p:cNvPr>
            <p:cNvCxnSpPr>
              <a:cxnSpLocks/>
            </p:cNvCxnSpPr>
            <p:nvPr/>
          </p:nvCxnSpPr>
          <p:spPr>
            <a:xfrm>
              <a:off x="2010752" y="2414478"/>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11F12DA-908D-10C3-197A-68E15A5A72D8}"/>
                </a:ext>
              </a:extLst>
            </p:cNvPr>
            <p:cNvCxnSpPr>
              <a:cxnSpLocks/>
            </p:cNvCxnSpPr>
            <p:nvPr/>
          </p:nvCxnSpPr>
          <p:spPr>
            <a:xfrm>
              <a:off x="1977908" y="3380116"/>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9B4F5ABB-1E88-A5F1-A85E-CCEC47C9FECC}"/>
                </a:ext>
              </a:extLst>
            </p:cNvPr>
            <p:cNvCxnSpPr>
              <a:cxnSpLocks/>
            </p:cNvCxnSpPr>
            <p:nvPr/>
          </p:nvCxnSpPr>
          <p:spPr>
            <a:xfrm>
              <a:off x="1977908" y="4352323"/>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763DF857-A915-FE6C-081A-83697E4D0012}"/>
                </a:ext>
              </a:extLst>
            </p:cNvPr>
            <p:cNvCxnSpPr>
              <a:cxnSpLocks/>
            </p:cNvCxnSpPr>
            <p:nvPr/>
          </p:nvCxnSpPr>
          <p:spPr>
            <a:xfrm>
              <a:off x="3685839" y="2421047"/>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1D845A5-56E5-CA8B-8193-8320C4BD1F34}"/>
                </a:ext>
              </a:extLst>
            </p:cNvPr>
            <p:cNvCxnSpPr>
              <a:cxnSpLocks/>
            </p:cNvCxnSpPr>
            <p:nvPr/>
          </p:nvCxnSpPr>
          <p:spPr>
            <a:xfrm>
              <a:off x="3685838" y="3412960"/>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19F0472C-6E6E-EC4F-683C-23239658EC03}"/>
                </a:ext>
              </a:extLst>
            </p:cNvPr>
            <p:cNvCxnSpPr>
              <a:cxnSpLocks/>
            </p:cNvCxnSpPr>
            <p:nvPr/>
          </p:nvCxnSpPr>
          <p:spPr>
            <a:xfrm>
              <a:off x="3685839" y="4358892"/>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5F0AFB3F-6453-7C5F-F540-6C2C20349570}"/>
                </a:ext>
              </a:extLst>
            </p:cNvPr>
            <p:cNvCxnSpPr>
              <a:cxnSpLocks/>
            </p:cNvCxnSpPr>
            <p:nvPr/>
          </p:nvCxnSpPr>
          <p:spPr>
            <a:xfrm>
              <a:off x="5328080" y="2414478"/>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8EA348E3-22B4-3FA3-9BEB-5F1E01185ADA}"/>
                </a:ext>
              </a:extLst>
            </p:cNvPr>
            <p:cNvCxnSpPr>
              <a:cxnSpLocks/>
            </p:cNvCxnSpPr>
            <p:nvPr/>
          </p:nvCxnSpPr>
          <p:spPr>
            <a:xfrm>
              <a:off x="5328080" y="3399823"/>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1F0C0E3E-BA42-28C4-9F01-BA5A5A219B76}"/>
                </a:ext>
              </a:extLst>
            </p:cNvPr>
            <p:cNvCxnSpPr>
              <a:cxnSpLocks/>
            </p:cNvCxnSpPr>
            <p:nvPr/>
          </p:nvCxnSpPr>
          <p:spPr>
            <a:xfrm>
              <a:off x="7029442" y="2421047"/>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804999B5-5F08-3DD8-444C-DBC8A7F24FFA}"/>
                </a:ext>
              </a:extLst>
            </p:cNvPr>
            <p:cNvCxnSpPr>
              <a:cxnSpLocks/>
            </p:cNvCxnSpPr>
            <p:nvPr/>
          </p:nvCxnSpPr>
          <p:spPr>
            <a:xfrm>
              <a:off x="7022873" y="3380116"/>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B3DBD417-9AEF-9381-27CC-C79C7EFB7F78}"/>
                </a:ext>
              </a:extLst>
            </p:cNvPr>
            <p:cNvCxnSpPr>
              <a:cxnSpLocks/>
            </p:cNvCxnSpPr>
            <p:nvPr/>
          </p:nvCxnSpPr>
          <p:spPr>
            <a:xfrm>
              <a:off x="7022873" y="4385168"/>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6E18AE81-EB22-1EF4-BEB6-A0F1639BDE15}"/>
                </a:ext>
              </a:extLst>
            </p:cNvPr>
            <p:cNvCxnSpPr>
              <a:cxnSpLocks/>
            </p:cNvCxnSpPr>
            <p:nvPr/>
          </p:nvCxnSpPr>
          <p:spPr>
            <a:xfrm>
              <a:off x="7055718" y="5324529"/>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EC83B1C9-AB33-F46B-F2E7-F9A4DD5707F6}"/>
                </a:ext>
              </a:extLst>
            </p:cNvPr>
            <p:cNvCxnSpPr>
              <a:cxnSpLocks/>
            </p:cNvCxnSpPr>
            <p:nvPr/>
          </p:nvCxnSpPr>
          <p:spPr>
            <a:xfrm>
              <a:off x="8711098" y="2421047"/>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4898259-A597-8FAC-01DD-DC3F43E449D8}"/>
                </a:ext>
              </a:extLst>
            </p:cNvPr>
            <p:cNvCxnSpPr>
              <a:cxnSpLocks/>
            </p:cNvCxnSpPr>
            <p:nvPr/>
          </p:nvCxnSpPr>
          <p:spPr>
            <a:xfrm>
              <a:off x="8717666" y="3399822"/>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5C3A5158-97A8-24BE-F4C3-95B072FC513F}"/>
                </a:ext>
              </a:extLst>
            </p:cNvPr>
            <p:cNvCxnSpPr>
              <a:cxnSpLocks/>
            </p:cNvCxnSpPr>
            <p:nvPr/>
          </p:nvCxnSpPr>
          <p:spPr>
            <a:xfrm>
              <a:off x="8717667" y="4352323"/>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F9E2FC75-DC36-CDC7-E68D-21286DDFD2AC}"/>
                </a:ext>
              </a:extLst>
            </p:cNvPr>
            <p:cNvCxnSpPr>
              <a:cxnSpLocks/>
            </p:cNvCxnSpPr>
            <p:nvPr/>
          </p:nvCxnSpPr>
          <p:spPr>
            <a:xfrm>
              <a:off x="8717667" y="5324530"/>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A35EA50E-5F88-09E8-F263-8BE2B8471FC9}"/>
                </a:ext>
              </a:extLst>
            </p:cNvPr>
            <p:cNvCxnSpPr>
              <a:cxnSpLocks/>
            </p:cNvCxnSpPr>
            <p:nvPr/>
          </p:nvCxnSpPr>
          <p:spPr>
            <a:xfrm>
              <a:off x="10405891" y="2421047"/>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8214200D-98D7-5749-9AB6-EBA13C143A15}"/>
                </a:ext>
              </a:extLst>
            </p:cNvPr>
            <p:cNvCxnSpPr>
              <a:cxnSpLocks/>
            </p:cNvCxnSpPr>
            <p:nvPr/>
          </p:nvCxnSpPr>
          <p:spPr>
            <a:xfrm>
              <a:off x="10405891" y="3380116"/>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36E50954-6AC3-9405-B050-E6D7791A7C46}"/>
                </a:ext>
              </a:extLst>
            </p:cNvPr>
            <p:cNvCxnSpPr>
              <a:cxnSpLocks/>
            </p:cNvCxnSpPr>
            <p:nvPr/>
          </p:nvCxnSpPr>
          <p:spPr>
            <a:xfrm>
              <a:off x="10373046" y="4352323"/>
              <a:ext cx="590" cy="34241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5" name="Rectangle: Rounded Corners 14">
            <a:extLst>
              <a:ext uri="{FF2B5EF4-FFF2-40B4-BE49-F238E27FC236}">
                <a16:creationId xmlns:a16="http://schemas.microsoft.com/office/drawing/2014/main" id="{7A0F91E5-0E84-AE25-3989-158DDE08CF09}"/>
              </a:ext>
            </a:extLst>
          </p:cNvPr>
          <p:cNvSpPr/>
          <p:nvPr/>
        </p:nvSpPr>
        <p:spPr>
          <a:xfrm>
            <a:off x="2576960" y="1209256"/>
            <a:ext cx="7284533" cy="41070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ea typeface="Cambria"/>
              </a:rPr>
              <a:t>Work Breakdown Structure</a:t>
            </a:r>
          </a:p>
        </p:txBody>
      </p:sp>
    </p:spTree>
    <p:extLst>
      <p:ext uri="{BB962C8B-B14F-4D97-AF65-F5344CB8AC3E}">
        <p14:creationId xmlns:p14="http://schemas.microsoft.com/office/powerpoint/2010/main" val="4145468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0AA59-B24D-64FC-A95C-AD8BB91A60A5}"/>
              </a:ext>
            </a:extLst>
          </p:cNvPr>
          <p:cNvSpPr>
            <a:spLocks noGrp="1"/>
          </p:cNvSpPr>
          <p:nvPr>
            <p:ph type="ctrTitle"/>
          </p:nvPr>
        </p:nvSpPr>
        <p:spPr>
          <a:xfrm>
            <a:off x="914400" y="2691143"/>
            <a:ext cx="10363200" cy="938064"/>
          </a:xfrm>
        </p:spPr>
        <p:txBody>
          <a:bodyPr>
            <a:normAutofit/>
          </a:bodyPr>
          <a:lstStyle/>
          <a:p>
            <a:pPr algn="l"/>
            <a:r>
              <a:rPr lang="en-US" sz="3000" b="1" cap="all">
                <a:latin typeface="Adobe Devanagari"/>
              </a:rPr>
              <a:t>It22343420 | T.M Poornima </a:t>
            </a:r>
            <a:endParaRPr lang="en-US" sz="3000">
              <a:latin typeface="Adobe Devanagari"/>
            </a:endParaRPr>
          </a:p>
        </p:txBody>
      </p:sp>
      <p:sp>
        <p:nvSpPr>
          <p:cNvPr id="3" name="Subtitle 2">
            <a:extLst>
              <a:ext uri="{FF2B5EF4-FFF2-40B4-BE49-F238E27FC236}">
                <a16:creationId xmlns:a16="http://schemas.microsoft.com/office/drawing/2014/main" id="{3E7869FC-D368-C2DF-D483-EB322C9D48A8}"/>
              </a:ext>
            </a:extLst>
          </p:cNvPr>
          <p:cNvSpPr>
            <a:spLocks noGrp="1"/>
          </p:cNvSpPr>
          <p:nvPr>
            <p:ph type="subTitle" idx="1"/>
          </p:nvPr>
        </p:nvSpPr>
        <p:spPr>
          <a:xfrm>
            <a:off x="908650" y="3886200"/>
            <a:ext cx="9454550" cy="1752600"/>
          </a:xfrm>
        </p:spPr>
        <p:txBody>
          <a:bodyPr vert="horz" lIns="91440" tIns="45720" rIns="91440" bIns="45720" rtlCol="0" anchor="t">
            <a:normAutofit/>
          </a:bodyPr>
          <a:lstStyle/>
          <a:p>
            <a:pPr algn="l"/>
            <a:r>
              <a:rPr lang="en-US" sz="2000">
                <a:ea typeface="Cambria"/>
              </a:rPr>
              <a:t>BSc (Hons) in Information Technology Specialization in Information Technology</a:t>
            </a:r>
            <a:endParaRPr lang="en-US">
              <a:ea typeface="Cambria"/>
            </a:endParaRPr>
          </a:p>
          <a:p>
            <a:pPr algn="l"/>
            <a:r>
              <a:rPr lang="en-US" sz="2400" b="1">
                <a:solidFill>
                  <a:srgbClr val="000000"/>
                </a:solidFill>
                <a:ea typeface="Cambria"/>
              </a:rPr>
              <a:t>Neural Network Based Health Outcome Prediction Using Multi Domain Time Series Data</a:t>
            </a:r>
            <a:endParaRPr lang="en-US"/>
          </a:p>
          <a:p>
            <a:endParaRPr lang="en-US">
              <a:ea typeface="Cambria"/>
            </a:endParaRPr>
          </a:p>
        </p:txBody>
      </p:sp>
      <p:pic>
        <p:nvPicPr>
          <p:cNvPr id="4" name="Picture 3" descr="A person in a red shirt&#10;&#10;AI-generated content may be incorrect.">
            <a:extLst>
              <a:ext uri="{FF2B5EF4-FFF2-40B4-BE49-F238E27FC236}">
                <a16:creationId xmlns:a16="http://schemas.microsoft.com/office/drawing/2014/main" id="{8331054D-9B06-3D65-A528-463C747EDE95}"/>
              </a:ext>
            </a:extLst>
          </p:cNvPr>
          <p:cNvPicPr>
            <a:picLocks noChangeAspect="1"/>
          </p:cNvPicPr>
          <p:nvPr/>
        </p:nvPicPr>
        <p:blipFill>
          <a:blip r:embed="rId2"/>
          <a:stretch>
            <a:fillRect/>
          </a:stretch>
        </p:blipFill>
        <p:spPr>
          <a:xfrm flipH="1">
            <a:off x="10133435" y="158151"/>
            <a:ext cx="1903021" cy="2401019"/>
          </a:xfrm>
          <a:prstGeom prst="rect">
            <a:avLst/>
          </a:prstGeom>
        </p:spPr>
      </p:pic>
      <p:sp>
        <p:nvSpPr>
          <p:cNvPr id="6" name="Subtitle 2">
            <a:extLst>
              <a:ext uri="{FF2B5EF4-FFF2-40B4-BE49-F238E27FC236}">
                <a16:creationId xmlns:a16="http://schemas.microsoft.com/office/drawing/2014/main" id="{191202EA-0DB4-1B9F-0FEC-8630B3664C9D}"/>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Tree>
    <p:extLst>
      <p:ext uri="{BB962C8B-B14F-4D97-AF65-F5344CB8AC3E}">
        <p14:creationId xmlns:p14="http://schemas.microsoft.com/office/powerpoint/2010/main" val="854494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F311E-903B-9274-B19B-7507737FB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454B5-4145-54A4-D454-760075F3FF30}"/>
              </a:ext>
            </a:extLst>
          </p:cNvPr>
          <p:cNvSpPr>
            <a:spLocks noGrp="1"/>
          </p:cNvSpPr>
          <p:nvPr>
            <p:ph type="ctrTitle"/>
          </p:nvPr>
        </p:nvSpPr>
        <p:spPr>
          <a:xfrm>
            <a:off x="267419" y="994614"/>
            <a:ext cx="2685692" cy="549876"/>
          </a:xfrm>
        </p:spPr>
        <p:txBody>
          <a:bodyPr>
            <a:normAutofit/>
          </a:bodyPr>
          <a:lstStyle/>
          <a:p>
            <a:r>
              <a:rPr lang="en-US" sz="2200" b="1" cap="all">
                <a:latin typeface="Adobe Devanagari"/>
              </a:rPr>
              <a:t>Research Gap</a:t>
            </a:r>
            <a:endParaRPr lang="en-US" sz="2200" b="1"/>
          </a:p>
        </p:txBody>
      </p:sp>
      <p:sp>
        <p:nvSpPr>
          <p:cNvPr id="3" name="Subtitle 2">
            <a:extLst>
              <a:ext uri="{FF2B5EF4-FFF2-40B4-BE49-F238E27FC236}">
                <a16:creationId xmlns:a16="http://schemas.microsoft.com/office/drawing/2014/main" id="{2641CA91-73DE-7EE6-80B0-895D780054C4}"/>
              </a:ext>
            </a:extLst>
          </p:cNvPr>
          <p:cNvSpPr>
            <a:spLocks noGrp="1"/>
          </p:cNvSpPr>
          <p:nvPr>
            <p:ph type="subTitle" idx="1"/>
          </p:nvPr>
        </p:nvSpPr>
        <p:spPr>
          <a:xfrm>
            <a:off x="951781" y="1542691"/>
            <a:ext cx="10863532" cy="1752599"/>
          </a:xfrm>
        </p:spPr>
        <p:txBody>
          <a:bodyPr vert="horz" lIns="91440" tIns="45720" rIns="91440" bIns="45720" rtlCol="0" anchor="t">
            <a:normAutofit/>
          </a:bodyPr>
          <a:lstStyle/>
          <a:p>
            <a:pPr marL="342900" indent="-342900" algn="l">
              <a:buFont typeface="Wingdings" pitchFamily="34" charset="0"/>
              <a:buChar char="§"/>
            </a:pPr>
            <a:r>
              <a:rPr lang="en-US" sz="2200" b="1">
                <a:solidFill>
                  <a:srgbClr val="000000"/>
                </a:solidFill>
                <a:ea typeface="Cambria"/>
              </a:rPr>
              <a:t>Lack of Integrated Multi-Domain Modeling</a:t>
            </a:r>
            <a:endParaRPr lang="en-US" sz="2200" b="1">
              <a:ea typeface="Cambria"/>
            </a:endParaRPr>
          </a:p>
          <a:p>
            <a:pPr marL="342900" indent="-342900" algn="l">
              <a:buFont typeface="Wingdings" pitchFamily="34" charset="0"/>
              <a:buChar char="§"/>
            </a:pPr>
            <a:r>
              <a:rPr lang="en-US" sz="2200" b="1">
                <a:solidFill>
                  <a:srgbClr val="000000"/>
                </a:solidFill>
                <a:ea typeface="Cambria"/>
              </a:rPr>
              <a:t>Overreliance on Static / Short-Term Data</a:t>
            </a:r>
            <a:r>
              <a:rPr lang="en-US" sz="2200">
                <a:latin typeface="Arial"/>
                <a:ea typeface="Cambria"/>
                <a:cs typeface="Arial"/>
              </a:rPr>
              <a:t> </a:t>
            </a:r>
            <a:endParaRPr lang="en-US" sz="2200">
              <a:solidFill>
                <a:srgbClr val="000000"/>
              </a:solidFill>
              <a:ea typeface="Cambria"/>
            </a:endParaRPr>
          </a:p>
          <a:p>
            <a:pPr marL="342900" indent="-342900" algn="l">
              <a:buFont typeface="Wingdings" pitchFamily="34" charset="0"/>
              <a:buChar char="§"/>
            </a:pPr>
            <a:r>
              <a:rPr lang="en-US" sz="2200" b="1">
                <a:solidFill>
                  <a:srgbClr val="000000"/>
                </a:solidFill>
                <a:ea typeface="Cambria"/>
              </a:rPr>
              <a:t>Limited Model Explainability</a:t>
            </a:r>
            <a:endParaRPr lang="en-US" sz="2200" b="1">
              <a:ea typeface="Cambria"/>
            </a:endParaRPr>
          </a:p>
          <a:p>
            <a:pPr algn="l"/>
            <a:r>
              <a:rPr lang="en-US" sz="2200">
                <a:latin typeface="Arial"/>
                <a:ea typeface="Cambria"/>
                <a:cs typeface="Arial"/>
              </a:rPr>
              <a:t>  </a:t>
            </a:r>
            <a:endParaRPr lang="en-US" sz="2200">
              <a:solidFill>
                <a:srgbClr val="000000"/>
              </a:solidFill>
              <a:ea typeface="Cambria"/>
            </a:endParaRPr>
          </a:p>
          <a:p>
            <a:pPr algn="l"/>
            <a:endParaRPr lang="en-US" sz="2200">
              <a:ea typeface="Cambria"/>
            </a:endParaRPr>
          </a:p>
        </p:txBody>
      </p:sp>
      <p:sp>
        <p:nvSpPr>
          <p:cNvPr id="6" name="Subtitle 2">
            <a:extLst>
              <a:ext uri="{FF2B5EF4-FFF2-40B4-BE49-F238E27FC236}">
                <a16:creationId xmlns:a16="http://schemas.microsoft.com/office/drawing/2014/main" id="{39950621-13A7-8257-BFB9-B4F84A8B7849}"/>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4" name="TextBox 3">
            <a:extLst>
              <a:ext uri="{FF2B5EF4-FFF2-40B4-BE49-F238E27FC236}">
                <a16:creationId xmlns:a16="http://schemas.microsoft.com/office/drawing/2014/main" id="{FB6E87B6-BE85-A56E-3D84-48CA96AFF305}"/>
              </a:ext>
            </a:extLst>
          </p:cNvPr>
          <p:cNvSpPr txBox="1"/>
          <p:nvPr/>
        </p:nvSpPr>
        <p:spPr>
          <a:xfrm>
            <a:off x="957532" y="181155"/>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graphicFrame>
        <p:nvGraphicFramePr>
          <p:cNvPr id="8" name="Table 7">
            <a:extLst>
              <a:ext uri="{FF2B5EF4-FFF2-40B4-BE49-F238E27FC236}">
                <a16:creationId xmlns:a16="http://schemas.microsoft.com/office/drawing/2014/main" id="{BE9100FB-8E7F-EE26-3269-E3A3A72F55F7}"/>
              </a:ext>
            </a:extLst>
          </p:cNvPr>
          <p:cNvGraphicFramePr>
            <a:graphicFrameLocks noGrp="1"/>
          </p:cNvGraphicFramePr>
          <p:nvPr>
            <p:extLst>
              <p:ext uri="{D42A27DB-BD31-4B8C-83A1-F6EECF244321}">
                <p14:modId xmlns:p14="http://schemas.microsoft.com/office/powerpoint/2010/main" val="3799409230"/>
              </p:ext>
            </p:extLst>
          </p:nvPr>
        </p:nvGraphicFramePr>
        <p:xfrm>
          <a:off x="703340" y="2950866"/>
          <a:ext cx="10828091" cy="3405510"/>
        </p:xfrm>
        <a:graphic>
          <a:graphicData uri="http://schemas.openxmlformats.org/drawingml/2006/table">
            <a:tbl>
              <a:tblPr firstRow="1" bandRow="1">
                <a:tableStyleId>{8EC20E35-A176-4012-BC5E-935CFFF8708E}</a:tableStyleId>
              </a:tblPr>
              <a:tblGrid>
                <a:gridCol w="2192693">
                  <a:extLst>
                    <a:ext uri="{9D8B030D-6E8A-4147-A177-3AD203B41FA5}">
                      <a16:colId xmlns:a16="http://schemas.microsoft.com/office/drawing/2014/main" val="4204702636"/>
                    </a:ext>
                  </a:extLst>
                </a:gridCol>
                <a:gridCol w="3032449">
                  <a:extLst>
                    <a:ext uri="{9D8B030D-6E8A-4147-A177-3AD203B41FA5}">
                      <a16:colId xmlns:a16="http://schemas.microsoft.com/office/drawing/2014/main" val="2806574073"/>
                    </a:ext>
                  </a:extLst>
                </a:gridCol>
                <a:gridCol w="5602949">
                  <a:extLst>
                    <a:ext uri="{9D8B030D-6E8A-4147-A177-3AD203B41FA5}">
                      <a16:colId xmlns:a16="http://schemas.microsoft.com/office/drawing/2014/main" val="1925782694"/>
                    </a:ext>
                  </a:extLst>
                </a:gridCol>
              </a:tblGrid>
              <a:tr h="342217">
                <a:tc>
                  <a:txBody>
                    <a:bodyPr/>
                    <a:lstStyle/>
                    <a:p>
                      <a:pPr lvl="0">
                        <a:buNone/>
                      </a:pPr>
                      <a:r>
                        <a:rPr lang="en-US" sz="2000" b="1" i="0" u="none" strike="noStrike" baseline="0" noProof="0">
                          <a:solidFill>
                            <a:srgbClr val="FFFFFF"/>
                          </a:solidFill>
                          <a:latin typeface="Cambria"/>
                        </a:rPr>
                        <a:t>Dimension</a:t>
                      </a:r>
                      <a:endParaRPr lang="en-US" sz="2000"/>
                    </a:p>
                  </a:txBody>
                  <a:tcPr/>
                </a:tc>
                <a:tc>
                  <a:txBody>
                    <a:bodyPr/>
                    <a:lstStyle/>
                    <a:p>
                      <a:pPr lvl="0">
                        <a:buNone/>
                      </a:pPr>
                      <a:r>
                        <a:rPr lang="en-US" sz="2000" u="none" strike="noStrike" noProof="0"/>
                        <a:t>Existing Apps</a:t>
                      </a:r>
                      <a:endParaRPr lang="en-US" sz="2000"/>
                    </a:p>
                  </a:txBody>
                  <a:tcPr/>
                </a:tc>
                <a:tc>
                  <a:txBody>
                    <a:bodyPr/>
                    <a:lstStyle/>
                    <a:p>
                      <a:pPr lvl="0">
                        <a:buNone/>
                      </a:pPr>
                      <a:r>
                        <a:rPr lang="en-US" sz="2000" b="1" i="0" u="none" strike="noStrike" baseline="0" noProof="0">
                          <a:solidFill>
                            <a:srgbClr val="FFFFFF"/>
                          </a:solidFill>
                          <a:latin typeface="Cambria"/>
                        </a:rPr>
                        <a:t>Proposed System</a:t>
                      </a:r>
                      <a:endParaRPr lang="en-US" sz="2000"/>
                    </a:p>
                  </a:txBody>
                  <a:tcPr/>
                </a:tc>
                <a:extLst>
                  <a:ext uri="{0D108BD9-81ED-4DB2-BD59-A6C34878D82A}">
                    <a16:rowId xmlns:a16="http://schemas.microsoft.com/office/drawing/2014/main" val="2311921444"/>
                  </a:ext>
                </a:extLst>
              </a:tr>
              <a:tr h="789730">
                <a:tc>
                  <a:txBody>
                    <a:bodyPr/>
                    <a:lstStyle/>
                    <a:p>
                      <a:pPr lvl="0">
                        <a:buNone/>
                      </a:pPr>
                      <a:r>
                        <a:rPr lang="en-US" sz="1800" u="none" strike="noStrike" noProof="0"/>
                        <a:t>Data Quality</a:t>
                      </a:r>
                      <a:endParaRPr lang="en-US" sz="1800"/>
                    </a:p>
                  </a:txBody>
                  <a:tcPr/>
                </a:tc>
                <a:tc>
                  <a:txBody>
                    <a:bodyPr/>
                    <a:lstStyle/>
                    <a:p>
                      <a:pPr lvl="0">
                        <a:buNone/>
                      </a:pPr>
                      <a:r>
                        <a:rPr lang="en-US" sz="1800" u="none" strike="noStrike" noProof="0"/>
                        <a:t>MyFitnessPal – manual entry or barcode scan</a:t>
                      </a:r>
                      <a:endParaRPr lang="en-US" sz="1800"/>
                    </a:p>
                  </a:txBody>
                  <a:tcPr/>
                </a:tc>
                <a:tc>
                  <a:txBody>
                    <a:bodyPr/>
                    <a:lstStyle/>
                    <a:p>
                      <a:pPr lvl="0">
                        <a:buNone/>
                      </a:pPr>
                      <a:r>
                        <a:rPr lang="en-US" sz="1800" u="none" strike="noStrike" noProof="0"/>
                        <a:t>Input food/activity data and logs automatically; wearable + nutrition logs integration</a:t>
                      </a:r>
                      <a:endParaRPr lang="en-US" sz="1800"/>
                    </a:p>
                  </a:txBody>
                  <a:tcPr/>
                </a:tc>
                <a:extLst>
                  <a:ext uri="{0D108BD9-81ED-4DB2-BD59-A6C34878D82A}">
                    <a16:rowId xmlns:a16="http://schemas.microsoft.com/office/drawing/2014/main" val="3291149476"/>
                  </a:ext>
                </a:extLst>
              </a:tr>
              <a:tr h="552812">
                <a:tc>
                  <a:txBody>
                    <a:bodyPr/>
                    <a:lstStyle/>
                    <a:p>
                      <a:pPr lvl="0">
                        <a:buNone/>
                      </a:pPr>
                      <a:r>
                        <a:rPr lang="en-US" sz="1800" u="none" strike="noStrike" noProof="0"/>
                        <a:t>Food Analysis</a:t>
                      </a:r>
                      <a:endParaRPr lang="en-US" sz="1800"/>
                    </a:p>
                  </a:txBody>
                  <a:tcPr/>
                </a:tc>
                <a:tc>
                  <a:txBody>
                    <a:bodyPr/>
                    <a:lstStyle/>
                    <a:p>
                      <a:pPr lvl="0">
                        <a:buNone/>
                      </a:pPr>
                      <a:r>
                        <a:rPr lang="en-US" sz="1800" u="none" strike="noStrike" noProof="0"/>
                        <a:t>CalPal – only predicts calories</a:t>
                      </a:r>
                      <a:endParaRPr lang="en-US" sz="1800"/>
                    </a:p>
                  </a:txBody>
                  <a:tcPr/>
                </a:tc>
                <a:tc>
                  <a:txBody>
                    <a:bodyPr/>
                    <a:lstStyle/>
                    <a:p>
                      <a:pPr lvl="0">
                        <a:buNone/>
                      </a:pPr>
                      <a:r>
                        <a:rPr lang="en-US" sz="1800" u="none" strike="noStrike" noProof="0"/>
                        <a:t>Predicts calories, nutrients, and ingredient balance</a:t>
                      </a:r>
                      <a:endParaRPr lang="en-US" sz="1800"/>
                    </a:p>
                  </a:txBody>
                  <a:tcPr/>
                </a:tc>
                <a:extLst>
                  <a:ext uri="{0D108BD9-81ED-4DB2-BD59-A6C34878D82A}">
                    <a16:rowId xmlns:a16="http://schemas.microsoft.com/office/drawing/2014/main" val="3724806536"/>
                  </a:ext>
                </a:extLst>
              </a:tr>
              <a:tr h="789730">
                <a:tc>
                  <a:txBody>
                    <a:bodyPr/>
                    <a:lstStyle/>
                    <a:p>
                      <a:pPr lvl="0">
                        <a:buNone/>
                      </a:pPr>
                      <a:r>
                        <a:rPr lang="en-US" sz="1800" u="none" strike="noStrike" noProof="0"/>
                        <a:t>Personalization &amp; Warnings</a:t>
                      </a:r>
                      <a:endParaRPr lang="en-US" sz="1800"/>
                    </a:p>
                  </a:txBody>
                  <a:tcPr/>
                </a:tc>
                <a:tc>
                  <a:txBody>
                    <a:bodyPr/>
                    <a:lstStyle/>
                    <a:p>
                      <a:pPr lvl="0">
                        <a:buNone/>
                      </a:pPr>
                      <a:r>
                        <a:rPr lang="en-US" sz="1800" u="none" strike="noStrike" noProof="0"/>
                        <a:t>Yazio – no personalized alternatives or risk warnings</a:t>
                      </a:r>
                      <a:endParaRPr lang="en-US" sz="1800"/>
                    </a:p>
                  </a:txBody>
                  <a:tcPr/>
                </a:tc>
                <a:tc>
                  <a:txBody>
                    <a:bodyPr/>
                    <a:lstStyle/>
                    <a:p>
                      <a:pPr lvl="0">
                        <a:buNone/>
                      </a:pPr>
                      <a:r>
                        <a:rPr lang="en-US" sz="1800" u="none" strike="noStrike" noProof="0"/>
                        <a:t>Gives personalized suggestions and unhealthy food warnings (e.g., high sodium, fatigue risk)</a:t>
                      </a:r>
                      <a:endParaRPr lang="en-US" sz="1800"/>
                    </a:p>
                  </a:txBody>
                  <a:tcPr/>
                </a:tc>
                <a:extLst>
                  <a:ext uri="{0D108BD9-81ED-4DB2-BD59-A6C34878D82A}">
                    <a16:rowId xmlns:a16="http://schemas.microsoft.com/office/drawing/2014/main" val="625785443"/>
                  </a:ext>
                </a:extLst>
              </a:tr>
              <a:tr h="789730">
                <a:tc>
                  <a:txBody>
                    <a:bodyPr/>
                    <a:lstStyle/>
                    <a:p>
                      <a:pPr lvl="0">
                        <a:buNone/>
                      </a:pPr>
                      <a:r>
                        <a:rPr lang="en-US" sz="1800" u="none" strike="noStrike" noProof="0"/>
                        <a:t>Prediction Ability</a:t>
                      </a:r>
                      <a:endParaRPr lang="en-US" sz="1800"/>
                    </a:p>
                  </a:txBody>
                  <a:tcPr/>
                </a:tc>
                <a:tc>
                  <a:txBody>
                    <a:bodyPr/>
                    <a:lstStyle/>
                    <a:p>
                      <a:pPr lvl="0">
                        <a:buNone/>
                      </a:pPr>
                      <a:r>
                        <a:rPr lang="en-US" sz="1800" u="none" strike="noStrike" noProof="0"/>
                        <a:t>Mostly static tracking apps</a:t>
                      </a:r>
                      <a:endParaRPr lang="en-US" sz="1800"/>
                    </a:p>
                  </a:txBody>
                  <a:tcPr/>
                </a:tc>
                <a:tc>
                  <a:txBody>
                    <a:bodyPr/>
                    <a:lstStyle/>
                    <a:p>
                      <a:pPr lvl="0">
                        <a:buNone/>
                      </a:pPr>
                      <a:r>
                        <a:rPr lang="en-US" sz="1800" u="none" strike="noStrike" noProof="0"/>
                        <a:t>Uses time-series deep learning (LSTM/GRU) for future trend prediction</a:t>
                      </a:r>
                      <a:endParaRPr lang="en-US" sz="1800"/>
                    </a:p>
                  </a:txBody>
                  <a:tcPr/>
                </a:tc>
                <a:extLst>
                  <a:ext uri="{0D108BD9-81ED-4DB2-BD59-A6C34878D82A}">
                    <a16:rowId xmlns:a16="http://schemas.microsoft.com/office/drawing/2014/main" val="2809834955"/>
                  </a:ext>
                </a:extLst>
              </a:tr>
            </a:tbl>
          </a:graphicData>
        </a:graphic>
      </p:graphicFrame>
    </p:spTree>
    <p:extLst>
      <p:ext uri="{BB962C8B-B14F-4D97-AF65-F5344CB8AC3E}">
        <p14:creationId xmlns:p14="http://schemas.microsoft.com/office/powerpoint/2010/main" val="3809674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C473-00F8-BC54-9012-D5159ACD089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A987638-E9D9-CD48-F2C9-D3DC1EBD3831}"/>
              </a:ext>
            </a:extLst>
          </p:cNvPr>
          <p:cNvSpPr>
            <a:spLocks noGrp="1"/>
          </p:cNvSpPr>
          <p:nvPr>
            <p:ph type="subTitle" idx="1"/>
          </p:nvPr>
        </p:nvSpPr>
        <p:spPr>
          <a:xfrm>
            <a:off x="448575" y="1470804"/>
            <a:ext cx="11366738" cy="5016259"/>
          </a:xfrm>
        </p:spPr>
        <p:txBody>
          <a:bodyPr vert="horz" lIns="91440" tIns="45720" rIns="91440" bIns="45720" rtlCol="0" anchor="t">
            <a:normAutofit/>
          </a:bodyPr>
          <a:lstStyle/>
          <a:p>
            <a:pPr algn="l"/>
            <a:r>
              <a:rPr lang="en-US" sz="2200" b="1">
                <a:solidFill>
                  <a:srgbClr val="000000"/>
                </a:solidFill>
                <a:ea typeface="Cambria"/>
              </a:rPr>
              <a:t>Research Problem</a:t>
            </a:r>
            <a:endParaRPr lang="en-US" sz="2200">
              <a:ea typeface="Cambria"/>
            </a:endParaRPr>
          </a:p>
          <a:p>
            <a:pPr marL="342900" indent="-342900" algn="l">
              <a:buChar char="•"/>
            </a:pPr>
            <a:r>
              <a:rPr lang="en-US" sz="2200">
                <a:solidFill>
                  <a:srgbClr val="000000"/>
                </a:solidFill>
                <a:ea typeface="Cambria"/>
              </a:rPr>
              <a:t>Existing health prediction models often focus on single domains (only nutrition, only activity, or only BMI), which limits accuracy and comprehensiveness.</a:t>
            </a:r>
            <a:endParaRPr lang="en-US">
              <a:ea typeface="Cambria"/>
            </a:endParaRPr>
          </a:p>
          <a:p>
            <a:pPr marL="342900" indent="-342900" algn="l">
              <a:buChar char="•"/>
            </a:pPr>
            <a:r>
              <a:rPr lang="en-US" sz="2200">
                <a:solidFill>
                  <a:srgbClr val="000000"/>
                </a:solidFill>
                <a:ea typeface="Cambria"/>
              </a:rPr>
              <a:t>Most models analyze static data snapshots instead of continuous time-series data, making them less effective for early risk detection.</a:t>
            </a:r>
            <a:endParaRPr lang="en-US">
              <a:ea typeface="Cambria"/>
            </a:endParaRPr>
          </a:p>
          <a:p>
            <a:pPr marL="342900" indent="-342900" algn="l">
              <a:buChar char="•"/>
            </a:pPr>
            <a:r>
              <a:rPr lang="en-US" sz="2200">
                <a:solidFill>
                  <a:srgbClr val="000000"/>
                </a:solidFill>
                <a:ea typeface="Cambria"/>
              </a:rPr>
              <a:t>Lack of explainability in deep learning models reduces user trust and clinical acceptance.</a:t>
            </a:r>
            <a:endParaRPr lang="en-US">
              <a:ea typeface="Cambria"/>
            </a:endParaRPr>
          </a:p>
          <a:p>
            <a:pPr algn="l"/>
            <a:endParaRPr lang="en-US" sz="2200">
              <a:solidFill>
                <a:srgbClr val="000000"/>
              </a:solidFill>
              <a:ea typeface="Cambria"/>
            </a:endParaRPr>
          </a:p>
          <a:p>
            <a:pPr algn="l"/>
            <a:r>
              <a:rPr lang="en-US" sz="2200" b="1">
                <a:solidFill>
                  <a:srgbClr val="000000"/>
                </a:solidFill>
                <a:ea typeface="Cambria"/>
              </a:rPr>
              <a:t>Research Question(AI powered health prediction system)</a:t>
            </a:r>
            <a:endParaRPr lang="en-US" sz="2200"/>
          </a:p>
          <a:p>
            <a:pPr marL="342900" indent="-342900" algn="l">
              <a:buChar char="•"/>
            </a:pPr>
            <a:r>
              <a:rPr lang="en-US" sz="2200">
                <a:solidFill>
                  <a:srgbClr val="000000"/>
                </a:solidFill>
                <a:ea typeface="Cambria"/>
              </a:rPr>
              <a:t>How can deep learning models (LSTM/GRU) be used to integrate nutrition, calorie intake, weight, BMI, and physical activity data to accurately predict health outcomes?</a:t>
            </a:r>
            <a:endParaRPr lang="en-US">
              <a:ea typeface="Cambria"/>
            </a:endParaRPr>
          </a:p>
          <a:p>
            <a:pPr marL="342900" indent="-342900" algn="l">
              <a:buChar char="•"/>
            </a:pPr>
            <a:r>
              <a:rPr lang="en-US" sz="2200">
                <a:solidFill>
                  <a:srgbClr val="000000"/>
                </a:solidFill>
                <a:ea typeface="Cambria"/>
              </a:rPr>
              <a:t>How can explainable AI improve trust and usability in personalized health prediction systems?</a:t>
            </a:r>
            <a:endParaRPr lang="en-US">
              <a:ea typeface="Cambria"/>
            </a:endParaRPr>
          </a:p>
          <a:p>
            <a:pPr algn="l"/>
            <a:endParaRPr lang="en-US" sz="2400" b="1">
              <a:solidFill>
                <a:srgbClr val="000000"/>
              </a:solidFill>
              <a:ea typeface="Cambria"/>
            </a:endParaRPr>
          </a:p>
        </p:txBody>
      </p:sp>
      <p:sp>
        <p:nvSpPr>
          <p:cNvPr id="6" name="Subtitle 2">
            <a:extLst>
              <a:ext uri="{FF2B5EF4-FFF2-40B4-BE49-F238E27FC236}">
                <a16:creationId xmlns:a16="http://schemas.microsoft.com/office/drawing/2014/main" id="{28C43FB9-19AD-AA0A-34D8-704C7B0961D2}"/>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8" name="TextBox 7">
            <a:extLst>
              <a:ext uri="{FF2B5EF4-FFF2-40B4-BE49-F238E27FC236}">
                <a16:creationId xmlns:a16="http://schemas.microsoft.com/office/drawing/2014/main" id="{D42749CD-85E7-6B43-93F9-47A2F15506DC}"/>
              </a:ext>
            </a:extLst>
          </p:cNvPr>
          <p:cNvSpPr txBox="1"/>
          <p:nvPr/>
        </p:nvSpPr>
        <p:spPr>
          <a:xfrm>
            <a:off x="957532" y="296174"/>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3612270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DC3A-5677-52D6-B3BA-E06C15106F9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4CC8A00-9ACB-671C-4D05-41D703587C99}"/>
              </a:ext>
            </a:extLst>
          </p:cNvPr>
          <p:cNvSpPr>
            <a:spLocks noGrp="1"/>
          </p:cNvSpPr>
          <p:nvPr>
            <p:ph type="subTitle" idx="1"/>
          </p:nvPr>
        </p:nvSpPr>
        <p:spPr>
          <a:xfrm>
            <a:off x="779254" y="1240767"/>
            <a:ext cx="10806022" cy="5160032"/>
          </a:xfrm>
        </p:spPr>
        <p:txBody>
          <a:bodyPr vert="horz" lIns="91440" tIns="45720" rIns="91440" bIns="45720" rtlCol="0" anchor="t">
            <a:normAutofit/>
          </a:bodyPr>
          <a:lstStyle/>
          <a:p>
            <a:pPr algn="l"/>
            <a:r>
              <a:rPr lang="en-US" sz="2200" b="1">
                <a:solidFill>
                  <a:srgbClr val="000000"/>
                </a:solidFill>
                <a:ea typeface="Cambria"/>
              </a:rPr>
              <a:t>Specific Objectives</a:t>
            </a:r>
            <a:endParaRPr lang="en-US" sz="2200"/>
          </a:p>
          <a:p>
            <a:pPr marL="342900" indent="-342900" algn="l">
              <a:buChar char="•"/>
            </a:pPr>
            <a:r>
              <a:rPr lang="en-US" sz="2200">
                <a:solidFill>
                  <a:srgbClr val="000000"/>
                </a:solidFill>
                <a:ea typeface="+mn-lt"/>
                <a:cs typeface="+mn-lt"/>
              </a:rPr>
              <a:t>Develop</a:t>
            </a:r>
            <a:r>
              <a:rPr lang="en-US" sz="2200">
                <a:solidFill>
                  <a:srgbClr val="000000"/>
                </a:solidFill>
                <a:ea typeface="Cambria"/>
              </a:rPr>
              <a:t> a neural network–based predictive model using longitudinal multi-domain health data.</a:t>
            </a:r>
            <a:endParaRPr lang="en-US" sz="2200">
              <a:ea typeface="Cambria"/>
            </a:endParaRPr>
          </a:p>
          <a:p>
            <a:pPr marL="342900" indent="-342900" algn="l">
              <a:buChar char="•"/>
            </a:pPr>
            <a:r>
              <a:rPr lang="en-US" sz="2200">
                <a:solidFill>
                  <a:srgbClr val="000000"/>
                </a:solidFill>
                <a:ea typeface="+mn-lt"/>
                <a:cs typeface="+mn-lt"/>
              </a:rPr>
              <a:t>Detect</a:t>
            </a:r>
            <a:r>
              <a:rPr lang="en-US" sz="2200">
                <a:solidFill>
                  <a:srgbClr val="000000"/>
                </a:solidFill>
                <a:ea typeface="Cambria"/>
              </a:rPr>
              <a:t> early health risks such as nutrient imbalances, obesity, and fatigue.</a:t>
            </a:r>
            <a:endParaRPr lang="en-US" sz="2200">
              <a:ea typeface="Cambria"/>
            </a:endParaRPr>
          </a:p>
          <a:p>
            <a:pPr marL="342900" indent="-342900" algn="l">
              <a:buChar char="•"/>
            </a:pPr>
            <a:r>
              <a:rPr lang="en-US" sz="2200">
                <a:solidFill>
                  <a:srgbClr val="000000"/>
                </a:solidFill>
                <a:ea typeface="+mn-lt"/>
                <a:cs typeface="+mn-lt"/>
              </a:rPr>
              <a:t>Implement</a:t>
            </a:r>
            <a:r>
              <a:rPr lang="en-US" sz="2200">
                <a:solidFill>
                  <a:srgbClr val="000000"/>
                </a:solidFill>
                <a:ea typeface="Cambria"/>
              </a:rPr>
              <a:t> explainability (SHAP/LIME) to improve transparency and trust.</a:t>
            </a:r>
            <a:endParaRPr lang="en-US" sz="2200">
              <a:ea typeface="Cambria"/>
            </a:endParaRPr>
          </a:p>
          <a:p>
            <a:pPr marL="342900" indent="-342900" algn="l">
              <a:buChar char="•"/>
            </a:pPr>
            <a:r>
              <a:rPr lang="en-US" sz="2200">
                <a:solidFill>
                  <a:srgbClr val="000000"/>
                </a:solidFill>
                <a:ea typeface="+mn-lt"/>
                <a:cs typeface="+mn-lt"/>
              </a:rPr>
              <a:t>Provide</a:t>
            </a:r>
            <a:r>
              <a:rPr lang="en-US" sz="2200">
                <a:solidFill>
                  <a:srgbClr val="000000"/>
                </a:solidFill>
                <a:ea typeface="Cambria"/>
              </a:rPr>
              <a:t> a user-friendly dashboard for personalized recommendations.</a:t>
            </a:r>
            <a:endParaRPr lang="en-US" sz="2200">
              <a:ea typeface="Cambria"/>
            </a:endParaRPr>
          </a:p>
          <a:p>
            <a:pPr marL="457200" indent="-457200" algn="l">
              <a:buChar char="•"/>
            </a:pPr>
            <a:endParaRPr lang="en-US" sz="2200">
              <a:solidFill>
                <a:srgbClr val="000000"/>
              </a:solidFill>
              <a:ea typeface="Cambria"/>
            </a:endParaRPr>
          </a:p>
          <a:p>
            <a:pPr algn="l"/>
            <a:r>
              <a:rPr lang="en-US" sz="2200" b="1">
                <a:solidFill>
                  <a:srgbClr val="000000"/>
                </a:solidFill>
                <a:ea typeface="Cambria"/>
              </a:rPr>
              <a:t>Sub-Objectives</a:t>
            </a:r>
            <a:endParaRPr lang="en-US" sz="2200"/>
          </a:p>
          <a:p>
            <a:pPr marL="342900" indent="-342900" algn="l">
              <a:buChar char="•"/>
            </a:pPr>
            <a:r>
              <a:rPr lang="en-US" sz="2200">
                <a:solidFill>
                  <a:srgbClr val="000000"/>
                </a:solidFill>
                <a:ea typeface="Cambria"/>
              </a:rPr>
              <a:t>Preprocess and normalize time-series nutrition and activity datasets.</a:t>
            </a:r>
            <a:endParaRPr lang="en-US">
              <a:ea typeface="Cambria"/>
            </a:endParaRPr>
          </a:p>
          <a:p>
            <a:pPr marL="342900" indent="-342900" algn="l">
              <a:buChar char="•"/>
            </a:pPr>
            <a:r>
              <a:rPr lang="en-US" sz="2200">
                <a:solidFill>
                  <a:srgbClr val="000000"/>
                </a:solidFill>
                <a:ea typeface="Cambria"/>
              </a:rPr>
              <a:t>Apply transfer learning for robustness on small datasets.</a:t>
            </a:r>
            <a:endParaRPr lang="en-US">
              <a:ea typeface="Cambria"/>
            </a:endParaRPr>
          </a:p>
          <a:p>
            <a:pPr marL="342900" indent="-342900" algn="l">
              <a:buChar char="•"/>
            </a:pPr>
            <a:r>
              <a:rPr lang="en-US" sz="2200">
                <a:solidFill>
                  <a:srgbClr val="000000"/>
                </a:solidFill>
                <a:ea typeface="Cambria"/>
              </a:rPr>
              <a:t>Compare model performance (LSTM, GRU, baseline ML models).</a:t>
            </a:r>
            <a:endParaRPr lang="en-US">
              <a:ea typeface="Cambria"/>
            </a:endParaRPr>
          </a:p>
          <a:p>
            <a:pPr marL="342900" indent="-342900" algn="l">
              <a:buChar char="•"/>
            </a:pPr>
            <a:r>
              <a:rPr lang="en-US" sz="2200">
                <a:solidFill>
                  <a:srgbClr val="000000"/>
                </a:solidFill>
                <a:ea typeface="Cambria"/>
              </a:rPr>
              <a:t>Evaluate with metrics such as RMSE, MAE, and F1-score.</a:t>
            </a:r>
            <a:endParaRPr lang="en-US">
              <a:ea typeface="Cambria"/>
            </a:endParaRPr>
          </a:p>
          <a:p>
            <a:pPr algn="l"/>
            <a:endParaRPr lang="en-US" sz="2400" b="1">
              <a:solidFill>
                <a:srgbClr val="000000"/>
              </a:solidFill>
              <a:ea typeface="Cambria"/>
            </a:endParaRPr>
          </a:p>
        </p:txBody>
      </p:sp>
      <p:sp>
        <p:nvSpPr>
          <p:cNvPr id="6" name="Subtitle 2">
            <a:extLst>
              <a:ext uri="{FF2B5EF4-FFF2-40B4-BE49-F238E27FC236}">
                <a16:creationId xmlns:a16="http://schemas.microsoft.com/office/drawing/2014/main" id="{E049E8A9-94E3-A624-3452-EF4974164ECA}"/>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8" name="TextBox 7">
            <a:extLst>
              <a:ext uri="{FF2B5EF4-FFF2-40B4-BE49-F238E27FC236}">
                <a16:creationId xmlns:a16="http://schemas.microsoft.com/office/drawing/2014/main" id="{D46F1C1C-27BB-306D-56C9-68433EDD673A}"/>
              </a:ext>
            </a:extLst>
          </p:cNvPr>
          <p:cNvSpPr txBox="1"/>
          <p:nvPr/>
        </p:nvSpPr>
        <p:spPr>
          <a:xfrm>
            <a:off x="957532" y="181155"/>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2432243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6377-4E37-4B3A-D787-E3DEDB5180B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06C0BD0-0CD9-EDE0-A2FF-67487676D658}"/>
              </a:ext>
            </a:extLst>
          </p:cNvPr>
          <p:cNvSpPr>
            <a:spLocks noGrp="1"/>
          </p:cNvSpPr>
          <p:nvPr>
            <p:ph type="subTitle" idx="1"/>
          </p:nvPr>
        </p:nvSpPr>
        <p:spPr>
          <a:xfrm>
            <a:off x="448575" y="1327031"/>
            <a:ext cx="11366738" cy="5160032"/>
          </a:xfrm>
        </p:spPr>
        <p:txBody>
          <a:bodyPr vert="horz" lIns="91440" tIns="45720" rIns="91440" bIns="45720" rtlCol="0" anchor="t">
            <a:normAutofit/>
          </a:bodyPr>
          <a:lstStyle/>
          <a:p>
            <a:pPr algn="l"/>
            <a:endParaRPr lang="en-US" sz="2400" b="1">
              <a:solidFill>
                <a:srgbClr val="000000"/>
              </a:solidFill>
              <a:ea typeface="Cambria"/>
            </a:endParaRPr>
          </a:p>
          <a:p>
            <a:pPr algn="l"/>
            <a:endParaRPr lang="en-US" sz="2400" b="1">
              <a:solidFill>
                <a:srgbClr val="000000"/>
              </a:solidFill>
              <a:ea typeface="Cambria"/>
            </a:endParaRPr>
          </a:p>
        </p:txBody>
      </p:sp>
      <p:sp>
        <p:nvSpPr>
          <p:cNvPr id="6" name="Subtitle 2">
            <a:extLst>
              <a:ext uri="{FF2B5EF4-FFF2-40B4-BE49-F238E27FC236}">
                <a16:creationId xmlns:a16="http://schemas.microsoft.com/office/drawing/2014/main" id="{FF860FE1-D826-A3F7-A49F-B881FF4DCA53}"/>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4" name="TextBox 3">
            <a:extLst>
              <a:ext uri="{FF2B5EF4-FFF2-40B4-BE49-F238E27FC236}">
                <a16:creationId xmlns:a16="http://schemas.microsoft.com/office/drawing/2014/main" id="{0999B003-C1D0-0CF4-E705-ABBA872CC610}"/>
              </a:ext>
            </a:extLst>
          </p:cNvPr>
          <p:cNvSpPr txBox="1"/>
          <p:nvPr/>
        </p:nvSpPr>
        <p:spPr>
          <a:xfrm>
            <a:off x="1187569" y="1719532"/>
            <a:ext cx="1065074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t>Key Domains</a:t>
            </a:r>
            <a:endParaRPr lang="en-US" sz="2200" b="1">
              <a:ea typeface="Cambria"/>
            </a:endParaRPr>
          </a:p>
          <a:p>
            <a:pPr marL="342900" indent="-342900">
              <a:buFont typeface="Arial"/>
              <a:buChar char="•"/>
            </a:pPr>
            <a:r>
              <a:rPr lang="en-US" sz="2200"/>
              <a:t>Artificial Intelligence &amp; Data Science</a:t>
            </a:r>
            <a:endParaRPr lang="en-US" sz="2200">
              <a:ea typeface="Cambria"/>
            </a:endParaRPr>
          </a:p>
          <a:p>
            <a:pPr marL="342900" indent="-342900">
              <a:buFont typeface="Arial"/>
              <a:buChar char="•"/>
            </a:pPr>
            <a:r>
              <a:rPr lang="en-US" sz="2200"/>
              <a:t>Health Informatics</a:t>
            </a:r>
            <a:endParaRPr lang="en-US" sz="2200">
              <a:ea typeface="Cambria"/>
            </a:endParaRPr>
          </a:p>
          <a:p>
            <a:pPr marL="342900" indent="-342900">
              <a:buFont typeface="Arial"/>
              <a:buChar char="•"/>
            </a:pPr>
            <a:r>
              <a:rPr lang="en-US" sz="2200"/>
              <a:t>Software Development</a:t>
            </a:r>
            <a:endParaRPr lang="en-US" sz="2200">
              <a:ea typeface="Cambria"/>
            </a:endParaRPr>
          </a:p>
          <a:p>
            <a:endParaRPr lang="en-US" sz="2200">
              <a:ea typeface="Cambria"/>
            </a:endParaRPr>
          </a:p>
          <a:p>
            <a:r>
              <a:rPr lang="en-US" sz="2200" b="1"/>
              <a:t>Latest Technologies</a:t>
            </a:r>
            <a:endParaRPr lang="en-US" sz="2200" b="1">
              <a:ea typeface="Cambria"/>
            </a:endParaRPr>
          </a:p>
          <a:p>
            <a:pPr marL="342900" indent="-342900">
              <a:buFont typeface="Arial"/>
              <a:buChar char="•"/>
            </a:pPr>
            <a:r>
              <a:rPr lang="en-US" sz="2200"/>
              <a:t>LSTM and GRU for time-series prediction</a:t>
            </a:r>
            <a:endParaRPr lang="en-US" sz="2200">
              <a:ea typeface="Cambria"/>
            </a:endParaRPr>
          </a:p>
          <a:p>
            <a:pPr marL="342900" indent="-342900">
              <a:buFont typeface="Arial"/>
              <a:buChar char="•"/>
            </a:pPr>
            <a:r>
              <a:rPr lang="en-US" sz="2200"/>
              <a:t>SHAP and LIME for explainable AI</a:t>
            </a:r>
            <a:endParaRPr lang="en-US" sz="2200">
              <a:ea typeface="Cambria"/>
            </a:endParaRPr>
          </a:p>
          <a:p>
            <a:pPr marL="342900" indent="-342900">
              <a:buFont typeface="Arial"/>
              <a:buChar char="•"/>
            </a:pPr>
            <a:r>
              <a:rPr lang="en-US" sz="2200"/>
              <a:t>Secure cloud database with visualization dashboard</a:t>
            </a:r>
            <a:endParaRPr lang="en-US" sz="2200">
              <a:ea typeface="Cambria"/>
            </a:endParaRPr>
          </a:p>
        </p:txBody>
      </p:sp>
      <p:sp>
        <p:nvSpPr>
          <p:cNvPr id="9" name="TextBox 8">
            <a:extLst>
              <a:ext uri="{FF2B5EF4-FFF2-40B4-BE49-F238E27FC236}">
                <a16:creationId xmlns:a16="http://schemas.microsoft.com/office/drawing/2014/main" id="{F8C4CA0B-A8D9-DBD5-063F-4839A928571D}"/>
              </a:ext>
            </a:extLst>
          </p:cNvPr>
          <p:cNvSpPr txBox="1"/>
          <p:nvPr/>
        </p:nvSpPr>
        <p:spPr>
          <a:xfrm>
            <a:off x="957532" y="339306"/>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867153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A5EC-2085-841C-8653-189319832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368E5-F2A9-E4B9-9F1F-2AB63E2CEE22}"/>
              </a:ext>
            </a:extLst>
          </p:cNvPr>
          <p:cNvSpPr>
            <a:spLocks noGrp="1"/>
          </p:cNvSpPr>
          <p:nvPr>
            <p:ph type="ctrTitle"/>
          </p:nvPr>
        </p:nvSpPr>
        <p:spPr>
          <a:xfrm>
            <a:off x="1000664" y="1253407"/>
            <a:ext cx="2987616" cy="449234"/>
          </a:xfrm>
        </p:spPr>
        <p:txBody>
          <a:bodyPr>
            <a:normAutofit/>
          </a:bodyPr>
          <a:lstStyle/>
          <a:p>
            <a:r>
              <a:rPr lang="en-US" sz="2200" b="1" cap="all">
                <a:latin typeface="Adobe Devanagari"/>
              </a:rPr>
              <a:t>System Overview</a:t>
            </a:r>
            <a:endParaRPr lang="en-US" sz="2200" b="1"/>
          </a:p>
        </p:txBody>
      </p:sp>
      <p:sp>
        <p:nvSpPr>
          <p:cNvPr id="6" name="Subtitle 2">
            <a:extLst>
              <a:ext uri="{FF2B5EF4-FFF2-40B4-BE49-F238E27FC236}">
                <a16:creationId xmlns:a16="http://schemas.microsoft.com/office/drawing/2014/main" id="{802AD819-83F5-30A8-E1E8-507CC9A434B3}"/>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pic>
        <p:nvPicPr>
          <p:cNvPr id="3" name="Picture 2" descr="A screenshot of a phone">
            <a:extLst>
              <a:ext uri="{FF2B5EF4-FFF2-40B4-BE49-F238E27FC236}">
                <a16:creationId xmlns:a16="http://schemas.microsoft.com/office/drawing/2014/main" id="{876482F1-2D6B-3A57-23FD-F2240BCBD334}"/>
              </a:ext>
            </a:extLst>
          </p:cNvPr>
          <p:cNvPicPr>
            <a:picLocks noChangeAspect="1"/>
          </p:cNvPicPr>
          <p:nvPr/>
        </p:nvPicPr>
        <p:blipFill>
          <a:blip r:embed="rId2"/>
          <a:stretch>
            <a:fillRect/>
          </a:stretch>
        </p:blipFill>
        <p:spPr>
          <a:xfrm>
            <a:off x="1293962" y="2053430"/>
            <a:ext cx="8942717" cy="4102610"/>
          </a:xfrm>
          <a:prstGeom prst="rect">
            <a:avLst/>
          </a:prstGeom>
        </p:spPr>
      </p:pic>
      <p:sp>
        <p:nvSpPr>
          <p:cNvPr id="5" name="TextBox 4">
            <a:extLst>
              <a:ext uri="{FF2B5EF4-FFF2-40B4-BE49-F238E27FC236}">
                <a16:creationId xmlns:a16="http://schemas.microsoft.com/office/drawing/2014/main" id="{D878075B-DA00-1885-4EB1-FA44E002CA0F}"/>
              </a:ext>
            </a:extLst>
          </p:cNvPr>
          <p:cNvSpPr txBox="1"/>
          <p:nvPr/>
        </p:nvSpPr>
        <p:spPr>
          <a:xfrm>
            <a:off x="957532" y="339306"/>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3432626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2A635-6043-BFB4-FFE0-C64FF45D317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57FFB7-ABA7-7AE1-554B-9BA2C4F0B20E}"/>
              </a:ext>
            </a:extLst>
          </p:cNvPr>
          <p:cNvSpPr>
            <a:spLocks noGrp="1"/>
          </p:cNvSpPr>
          <p:nvPr>
            <p:ph type="subTitle" idx="1"/>
          </p:nvPr>
        </p:nvSpPr>
        <p:spPr>
          <a:xfrm>
            <a:off x="448575" y="1327031"/>
            <a:ext cx="11366738" cy="5160032"/>
          </a:xfrm>
        </p:spPr>
        <p:txBody>
          <a:bodyPr vert="horz" lIns="91440" tIns="45720" rIns="91440" bIns="45720" rtlCol="0" anchor="t">
            <a:normAutofit/>
          </a:bodyPr>
          <a:lstStyle/>
          <a:p>
            <a:pPr algn="l"/>
            <a:endParaRPr lang="en-US" sz="2400" b="1">
              <a:solidFill>
                <a:srgbClr val="000000"/>
              </a:solidFill>
              <a:ea typeface="Cambria"/>
            </a:endParaRPr>
          </a:p>
          <a:p>
            <a:pPr algn="l"/>
            <a:endParaRPr lang="en-US" sz="2400" b="1">
              <a:solidFill>
                <a:srgbClr val="000000"/>
              </a:solidFill>
              <a:ea typeface="Cambria"/>
            </a:endParaRPr>
          </a:p>
        </p:txBody>
      </p:sp>
      <p:sp>
        <p:nvSpPr>
          <p:cNvPr id="6" name="Subtitle 2">
            <a:extLst>
              <a:ext uri="{FF2B5EF4-FFF2-40B4-BE49-F238E27FC236}">
                <a16:creationId xmlns:a16="http://schemas.microsoft.com/office/drawing/2014/main" id="{128BB759-2ED9-D00C-541D-1ACED270ABE9}"/>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4" name="TextBox 3">
            <a:extLst>
              <a:ext uri="{FF2B5EF4-FFF2-40B4-BE49-F238E27FC236}">
                <a16:creationId xmlns:a16="http://schemas.microsoft.com/office/drawing/2014/main" id="{0FC1E931-C2F8-7495-C210-17FF67198E58}"/>
              </a:ext>
            </a:extLst>
          </p:cNvPr>
          <p:cNvSpPr txBox="1"/>
          <p:nvPr/>
        </p:nvSpPr>
        <p:spPr>
          <a:xfrm>
            <a:off x="1000664" y="2035834"/>
            <a:ext cx="10650746"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t>A Real-world Example</a:t>
            </a:r>
            <a:endParaRPr lang="en-US" sz="2200"/>
          </a:p>
          <a:p>
            <a:endParaRPr lang="en-US" sz="2200" b="1">
              <a:ea typeface="+mn-lt"/>
              <a:cs typeface="+mn-lt"/>
            </a:endParaRPr>
          </a:p>
          <a:p>
            <a:pPr marL="285750" indent="-285750">
              <a:buFont typeface="Arial"/>
              <a:buChar char="•"/>
            </a:pPr>
            <a:r>
              <a:rPr lang="en-US" sz="2200">
                <a:ea typeface="+mn-lt"/>
                <a:cs typeface="+mn-lt"/>
              </a:rPr>
              <a:t>User logs their meals and daily activity into the app.</a:t>
            </a:r>
            <a:endParaRPr lang="en-US"/>
          </a:p>
          <a:p>
            <a:pPr marL="285750" indent="-285750">
              <a:buFont typeface="Arial"/>
              <a:buChar char="•"/>
            </a:pPr>
            <a:r>
              <a:rPr lang="en-US" sz="2200">
                <a:ea typeface="+mn-lt"/>
                <a:cs typeface="+mn-lt"/>
              </a:rPr>
              <a:t>The system predicts weight changes and shows nutrient balance (e.g., high sodium, low protein).</a:t>
            </a:r>
            <a:endParaRPr lang="en-US"/>
          </a:p>
          <a:p>
            <a:pPr marL="285750" indent="-285750">
              <a:buFont typeface="Arial"/>
              <a:buChar char="•"/>
            </a:pPr>
            <a:r>
              <a:rPr lang="en-US" sz="2200">
                <a:ea typeface="+mn-lt"/>
                <a:cs typeface="+mn-lt"/>
              </a:rPr>
              <a:t>If a risk is detected, it warns the user early and suggests healthier options.</a:t>
            </a:r>
            <a:endParaRPr lang="en-US"/>
          </a:p>
          <a:p>
            <a:pPr marL="285750" indent="-285750">
              <a:buFont typeface="Arial"/>
              <a:buChar char="•"/>
            </a:pPr>
            <a:r>
              <a:rPr lang="en-US" sz="2200">
                <a:ea typeface="+mn-lt"/>
                <a:cs typeface="+mn-lt"/>
              </a:rPr>
              <a:t>Healthcare professionals can also check reports to monitor patient health trends.</a:t>
            </a:r>
            <a:endParaRPr lang="en-US"/>
          </a:p>
          <a:p>
            <a:endParaRPr lang="en-US" sz="2200" b="1">
              <a:ea typeface="Cambria"/>
            </a:endParaRPr>
          </a:p>
        </p:txBody>
      </p:sp>
      <p:sp>
        <p:nvSpPr>
          <p:cNvPr id="9" name="TextBox 8">
            <a:extLst>
              <a:ext uri="{FF2B5EF4-FFF2-40B4-BE49-F238E27FC236}">
                <a16:creationId xmlns:a16="http://schemas.microsoft.com/office/drawing/2014/main" id="{61CBE7AC-8A66-FE99-F44B-FB3338ADE1AB}"/>
              </a:ext>
            </a:extLst>
          </p:cNvPr>
          <p:cNvSpPr txBox="1"/>
          <p:nvPr/>
        </p:nvSpPr>
        <p:spPr>
          <a:xfrm>
            <a:off x="957532" y="382438"/>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805165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8E20-91AC-83B8-1101-CF2D0BA1A2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8A4537-F696-BA23-62FC-7657760DCC23}"/>
              </a:ext>
            </a:extLst>
          </p:cNvPr>
          <p:cNvSpPr>
            <a:spLocks noGrp="1"/>
          </p:cNvSpPr>
          <p:nvPr>
            <p:ph type="subTitle" idx="1"/>
          </p:nvPr>
        </p:nvSpPr>
        <p:spPr>
          <a:xfrm>
            <a:off x="448575" y="1327031"/>
            <a:ext cx="11366738" cy="5160032"/>
          </a:xfrm>
        </p:spPr>
        <p:txBody>
          <a:bodyPr vert="horz" lIns="91440" tIns="45720" rIns="91440" bIns="45720" rtlCol="0" anchor="t">
            <a:normAutofit/>
          </a:bodyPr>
          <a:lstStyle/>
          <a:p>
            <a:pPr algn="l"/>
            <a:endParaRPr lang="en-US" sz="2400" b="1">
              <a:solidFill>
                <a:srgbClr val="000000"/>
              </a:solidFill>
              <a:ea typeface="Cambria"/>
            </a:endParaRPr>
          </a:p>
          <a:p>
            <a:pPr algn="l"/>
            <a:endParaRPr lang="en-US" sz="2400" b="1">
              <a:solidFill>
                <a:srgbClr val="000000"/>
              </a:solidFill>
              <a:ea typeface="Cambria"/>
            </a:endParaRPr>
          </a:p>
        </p:txBody>
      </p:sp>
      <p:sp>
        <p:nvSpPr>
          <p:cNvPr id="6" name="Subtitle 2">
            <a:extLst>
              <a:ext uri="{FF2B5EF4-FFF2-40B4-BE49-F238E27FC236}">
                <a16:creationId xmlns:a16="http://schemas.microsoft.com/office/drawing/2014/main" id="{EB01FB1E-E1DB-DC30-507C-93E6F1437B11}"/>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4" name="TextBox 3">
            <a:extLst>
              <a:ext uri="{FF2B5EF4-FFF2-40B4-BE49-F238E27FC236}">
                <a16:creationId xmlns:a16="http://schemas.microsoft.com/office/drawing/2014/main" id="{6F5FA1FB-A37C-5F3C-865D-41D95F365F65}"/>
              </a:ext>
            </a:extLst>
          </p:cNvPr>
          <p:cNvSpPr txBox="1"/>
          <p:nvPr/>
        </p:nvSpPr>
        <p:spPr>
          <a:xfrm>
            <a:off x="813758" y="1518249"/>
            <a:ext cx="10650746"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ea typeface="+mn-lt"/>
                <a:cs typeface="+mn-lt"/>
              </a:rPr>
              <a:t>Core Functionalities of the System</a:t>
            </a:r>
            <a:endParaRPr lang="en-US"/>
          </a:p>
          <a:p>
            <a:endParaRPr lang="en-US" sz="2200" b="1">
              <a:ea typeface="+mn-lt"/>
              <a:cs typeface="+mn-lt"/>
            </a:endParaRPr>
          </a:p>
          <a:p>
            <a:pPr marL="285750" indent="-285750">
              <a:buFont typeface="Arial"/>
              <a:buChar char="•"/>
            </a:pPr>
            <a:r>
              <a:rPr lang="en-US" sz="2200" b="1">
                <a:ea typeface="+mn-lt"/>
                <a:cs typeface="+mn-lt"/>
              </a:rPr>
              <a:t>User Data Input</a:t>
            </a:r>
            <a:r>
              <a:rPr lang="en-US" sz="2200">
                <a:ea typeface="+mn-lt"/>
                <a:cs typeface="+mn-lt"/>
              </a:rPr>
              <a:t> – Users can log nutrition, calories, activity, weight, and BMI.</a:t>
            </a:r>
            <a:endParaRPr lang="en-US"/>
          </a:p>
          <a:p>
            <a:pPr marL="285750" indent="-285750">
              <a:buFont typeface="Arial"/>
              <a:buChar char="•"/>
            </a:pPr>
            <a:r>
              <a:rPr lang="en-US" sz="2200" b="1">
                <a:ea typeface="+mn-lt"/>
                <a:cs typeface="+mn-lt"/>
              </a:rPr>
              <a:t>Prediction Engine</a:t>
            </a:r>
            <a:r>
              <a:rPr lang="en-US" sz="2200">
                <a:ea typeface="+mn-lt"/>
                <a:cs typeface="+mn-lt"/>
              </a:rPr>
              <a:t> – Neural network model forecasts weight trends and health risks.</a:t>
            </a:r>
            <a:endParaRPr lang="en-US"/>
          </a:p>
          <a:p>
            <a:pPr marL="285750" indent="-285750">
              <a:buFont typeface="Arial"/>
              <a:buChar char="•"/>
            </a:pPr>
            <a:r>
              <a:rPr lang="en-US" sz="2200" b="1">
                <a:ea typeface="+mn-lt"/>
                <a:cs typeface="+mn-lt"/>
              </a:rPr>
              <a:t>Risk Detection</a:t>
            </a:r>
            <a:r>
              <a:rPr lang="en-US" sz="2200">
                <a:ea typeface="+mn-lt"/>
                <a:cs typeface="+mn-lt"/>
              </a:rPr>
              <a:t> – Detects issues like high sodium intake, fatigue risk, or obesity.</a:t>
            </a:r>
            <a:endParaRPr lang="en-US"/>
          </a:p>
          <a:p>
            <a:pPr marL="285750" indent="-285750">
              <a:buFont typeface="Arial"/>
              <a:buChar char="•"/>
            </a:pPr>
            <a:r>
              <a:rPr lang="en-US" sz="2200" b="1">
                <a:ea typeface="+mn-lt"/>
                <a:cs typeface="+mn-lt"/>
              </a:rPr>
              <a:t>Explainable Results</a:t>
            </a:r>
            <a:r>
              <a:rPr lang="en-US" sz="2200">
                <a:ea typeface="+mn-lt"/>
                <a:cs typeface="+mn-lt"/>
              </a:rPr>
              <a:t> – Provides clear reasons for predictions using SHAP/LIME.</a:t>
            </a:r>
            <a:endParaRPr lang="en-US"/>
          </a:p>
          <a:p>
            <a:pPr marL="285750" indent="-285750">
              <a:buFont typeface="Arial"/>
              <a:buChar char="•"/>
            </a:pPr>
            <a:r>
              <a:rPr lang="en-US" sz="2200" b="1">
                <a:ea typeface="+mn-lt"/>
                <a:cs typeface="+mn-lt"/>
              </a:rPr>
              <a:t>Dashboard &amp; Visualization</a:t>
            </a:r>
            <a:r>
              <a:rPr lang="en-US" sz="2200">
                <a:ea typeface="+mn-lt"/>
                <a:cs typeface="+mn-lt"/>
              </a:rPr>
              <a:t> – Displays trends, predictions, and alerts in a user-friendly interface.</a:t>
            </a:r>
            <a:endParaRPr lang="en-US"/>
          </a:p>
          <a:p>
            <a:pPr marL="285750" indent="-285750">
              <a:buFont typeface="Arial"/>
              <a:buChar char="•"/>
            </a:pPr>
            <a:r>
              <a:rPr lang="en-US" sz="2200" b="1">
                <a:ea typeface="+mn-lt"/>
                <a:cs typeface="+mn-lt"/>
              </a:rPr>
              <a:t>Data Security &amp; Privacy</a:t>
            </a:r>
            <a:r>
              <a:rPr lang="en-US" sz="2200">
                <a:ea typeface="+mn-lt"/>
                <a:cs typeface="+mn-lt"/>
              </a:rPr>
              <a:t> – Secure storage and controlled access to user health data.</a:t>
            </a:r>
            <a:endParaRPr lang="en-US"/>
          </a:p>
          <a:p>
            <a:endParaRPr lang="en-US" sz="2200" b="1">
              <a:ea typeface="Cambria"/>
            </a:endParaRPr>
          </a:p>
          <a:p>
            <a:endParaRPr lang="en-US" sz="2200" b="1">
              <a:ea typeface="Cambria"/>
            </a:endParaRPr>
          </a:p>
        </p:txBody>
      </p:sp>
      <p:sp>
        <p:nvSpPr>
          <p:cNvPr id="9" name="TextBox 8">
            <a:extLst>
              <a:ext uri="{FF2B5EF4-FFF2-40B4-BE49-F238E27FC236}">
                <a16:creationId xmlns:a16="http://schemas.microsoft.com/office/drawing/2014/main" id="{5D9441BA-1B3A-9D05-ECCE-F7B4ECCEA7A8}"/>
              </a:ext>
            </a:extLst>
          </p:cNvPr>
          <p:cNvSpPr txBox="1"/>
          <p:nvPr/>
        </p:nvSpPr>
        <p:spPr>
          <a:xfrm>
            <a:off x="957532" y="382438"/>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spTree>
    <p:extLst>
      <p:ext uri="{BB962C8B-B14F-4D97-AF65-F5344CB8AC3E}">
        <p14:creationId xmlns:p14="http://schemas.microsoft.com/office/powerpoint/2010/main" val="3511039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AE27-DD57-3D04-5B6F-3A4D498EF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57878-3032-6D42-7D4D-4CCE538723E6}"/>
              </a:ext>
            </a:extLst>
          </p:cNvPr>
          <p:cNvSpPr>
            <a:spLocks noGrp="1"/>
          </p:cNvSpPr>
          <p:nvPr>
            <p:ph type="ctrTitle"/>
          </p:nvPr>
        </p:nvSpPr>
        <p:spPr>
          <a:xfrm>
            <a:off x="957532" y="1152766"/>
            <a:ext cx="5000446" cy="564252"/>
          </a:xfrm>
        </p:spPr>
        <p:txBody>
          <a:bodyPr>
            <a:normAutofit/>
          </a:bodyPr>
          <a:lstStyle/>
          <a:p>
            <a:r>
              <a:rPr lang="en-US" sz="2200" b="1" cap="all">
                <a:latin typeface="Adobe Devanagari"/>
              </a:rPr>
              <a:t>Work breakdown structure</a:t>
            </a:r>
            <a:endParaRPr lang="en-US" sz="2200" b="1" cap="all"/>
          </a:p>
        </p:txBody>
      </p:sp>
      <p:sp>
        <p:nvSpPr>
          <p:cNvPr id="6" name="Subtitle 2">
            <a:extLst>
              <a:ext uri="{FF2B5EF4-FFF2-40B4-BE49-F238E27FC236}">
                <a16:creationId xmlns:a16="http://schemas.microsoft.com/office/drawing/2014/main" id="{16C2F43E-65EE-E5E5-F5A2-E7A9BC8BE9C4}"/>
              </a:ext>
            </a:extLst>
          </p:cNvPr>
          <p:cNvSpPr txBox="1">
            <a:spLocks/>
          </p:cNvSpPr>
          <p:nvPr/>
        </p:nvSpPr>
        <p:spPr>
          <a:xfrm>
            <a:off x="2642559" y="6482751"/>
            <a:ext cx="8635040" cy="37237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a:solidFill>
                  <a:srgbClr val="000000"/>
                </a:solidFill>
                <a:ea typeface="Cambria"/>
              </a:rPr>
              <a:t>IT22343420</a:t>
            </a:r>
            <a:r>
              <a:rPr lang="en-US" sz="1800">
                <a:solidFill>
                  <a:srgbClr val="000000"/>
                </a:solidFill>
                <a:ea typeface="Cambria"/>
              </a:rPr>
              <a:t>   |   </a:t>
            </a:r>
            <a:r>
              <a:rPr lang="en-US" sz="1800" b="1">
                <a:solidFill>
                  <a:srgbClr val="000000"/>
                </a:solidFill>
                <a:ea typeface="Cambria"/>
              </a:rPr>
              <a:t>T.M Poornima   </a:t>
            </a:r>
            <a:r>
              <a:rPr lang="en-US" sz="1800">
                <a:solidFill>
                  <a:srgbClr val="000000"/>
                </a:solidFill>
                <a:ea typeface="Cambria"/>
              </a:rPr>
              <a:t>|  25-26J-386</a:t>
            </a:r>
            <a:endParaRPr lang="en-US"/>
          </a:p>
          <a:p>
            <a:pPr algn="l"/>
            <a:endParaRPr lang="en-US" sz="2000">
              <a:ea typeface="Cambria"/>
            </a:endParaRPr>
          </a:p>
        </p:txBody>
      </p:sp>
      <p:sp>
        <p:nvSpPr>
          <p:cNvPr id="5" name="TextBox 4">
            <a:extLst>
              <a:ext uri="{FF2B5EF4-FFF2-40B4-BE49-F238E27FC236}">
                <a16:creationId xmlns:a16="http://schemas.microsoft.com/office/drawing/2014/main" id="{85CB027E-94F1-AC78-6AAA-27E0DCB8C4F1}"/>
              </a:ext>
            </a:extLst>
          </p:cNvPr>
          <p:cNvSpPr txBox="1"/>
          <p:nvPr/>
        </p:nvSpPr>
        <p:spPr>
          <a:xfrm>
            <a:off x="957532" y="339306"/>
            <a:ext cx="103200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Cambria"/>
              </a:rPr>
              <a:t>Neural Network Based Health Outcome Prediction Using </a:t>
            </a:r>
            <a:r>
              <a:rPr lang="en-US" sz="2400" err="1">
                <a:ea typeface="Cambria"/>
              </a:rPr>
              <a:t>MultiDomain</a:t>
            </a:r>
            <a:r>
              <a:rPr lang="en-US" sz="2400">
                <a:ea typeface="Cambria"/>
              </a:rPr>
              <a:t> Time Series Data</a:t>
            </a:r>
            <a:endParaRPr lang="en-US">
              <a:ea typeface="Cambria"/>
            </a:endParaRPr>
          </a:p>
        </p:txBody>
      </p:sp>
      <p:pic>
        <p:nvPicPr>
          <p:cNvPr id="4" name="Picture 3" descr="A diagram of a system&#10;&#10;AI-generated content may be incorrect.">
            <a:extLst>
              <a:ext uri="{FF2B5EF4-FFF2-40B4-BE49-F238E27FC236}">
                <a16:creationId xmlns:a16="http://schemas.microsoft.com/office/drawing/2014/main" id="{21AF73F7-9815-FA94-0C9C-80FFE56B82BB}"/>
              </a:ext>
            </a:extLst>
          </p:cNvPr>
          <p:cNvPicPr>
            <a:picLocks noChangeAspect="1"/>
          </p:cNvPicPr>
          <p:nvPr/>
        </p:nvPicPr>
        <p:blipFill>
          <a:blip r:embed="rId2"/>
          <a:stretch>
            <a:fillRect/>
          </a:stretch>
        </p:blipFill>
        <p:spPr>
          <a:xfrm>
            <a:off x="1349944" y="1803101"/>
            <a:ext cx="9768159" cy="4593567"/>
          </a:xfrm>
          <a:prstGeom prst="rect">
            <a:avLst/>
          </a:prstGeom>
        </p:spPr>
      </p:pic>
    </p:spTree>
    <p:extLst>
      <p:ext uri="{BB962C8B-B14F-4D97-AF65-F5344CB8AC3E}">
        <p14:creationId xmlns:p14="http://schemas.microsoft.com/office/powerpoint/2010/main" val="3520442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FFC5-A548-A587-2AAA-6875B841EAF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B3F8D2-D446-512E-B9EA-C362E3660379}"/>
              </a:ext>
            </a:extLst>
          </p:cNvPr>
          <p:cNvSpPr>
            <a:spLocks noGrp="1"/>
          </p:cNvSpPr>
          <p:nvPr>
            <p:ph type="title"/>
          </p:nvPr>
        </p:nvSpPr>
        <p:spPr/>
        <p:txBody>
          <a:bodyPr/>
          <a:lstStyle/>
          <a:p>
            <a:r>
              <a:rPr lang="en-US"/>
              <a:t>IT22343284 | SAMARAWICKRAMA T.N</a:t>
            </a:r>
          </a:p>
        </p:txBody>
      </p:sp>
      <p:sp>
        <p:nvSpPr>
          <p:cNvPr id="6" name="Text Placeholder 5">
            <a:extLst>
              <a:ext uri="{FF2B5EF4-FFF2-40B4-BE49-F238E27FC236}">
                <a16:creationId xmlns:a16="http://schemas.microsoft.com/office/drawing/2014/main" id="{EBB15B03-CCE7-7D16-B899-84B3F25A1B50}"/>
              </a:ext>
            </a:extLst>
          </p:cNvPr>
          <p:cNvSpPr>
            <a:spLocks noGrp="1"/>
          </p:cNvSpPr>
          <p:nvPr>
            <p:ph type="body" idx="1"/>
          </p:nvPr>
        </p:nvSpPr>
        <p:spPr>
          <a:xfrm>
            <a:off x="1115484" y="4326494"/>
            <a:ext cx="10363200" cy="784448"/>
          </a:xfrm>
        </p:spPr>
        <p:txBody>
          <a:bodyPr/>
          <a:lstStyle/>
          <a:p>
            <a:r>
              <a:rPr lang="en-US"/>
              <a:t>AI-powered Smart Grocery List Optimization and Nearest Store Recommendation</a:t>
            </a:r>
          </a:p>
        </p:txBody>
      </p:sp>
      <p:sp>
        <p:nvSpPr>
          <p:cNvPr id="4" name="Rectangle 3">
            <a:extLst>
              <a:ext uri="{FF2B5EF4-FFF2-40B4-BE49-F238E27FC236}">
                <a16:creationId xmlns:a16="http://schemas.microsoft.com/office/drawing/2014/main" id="{EB179ECA-E3F6-DE8F-A8EA-B436140B967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7" name="Text Placeholder 5">
            <a:extLst>
              <a:ext uri="{FF2B5EF4-FFF2-40B4-BE49-F238E27FC236}">
                <a16:creationId xmlns:a16="http://schemas.microsoft.com/office/drawing/2014/main" id="{E4496B50-DD42-142B-2896-78BE99B76C66}"/>
              </a:ext>
            </a:extLst>
          </p:cNvPr>
          <p:cNvSpPr txBox="1">
            <a:spLocks/>
          </p:cNvSpPr>
          <p:nvPr/>
        </p:nvSpPr>
        <p:spPr>
          <a:xfrm>
            <a:off x="1115484" y="5105400"/>
            <a:ext cx="10363200" cy="784448"/>
          </a:xfrm>
          <a:prstGeom prst="rect">
            <a:avLst/>
          </a:prstGeom>
        </p:spPr>
        <p:txBody>
          <a:bodyPr vert="horz" lIns="91440" tIns="45720" rIns="91440" bIns="45720" rtlCol="0" anchor="b">
            <a:normAutofit/>
          </a:bodyPr>
          <a:lstStyle>
            <a:lvl1pPr marL="0" indent="0" algn="l"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a:t>BSc (Hons) in Information Technology Specialization in Information Technology</a:t>
            </a:r>
          </a:p>
        </p:txBody>
      </p:sp>
      <p:pic>
        <p:nvPicPr>
          <p:cNvPr id="3" name="Picture 2" descr="A person with long hair smiling&#10;&#10;AI-generated content may be incorrect.">
            <a:extLst>
              <a:ext uri="{FF2B5EF4-FFF2-40B4-BE49-F238E27FC236}">
                <a16:creationId xmlns:a16="http://schemas.microsoft.com/office/drawing/2014/main" id="{ADDB5F87-D33F-284B-286C-DF677B2C711E}"/>
              </a:ext>
            </a:extLst>
          </p:cNvPr>
          <p:cNvPicPr>
            <a:picLocks noChangeAspect="1"/>
          </p:cNvPicPr>
          <p:nvPr/>
        </p:nvPicPr>
        <p:blipFill>
          <a:blip r:embed="rId2" cstate="print">
            <a:extLst>
              <a:ext uri="{28A0092B-C50C-407E-A947-70E740481C1C}">
                <a14:useLocalDpi xmlns:a14="http://schemas.microsoft.com/office/drawing/2010/main" val="0"/>
              </a:ext>
            </a:extLst>
          </a:blip>
          <a:srcRect t="9976"/>
          <a:stretch>
            <a:fillRect/>
          </a:stretch>
        </p:blipFill>
        <p:spPr>
          <a:xfrm>
            <a:off x="10137386" y="142240"/>
            <a:ext cx="1983494" cy="2316480"/>
          </a:xfrm>
          <a:prstGeom prst="rect">
            <a:avLst/>
          </a:prstGeom>
        </p:spPr>
      </p:pic>
    </p:spTree>
    <p:extLst>
      <p:ext uri="{BB962C8B-B14F-4D97-AF65-F5344CB8AC3E}">
        <p14:creationId xmlns:p14="http://schemas.microsoft.com/office/powerpoint/2010/main" val="3359454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0CF0B-F318-22CD-2A55-6684F413A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EDF9E-5224-4E60-34CF-A1CB0A2DEEE7}"/>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18F6DAF5-ED6C-9AD5-5306-B98C0F64C6B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7" name="Content Placeholder 6">
            <a:extLst>
              <a:ext uri="{FF2B5EF4-FFF2-40B4-BE49-F238E27FC236}">
                <a16:creationId xmlns:a16="http://schemas.microsoft.com/office/drawing/2014/main" id="{A3DC186A-7342-2CEB-BCE2-30C0D6BA80A7}"/>
              </a:ext>
            </a:extLst>
          </p:cNvPr>
          <p:cNvSpPr txBox="1">
            <a:spLocks noGrp="1"/>
          </p:cNvSpPr>
          <p:nvPr>
            <p:ph idx="1"/>
          </p:nvPr>
        </p:nvSpPr>
        <p:spPr>
          <a:xfrm>
            <a:off x="539135" y="1168381"/>
            <a:ext cx="11358880" cy="4521238"/>
          </a:xfrm>
          <a:prstGeom prst="rect">
            <a:avLst/>
          </a:prstGeom>
          <a:noFill/>
        </p:spPr>
        <p:txBody>
          <a:bodyPr wrap="square" rtlCol="0">
            <a:spAutoFit/>
          </a:bodyPr>
          <a:lstStyle/>
          <a:p>
            <a:pPr marL="0" indent="0">
              <a:lnSpc>
                <a:spcPct val="150000"/>
              </a:lnSpc>
              <a:buNone/>
            </a:pPr>
            <a:r>
              <a:rPr lang="en-US" sz="2200" b="1">
                <a:latin typeface="Times New Roman" panose="02020603050405020304" pitchFamily="18" charset="0"/>
                <a:cs typeface="Times New Roman" panose="02020603050405020304" pitchFamily="18" charset="0"/>
              </a:rPr>
              <a:t>Research Problem</a:t>
            </a:r>
            <a:r>
              <a:rPr lang="en-US" sz="2400" b="1">
                <a:latin typeface="Times New Roman" panose="02020603050405020304" pitchFamily="18" charset="0"/>
                <a:cs typeface="Times New Roman" panose="02020603050405020304" pitchFamily="18" charset="0"/>
              </a:rPr>
              <a:t> : </a:t>
            </a:r>
          </a:p>
          <a:p>
            <a:pPr marL="800100" lvl="1" indent="-34290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Rising food prices and limited focus on affordability make healthy eating difficult in Sri Lanka.</a:t>
            </a:r>
          </a:p>
          <a:p>
            <a:pPr marL="800100" lvl="1" indent="-34290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Existing global apps lack support for local foods and cultural diets.</a:t>
            </a:r>
          </a:p>
          <a:p>
            <a:pPr marL="800100" lvl="1" indent="-34290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No integrated AI-powered </a:t>
            </a:r>
            <a:r>
              <a:rPr lang="en-US" sz="2000">
                <a:latin typeface="Times New Roman" panose="02020603050405020304" pitchFamily="18" charset="0"/>
                <a:cs typeface="Times New Roman" panose="02020603050405020304" pitchFamily="18" charset="0"/>
              </a:rPr>
              <a:t>solution combines nutrition, cost, and nearest store availability</a:t>
            </a:r>
            <a:r>
              <a:rPr lang="en-US" sz="2000"/>
              <a:t>.</a:t>
            </a:r>
          </a:p>
          <a:p>
            <a:pPr marL="457200" lvl="1" indent="0">
              <a:buNone/>
            </a:pPr>
            <a:endParaRPr lang="en-US" sz="1900">
              <a:latin typeface="Times New Roman" panose="02020603050405020304" pitchFamily="18" charset="0"/>
              <a:cs typeface="Times New Roman" panose="02020603050405020304" pitchFamily="18" charset="0"/>
            </a:endParaRPr>
          </a:p>
          <a:p>
            <a:pPr marL="0" indent="0">
              <a:lnSpc>
                <a:spcPct val="150000"/>
              </a:lnSpc>
              <a:buNone/>
            </a:pPr>
            <a:r>
              <a:rPr lang="en-US" sz="2200" b="1">
                <a:latin typeface="Times New Roman" panose="02020603050405020304" pitchFamily="18" charset="0"/>
                <a:cs typeface="Times New Roman" panose="02020603050405020304" pitchFamily="18" charset="0"/>
              </a:rPr>
              <a:t>Solution </a:t>
            </a:r>
            <a:r>
              <a:rPr lang="en-US" sz="2400" b="1">
                <a:latin typeface="Times New Roman" panose="02020603050405020304" pitchFamily="18" charset="0"/>
                <a:cs typeface="Times New Roman" panose="02020603050405020304" pitchFamily="18" charset="0"/>
              </a:rPr>
              <a:t>: </a:t>
            </a:r>
          </a:p>
          <a:p>
            <a:pPr marL="400050" lvl="1" indent="0">
              <a:lnSpc>
                <a:spcPct val="150000"/>
              </a:lnSpc>
              <a:buNone/>
            </a:pPr>
            <a:r>
              <a:rPr lang="en-US" sz="1900">
                <a:latin typeface="Times New Roman" panose="02020603050405020304" pitchFamily="18" charset="0"/>
                <a:cs typeface="Times New Roman" panose="02020603050405020304" pitchFamily="18" charset="0"/>
              </a:rPr>
              <a:t>Build an AI-powered grocery optimizer that creates budget-friendly, nutrition-aware shopping lists using local price data, with smart substitutions and nearest store recommendations to balance health, cost, and availability.</a:t>
            </a:r>
          </a:p>
          <a:p>
            <a:pPr marL="0" indent="0">
              <a:buNone/>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8397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6F86-35A8-6676-1837-290A366F9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0E754-70CC-D670-3868-3676D6B11BB0}"/>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C7A89A36-8556-15EF-BA92-0F76CF252B74}"/>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6" name="Content Placeholder 5">
            <a:extLst>
              <a:ext uri="{FF2B5EF4-FFF2-40B4-BE49-F238E27FC236}">
                <a16:creationId xmlns:a16="http://schemas.microsoft.com/office/drawing/2014/main" id="{CF33CBE4-E324-6377-BD80-A09E57A7B41C}"/>
              </a:ext>
            </a:extLst>
          </p:cNvPr>
          <p:cNvSpPr txBox="1">
            <a:spLocks noGrp="1"/>
          </p:cNvSpPr>
          <p:nvPr>
            <p:ph idx="1"/>
          </p:nvPr>
        </p:nvSpPr>
        <p:spPr>
          <a:xfrm>
            <a:off x="304800" y="937544"/>
            <a:ext cx="11684000" cy="5449824"/>
          </a:xfrm>
          <a:prstGeom prst="rect">
            <a:avLst/>
          </a:prstGeom>
          <a:noFill/>
        </p:spPr>
        <p:txBody>
          <a:bodyPr wrap="square" rtlCol="0">
            <a:spAutoFit/>
          </a:bodyPr>
          <a:lstStyle/>
          <a:p>
            <a:pPr marL="0" indent="0">
              <a:lnSpc>
                <a:spcPct val="150000"/>
              </a:lnSpc>
              <a:buNone/>
            </a:pPr>
            <a:r>
              <a:rPr lang="en-US" sz="2200" b="1">
                <a:latin typeface="Times New Roman" panose="02020603050405020304" pitchFamily="18" charset="0"/>
                <a:cs typeface="Times New Roman" panose="02020603050405020304" pitchFamily="18" charset="0"/>
              </a:rPr>
              <a:t>Research Gap :</a:t>
            </a:r>
            <a:endParaRPr lang="en-US" sz="2200">
              <a:latin typeface="Times New Roman" panose="02020603050405020304" pitchFamily="18" charset="0"/>
              <a:cs typeface="Times New Roman" panose="02020603050405020304" pitchFamily="18" charset="0"/>
            </a:endParaRPr>
          </a:p>
          <a:p>
            <a:pPr marL="0" indent="0">
              <a:lnSpc>
                <a:spcPct val="150000"/>
              </a:lnSpc>
              <a:buNone/>
            </a:pPr>
            <a:r>
              <a:rPr lang="en-US" sz="2400" b="1">
                <a:latin typeface="Times New Roman" panose="02020603050405020304" pitchFamily="18" charset="0"/>
                <a:cs typeface="Times New Roman" panose="02020603050405020304" pitchFamily="18" charset="0"/>
              </a:rPr>
              <a:t> </a:t>
            </a:r>
          </a:p>
          <a:p>
            <a:pPr marL="0" indent="0">
              <a:lnSpc>
                <a:spcPct val="150000"/>
              </a:lnSpc>
              <a:buNone/>
            </a:pPr>
            <a:endParaRPr lang="en-US" sz="2400" b="1">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3DE4292-FCC5-6F7D-3A93-D9953C66039F}"/>
              </a:ext>
            </a:extLst>
          </p:cNvPr>
          <p:cNvGraphicFramePr>
            <a:graphicFrameLocks noGrp="1"/>
          </p:cNvGraphicFramePr>
          <p:nvPr>
            <p:extLst>
              <p:ext uri="{D42A27DB-BD31-4B8C-83A1-F6EECF244321}">
                <p14:modId xmlns:p14="http://schemas.microsoft.com/office/powerpoint/2010/main" val="3753518348"/>
              </p:ext>
            </p:extLst>
          </p:nvPr>
        </p:nvGraphicFramePr>
        <p:xfrm>
          <a:off x="629452" y="1761085"/>
          <a:ext cx="10822329" cy="3802741"/>
        </p:xfrm>
        <a:graphic>
          <a:graphicData uri="http://schemas.openxmlformats.org/drawingml/2006/table">
            <a:tbl>
              <a:tblPr>
                <a:tableStyleId>{BC89EF96-8CEA-46FF-86C4-4CE0E7609802}</a:tableStyleId>
              </a:tblPr>
              <a:tblGrid>
                <a:gridCol w="3607443">
                  <a:extLst>
                    <a:ext uri="{9D8B030D-6E8A-4147-A177-3AD203B41FA5}">
                      <a16:colId xmlns:a16="http://schemas.microsoft.com/office/drawing/2014/main" val="2038879551"/>
                    </a:ext>
                  </a:extLst>
                </a:gridCol>
                <a:gridCol w="3607443">
                  <a:extLst>
                    <a:ext uri="{9D8B030D-6E8A-4147-A177-3AD203B41FA5}">
                      <a16:colId xmlns:a16="http://schemas.microsoft.com/office/drawing/2014/main" val="1815271240"/>
                    </a:ext>
                  </a:extLst>
                </a:gridCol>
                <a:gridCol w="3607443">
                  <a:extLst>
                    <a:ext uri="{9D8B030D-6E8A-4147-A177-3AD203B41FA5}">
                      <a16:colId xmlns:a16="http://schemas.microsoft.com/office/drawing/2014/main" val="2343971516"/>
                    </a:ext>
                  </a:extLst>
                </a:gridCol>
              </a:tblGrid>
              <a:tr h="446540">
                <a:tc>
                  <a:txBody>
                    <a:bodyPr/>
                    <a:lstStyle/>
                    <a:p>
                      <a:pPr>
                        <a:buNone/>
                      </a:pPr>
                      <a:r>
                        <a:rPr lang="en-US" sz="1800" b="1"/>
                        <a:t>Research Gap</a:t>
                      </a:r>
                      <a:endParaRPr lang="en-US" sz="1800"/>
                    </a:p>
                  </a:txBody>
                  <a:tcPr anchor="ctr">
                    <a:solidFill>
                      <a:schemeClr val="bg2"/>
                    </a:solidFill>
                  </a:tcPr>
                </a:tc>
                <a:tc>
                  <a:txBody>
                    <a:bodyPr/>
                    <a:lstStyle/>
                    <a:p>
                      <a:pPr>
                        <a:buNone/>
                      </a:pPr>
                      <a:r>
                        <a:rPr lang="en-US" sz="1800" b="1"/>
                        <a:t>Existing App Behaviour</a:t>
                      </a:r>
                      <a:endParaRPr lang="en-US" sz="1800"/>
                    </a:p>
                  </a:txBody>
                  <a:tcPr anchor="ctr">
                    <a:solidFill>
                      <a:schemeClr val="bg2"/>
                    </a:solidFill>
                  </a:tcPr>
                </a:tc>
                <a:tc>
                  <a:txBody>
                    <a:bodyPr/>
                    <a:lstStyle/>
                    <a:p>
                      <a:pPr>
                        <a:buNone/>
                      </a:pPr>
                      <a:r>
                        <a:rPr lang="en-US" sz="1800" b="1"/>
                        <a:t>Proposed Solution</a:t>
                      </a:r>
                      <a:endParaRPr lang="en-US" sz="1800"/>
                    </a:p>
                  </a:txBody>
                  <a:tcPr anchor="ctr">
                    <a:solidFill>
                      <a:schemeClr val="bg2"/>
                    </a:solidFill>
                  </a:tcPr>
                </a:tc>
                <a:extLst>
                  <a:ext uri="{0D108BD9-81ED-4DB2-BD59-A6C34878D82A}">
                    <a16:rowId xmlns:a16="http://schemas.microsoft.com/office/drawing/2014/main" val="2769593321"/>
                  </a:ext>
                </a:extLst>
              </a:tr>
              <a:tr h="1011869">
                <a:tc>
                  <a:txBody>
                    <a:bodyPr/>
                    <a:lstStyle/>
                    <a:p>
                      <a:pPr>
                        <a:buNone/>
                      </a:pPr>
                      <a:r>
                        <a:rPr lang="en-US">
                          <a:latin typeface="Times New Roman" panose="02020603050405020304" pitchFamily="18" charset="0"/>
                          <a:cs typeface="Times New Roman" panose="02020603050405020304" pitchFamily="18" charset="0"/>
                        </a:rPr>
                        <a:t>No integration of real-time grocery prices</a:t>
                      </a:r>
                      <a:endParaRPr lang="en-US" sz="1800">
                        <a:latin typeface="Times New Roman" panose="02020603050405020304" pitchFamily="18" charset="0"/>
                        <a:cs typeface="Times New Roman" panose="02020603050405020304" pitchFamily="18" charset="0"/>
                      </a:endParaRPr>
                    </a:p>
                  </a:txBody>
                  <a:tcPr anchor="ctr"/>
                </a:tc>
                <a:tc>
                  <a:txBody>
                    <a:bodyPr/>
                    <a:lstStyle/>
                    <a:p>
                      <a:pPr>
                        <a:buNone/>
                      </a:pPr>
                      <a:r>
                        <a:rPr lang="en-US" i="0">
                          <a:latin typeface="Times New Roman" panose="02020603050405020304" pitchFamily="18" charset="0"/>
                          <a:cs typeface="Times New Roman" panose="02020603050405020304" pitchFamily="18" charset="0"/>
                        </a:rPr>
                        <a:t>MyFitnessPal, Yazio, Cal Pal </a:t>
                      </a:r>
                      <a:r>
                        <a:rPr lang="en-US">
                          <a:latin typeface="Times New Roman" panose="02020603050405020304" pitchFamily="18" charset="0"/>
                          <a:cs typeface="Times New Roman" panose="02020603050405020304" pitchFamily="18" charset="0"/>
                        </a:rPr>
                        <a:t>– focus on calories only, </a:t>
                      </a:r>
                      <a:r>
                        <a:rPr lang="en-US" b="0">
                          <a:latin typeface="Times New Roman" panose="02020603050405020304" pitchFamily="18" charset="0"/>
                          <a:cs typeface="Times New Roman" panose="02020603050405020304" pitchFamily="18" charset="0"/>
                        </a:rPr>
                        <a:t>no real-time price data</a:t>
                      </a:r>
                      <a:endParaRPr lang="en-US" sz="1800" b="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Integrate Sri Lankan grocery price data</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0702387"/>
                  </a:ext>
                </a:extLst>
              </a:tr>
              <a:tr h="781444">
                <a:tc>
                  <a:txBody>
                    <a:bodyPr/>
                    <a:lstStyle/>
                    <a:p>
                      <a:pPr>
                        <a:buNone/>
                      </a:pPr>
                      <a:r>
                        <a:rPr lang="en-US">
                          <a:latin typeface="Times New Roman" panose="02020603050405020304" pitchFamily="18" charset="0"/>
                          <a:cs typeface="Times New Roman" panose="02020603050405020304" pitchFamily="18" charset="0"/>
                        </a:rPr>
                        <a:t>Limited focus on affordability &amp; budget planning</a:t>
                      </a:r>
                      <a:endParaRPr lang="en-US" sz="1800">
                        <a:latin typeface="Times New Roman" panose="02020603050405020304" pitchFamily="18" charset="0"/>
                        <a:cs typeface="Times New Roman" panose="02020603050405020304" pitchFamily="18" charset="0"/>
                      </a:endParaRPr>
                    </a:p>
                  </a:txBody>
                  <a:tcPr anchor="ctr"/>
                </a:tc>
                <a:tc>
                  <a:txBody>
                    <a:bodyPr/>
                    <a:lstStyle/>
                    <a:p>
                      <a:pPr>
                        <a:buNone/>
                      </a:pPr>
                      <a:r>
                        <a:rPr lang="en-US" i="0">
                          <a:latin typeface="Times New Roman" panose="02020603050405020304" pitchFamily="18" charset="0"/>
                          <a:cs typeface="Times New Roman" panose="02020603050405020304" pitchFamily="18" charset="0"/>
                        </a:rPr>
                        <a:t>Samsung Health </a:t>
                      </a:r>
                      <a:r>
                        <a:rPr lang="en-US">
                          <a:latin typeface="Times New Roman" panose="02020603050405020304" pitchFamily="18" charset="0"/>
                          <a:cs typeface="Times New Roman" panose="02020603050405020304" pitchFamily="18" charset="0"/>
                        </a:rPr>
                        <a:t>– health tracking only, </a:t>
                      </a:r>
                      <a:r>
                        <a:rPr lang="en-US" b="0">
                          <a:latin typeface="Times New Roman" panose="02020603050405020304" pitchFamily="18" charset="0"/>
                          <a:cs typeface="Times New Roman" panose="02020603050405020304" pitchFamily="18" charset="0"/>
                        </a:rPr>
                        <a:t>ignores affordability</a:t>
                      </a:r>
                      <a:endParaRPr lang="en-US" sz="1800" b="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Optimize grocery lists to stay within user budget</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47183109"/>
                  </a:ext>
                </a:extLst>
              </a:tr>
              <a:tr h="781444">
                <a:tc>
                  <a:txBody>
                    <a:bodyPr/>
                    <a:lstStyle/>
                    <a:p>
                      <a:pPr>
                        <a:buNone/>
                      </a:pPr>
                      <a:r>
                        <a:rPr lang="en-US">
                          <a:latin typeface="Times New Roman" panose="02020603050405020304" pitchFamily="18" charset="0"/>
                          <a:cs typeface="Times New Roman" panose="02020603050405020304" pitchFamily="18" charset="0"/>
                        </a:rPr>
                        <a:t>Lack of support for Sri Lankan food culture &amp; diets</a:t>
                      </a:r>
                      <a:endParaRPr lang="en-US" sz="180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Global apps – focus on Western foods, </a:t>
                      </a:r>
                      <a:r>
                        <a:rPr lang="en-US" b="0">
                          <a:latin typeface="Times New Roman" panose="02020603050405020304" pitchFamily="18" charset="0"/>
                          <a:cs typeface="Times New Roman" panose="02020603050405020304" pitchFamily="18" charset="0"/>
                        </a:rPr>
                        <a:t>no local adaptation</a:t>
                      </a:r>
                      <a:endParaRPr lang="en-US" sz="1800" b="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Include Sri Lankan foods with local substitutions</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2766856"/>
                  </a:ext>
                </a:extLst>
              </a:tr>
              <a:tr h="781444">
                <a:tc>
                  <a:txBody>
                    <a:bodyPr/>
                    <a:lstStyle/>
                    <a:p>
                      <a:pPr>
                        <a:buNone/>
                      </a:pPr>
                      <a:r>
                        <a:rPr lang="en-US">
                          <a:latin typeface="Times New Roman" panose="02020603050405020304" pitchFamily="18" charset="0"/>
                          <a:cs typeface="Times New Roman" panose="02020603050405020304" pitchFamily="18" charset="0"/>
                        </a:rPr>
                        <a:t>No system combining health, cost &amp; store recommendations</a:t>
                      </a:r>
                      <a:endParaRPr lang="en-US" sz="180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Global apps – </a:t>
                      </a:r>
                      <a:r>
                        <a:rPr lang="en-US" b="0">
                          <a:latin typeface="Times New Roman" panose="02020603050405020304" pitchFamily="18" charset="0"/>
                          <a:cs typeface="Times New Roman" panose="02020603050405020304" pitchFamily="18" charset="0"/>
                        </a:rPr>
                        <a:t>no store/location optimization</a:t>
                      </a:r>
                      <a:endParaRPr lang="en-US" sz="1800" b="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Provide nearest store suggestions while balancing health &amp; cost</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17545715"/>
                  </a:ext>
                </a:extLst>
              </a:tr>
            </a:tbl>
          </a:graphicData>
        </a:graphic>
      </p:graphicFrame>
    </p:spTree>
    <p:extLst>
      <p:ext uri="{BB962C8B-B14F-4D97-AF65-F5344CB8AC3E}">
        <p14:creationId xmlns:p14="http://schemas.microsoft.com/office/powerpoint/2010/main" val="1806798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93EA-E58C-FBD5-E504-E02ABFFF5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FDDC1-6B0D-D472-B137-07DD6C3AD351}"/>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7543E081-9C94-6150-D8CE-711ACAA4CE9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6" name="Content Placeholder 5">
            <a:extLst>
              <a:ext uri="{FF2B5EF4-FFF2-40B4-BE49-F238E27FC236}">
                <a16:creationId xmlns:a16="http://schemas.microsoft.com/office/drawing/2014/main" id="{768CEDDF-2DE4-398B-8FEC-3450D47006DA}"/>
              </a:ext>
            </a:extLst>
          </p:cNvPr>
          <p:cNvSpPr txBox="1">
            <a:spLocks noGrp="1"/>
          </p:cNvSpPr>
          <p:nvPr>
            <p:ph idx="1"/>
          </p:nvPr>
        </p:nvSpPr>
        <p:spPr>
          <a:xfrm>
            <a:off x="304800" y="972269"/>
            <a:ext cx="11684000" cy="5844485"/>
          </a:xfrm>
          <a:prstGeom prst="rect">
            <a:avLst/>
          </a:prstGeom>
          <a:noFill/>
        </p:spPr>
        <p:txBody>
          <a:bodyPr wrap="square" rtlCol="0">
            <a:spAutoFit/>
          </a:bodyPr>
          <a:lstStyle/>
          <a:p>
            <a:pPr marL="0" indent="0">
              <a:lnSpc>
                <a:spcPct val="150000"/>
              </a:lnSpc>
              <a:buNone/>
            </a:pPr>
            <a:r>
              <a:rPr lang="en-US" sz="2200" b="1">
                <a:latin typeface="Times New Roman" panose="02020603050405020304" pitchFamily="18" charset="0"/>
                <a:cs typeface="Times New Roman" panose="02020603050405020304" pitchFamily="18" charset="0"/>
              </a:rPr>
              <a:t>Key Domains :</a:t>
            </a:r>
          </a:p>
          <a:p>
            <a:pPr marL="800100" lvl="1" indent="-342900">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Artificial Intelligence &amp; Machine Learning (</a:t>
            </a:r>
            <a:r>
              <a:rPr lang="en-US" sz="2000"/>
              <a:t>NLP, clustering, optimization</a:t>
            </a:r>
            <a:r>
              <a:rPr lang="en-US" sz="19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Data Science (market price analysis, data integration, and geolocation data processing for nearest store insights.)</a:t>
            </a:r>
          </a:p>
          <a:p>
            <a:pPr marL="800100" lvl="1" indent="-342900">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Software Engineering (</a:t>
            </a:r>
            <a:r>
              <a:rPr lang="en-US" sz="2000"/>
              <a:t>APIs for price and store data, visualization of optimized lists with store suggestions.</a:t>
            </a:r>
            <a:r>
              <a:rPr lang="en-US" sz="1900">
                <a:latin typeface="Times New Roman" panose="02020603050405020304" pitchFamily="18" charset="0"/>
                <a:cs typeface="Times New Roman" panose="02020603050405020304" pitchFamily="18" charset="0"/>
              </a:rPr>
              <a:t>)</a:t>
            </a:r>
          </a:p>
          <a:p>
            <a:pPr marL="457200" lvl="1" indent="0">
              <a:buNone/>
            </a:pPr>
            <a:endParaRPr lang="en-US" sz="1900">
              <a:latin typeface="Times New Roman" panose="02020603050405020304" pitchFamily="18" charset="0"/>
              <a:cs typeface="Times New Roman" panose="02020603050405020304" pitchFamily="18" charset="0"/>
            </a:endParaRPr>
          </a:p>
          <a:p>
            <a:pPr marL="0" indent="0">
              <a:lnSpc>
                <a:spcPct val="150000"/>
              </a:lnSpc>
              <a:buNone/>
            </a:pPr>
            <a:r>
              <a:rPr lang="en-US" sz="2200" b="1">
                <a:latin typeface="Times New Roman" panose="02020603050405020304" pitchFamily="18" charset="0"/>
                <a:cs typeface="Times New Roman" panose="02020603050405020304" pitchFamily="18" charset="0"/>
              </a:rPr>
              <a:t>Latest Technologies:</a:t>
            </a:r>
          </a:p>
          <a:p>
            <a:pPr lvl="1">
              <a:lnSpc>
                <a:spcPct val="150000"/>
              </a:lnSpc>
              <a:buFont typeface="Arial" panose="020B0604020202020204" pitchFamily="34" charset="0"/>
              <a:buChar char="•"/>
            </a:pPr>
            <a:r>
              <a:rPr lang="en-US" sz="1900"/>
              <a:t>NLP to extract and classify grocery items from meal plans.</a:t>
            </a:r>
          </a:p>
          <a:p>
            <a:pPr lvl="1">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Clustering algorithms (K-Means/DBSCAN) to suggest product substitutions and group similar items.</a:t>
            </a:r>
          </a:p>
          <a:p>
            <a:pPr lvl="1">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Budget optimization algorithms (Linear Programming)</a:t>
            </a:r>
            <a:r>
              <a:rPr lang="en-US"/>
              <a:t> </a:t>
            </a:r>
            <a:r>
              <a:rPr lang="en-US" sz="1900">
                <a:latin typeface="Times New Roman" panose="02020603050405020304" pitchFamily="18" charset="0"/>
                <a:cs typeface="Times New Roman" panose="02020603050405020304" pitchFamily="18" charset="0"/>
              </a:rPr>
              <a:t> to minimize costs while maintaining nutrition.</a:t>
            </a:r>
          </a:p>
          <a:p>
            <a:pPr lvl="1">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Geolocation &amp; Mapping APIs (Google Maps API) to recommend the nearest or most cost-effective stores.</a:t>
            </a:r>
          </a:p>
          <a:p>
            <a:pPr marL="457200" lvl="1" indent="0">
              <a:buNone/>
            </a:pPr>
            <a:endParaRPr lang="en-US" sz="1900">
              <a:latin typeface="Times New Roman" panose="02020603050405020304" pitchFamily="18" charset="0"/>
              <a:cs typeface="Times New Roman" panose="02020603050405020304" pitchFamily="18" charset="0"/>
            </a:endParaRPr>
          </a:p>
          <a:p>
            <a:pPr>
              <a:lnSpc>
                <a:spcPct val="150000"/>
              </a:lnSpc>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957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79F5E-EE21-A95D-F3D2-D2D03B219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C8AD8-E65C-A596-C696-CEC0B68F6696}"/>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30322C82-F56D-9F59-7B34-3ADE8206CEEF}"/>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6" name="Content Placeholder 5">
            <a:extLst>
              <a:ext uri="{FF2B5EF4-FFF2-40B4-BE49-F238E27FC236}">
                <a16:creationId xmlns:a16="http://schemas.microsoft.com/office/drawing/2014/main" id="{70E25C8F-843F-5CF5-ACCB-6D6997B4A448}"/>
              </a:ext>
            </a:extLst>
          </p:cNvPr>
          <p:cNvSpPr txBox="1">
            <a:spLocks noGrp="1"/>
          </p:cNvSpPr>
          <p:nvPr>
            <p:ph idx="1"/>
          </p:nvPr>
        </p:nvSpPr>
        <p:spPr>
          <a:xfrm>
            <a:off x="441767" y="880313"/>
            <a:ext cx="11308466" cy="4919472"/>
          </a:xfrm>
          <a:prstGeom prst="rect">
            <a:avLst/>
          </a:prstGeom>
          <a:noFill/>
        </p:spPr>
        <p:txBody>
          <a:bodyPr wrap="square" rtlCol="0">
            <a:spAutoFit/>
          </a:bodyPr>
          <a:lstStyle/>
          <a:p>
            <a:pPr marL="0" indent="0">
              <a:lnSpc>
                <a:spcPct val="150000"/>
              </a:lnSpc>
              <a:buNone/>
            </a:pPr>
            <a:r>
              <a:rPr lang="en-US" sz="2200" b="1">
                <a:latin typeface="Times New Roman" panose="02020603050405020304" pitchFamily="18" charset="0"/>
                <a:cs typeface="Times New Roman" panose="02020603050405020304" pitchFamily="18" charset="0"/>
              </a:rPr>
              <a:t>Main </a:t>
            </a:r>
            <a:r>
              <a:rPr lang="en-US" sz="2200" b="1"/>
              <a:t>Objectives</a:t>
            </a:r>
            <a:r>
              <a:rPr lang="en-US" sz="2200" b="1">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a:t>
            </a:r>
          </a:p>
          <a:p>
            <a:pPr marL="457200" lvl="1" indent="0">
              <a:lnSpc>
                <a:spcPct val="150000"/>
              </a:lnSpc>
              <a:buNone/>
            </a:pPr>
            <a:r>
              <a:rPr lang="en-US" sz="2000">
                <a:latin typeface="Times New Roman" panose="02020603050405020304" pitchFamily="18" charset="0"/>
                <a:cs typeface="Times New Roman" panose="02020603050405020304" pitchFamily="18" charset="0"/>
              </a:rPr>
              <a:t>Develop an AI-powered grocery list optimizer that combines local prices, dietary filters, substitutions, and nearest store recommendations to generate budget-friendly, nutrition-aware shopping lists.</a:t>
            </a:r>
          </a:p>
          <a:p>
            <a:pPr marL="457200" lvl="1" indent="0">
              <a:buNone/>
            </a:pPr>
            <a:endParaRPr lang="en-US" sz="1900">
              <a:latin typeface="Times New Roman" panose="02020603050405020304" pitchFamily="18" charset="0"/>
              <a:cs typeface="Times New Roman" panose="02020603050405020304" pitchFamily="18" charset="0"/>
            </a:endParaRPr>
          </a:p>
          <a:p>
            <a:pPr marL="457200" lvl="1" indent="0">
              <a:buNone/>
            </a:pPr>
            <a:endParaRPr lang="en-US" sz="1900">
              <a:latin typeface="Times New Roman" panose="02020603050405020304" pitchFamily="18" charset="0"/>
              <a:cs typeface="Times New Roman" panose="02020603050405020304" pitchFamily="18" charset="0"/>
            </a:endParaRPr>
          </a:p>
          <a:p>
            <a:pPr marL="0" indent="0">
              <a:lnSpc>
                <a:spcPct val="150000"/>
              </a:lnSpc>
              <a:buNone/>
            </a:pPr>
            <a:r>
              <a:rPr lang="en-US" sz="2200" b="1">
                <a:latin typeface="Times New Roman" panose="02020603050405020304" pitchFamily="18" charset="0"/>
                <a:cs typeface="Times New Roman" panose="02020603050405020304" pitchFamily="18" charset="0"/>
              </a:rPr>
              <a:t>Sub </a:t>
            </a:r>
            <a:r>
              <a:rPr lang="en-US" sz="2200" b="1"/>
              <a:t>Objectives</a:t>
            </a:r>
            <a:r>
              <a:rPr lang="en-US" sz="2200" b="1">
                <a:latin typeface="Times New Roman" panose="02020603050405020304" pitchFamily="18" charset="0"/>
                <a:cs typeface="Times New Roman" panose="02020603050405020304" pitchFamily="18" charset="0"/>
              </a:rPr>
              <a:t> :</a:t>
            </a:r>
          </a:p>
          <a:p>
            <a:pPr marL="0" indent="0">
              <a:lnSpc>
                <a:spcPct val="150000"/>
              </a:lnSpc>
              <a:buNone/>
            </a:pPr>
            <a:endParaRPr lang="en-US" sz="2400" b="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F5B65E0-3BD3-F0B5-123F-0203FC5ADAAC}"/>
              </a:ext>
            </a:extLst>
          </p:cNvPr>
          <p:cNvSpPr txBox="1"/>
          <p:nvPr/>
        </p:nvSpPr>
        <p:spPr>
          <a:xfrm>
            <a:off x="441767" y="3564772"/>
            <a:ext cx="10776995" cy="1809919"/>
          </a:xfrm>
          <a:prstGeom prst="rect">
            <a:avLst/>
          </a:prstGeom>
          <a:noFill/>
        </p:spPr>
        <p:txBody>
          <a:bodyPr wrap="square" numCol="2" rtlCol="0">
            <a:spAutoFit/>
          </a:bodyPr>
          <a:lstStyle/>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Data Collection and Preprocessing</a:t>
            </a:r>
          </a:p>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Grocery List Generation</a:t>
            </a:r>
          </a:p>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Dietary and Nutritional Filters</a:t>
            </a:r>
          </a:p>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Real-Time Budget Optimization</a:t>
            </a:r>
          </a:p>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Nearest or cost-effective store suggestions.</a:t>
            </a:r>
          </a:p>
          <a:p>
            <a:pPr marL="742950" lvl="1" indent="-285750">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User Interface Development</a:t>
            </a:r>
          </a:p>
          <a:p>
            <a:pPr marL="285750" indent="-285750">
              <a:lnSpc>
                <a:spcPct val="150000"/>
              </a:lnSpc>
              <a:buFont typeface="Arial" panose="020B0604020202020204" pitchFamily="34" charset="0"/>
              <a:buChar char="•"/>
            </a:pPr>
            <a:endParaRPr lang="en-US" sz="19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438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8F27-2A25-0158-BA45-2F7A7AC09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F7656-0AA4-2A7D-8657-1B0FC5F1A915}"/>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70EE915E-98B3-73D4-0347-7157A11221B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6" name="Content Placeholder 5">
            <a:extLst>
              <a:ext uri="{FF2B5EF4-FFF2-40B4-BE49-F238E27FC236}">
                <a16:creationId xmlns:a16="http://schemas.microsoft.com/office/drawing/2014/main" id="{77EEDB45-2601-472D-3414-D0BBCEE6FCA1}"/>
              </a:ext>
            </a:extLst>
          </p:cNvPr>
          <p:cNvSpPr txBox="1">
            <a:spLocks noGrp="1"/>
          </p:cNvSpPr>
          <p:nvPr>
            <p:ph idx="1"/>
          </p:nvPr>
        </p:nvSpPr>
        <p:spPr>
          <a:xfrm>
            <a:off x="304800" y="899638"/>
            <a:ext cx="11582400" cy="6455422"/>
          </a:xfrm>
          <a:prstGeom prst="rect">
            <a:avLst/>
          </a:prstGeom>
          <a:noFill/>
        </p:spPr>
        <p:txBody>
          <a:bodyPr wrap="square" rtlCol="0">
            <a:spAutoFit/>
          </a:bodyPr>
          <a:lstStyle/>
          <a:p>
            <a:pPr marL="0" indent="0">
              <a:lnSpc>
                <a:spcPct val="150000"/>
              </a:lnSpc>
              <a:buNone/>
            </a:pPr>
            <a:r>
              <a:rPr lang="en-US" sz="2200" b="1">
                <a:latin typeface="Times New Roman" panose="02020603050405020304" pitchFamily="18" charset="0"/>
                <a:cs typeface="Times New Roman" panose="02020603050405020304" pitchFamily="18" charset="0"/>
              </a:rPr>
              <a:t>Data Availability:</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HARTI (Hector Kobbekaduwa Agrarian Research and Training Institute) Daily</a:t>
            </a:r>
            <a:r>
              <a:rPr lang="en-US" b="1"/>
              <a:t> </a:t>
            </a:r>
            <a:r>
              <a:rPr lang="en-US" sz="1900">
                <a:latin typeface="Times New Roman" panose="02020603050405020304" pitchFamily="18" charset="0"/>
                <a:cs typeface="Times New Roman" panose="02020603050405020304" pitchFamily="18" charset="0"/>
              </a:rPr>
              <a:t>bulletins → market price data.</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DCS (Department of Census and Statistics ) reports →  Weekly Retail Prices for selected Consumer Items.</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Central Bank of Sri Lanka (CBSL) → Daily price reports offers official daily retail and wholesale price major markets.</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World Food Prices Dataset (WFP) → historical &amp; comparative commodity prices across Sri Lanka.</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 Nutrition databases →  WHO, MRI (Medical Research Institute Sri Lanka) , Sri Lanka Food Composition Database (FCDB).</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Supermarket websites → product names, categories, and prices.</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Store location datasets / Supermarket APIs → nearest store availability and location-based pricing.</a:t>
            </a:r>
          </a:p>
          <a:p>
            <a:pPr lvl="1">
              <a:buFont typeface="Arial" panose="020B0604020202020204" pitchFamily="34" charset="0"/>
              <a:buChar char="•"/>
            </a:pPr>
            <a:endParaRPr lang="en-US" sz="1900">
              <a:latin typeface="Times New Roman" panose="02020603050405020304" pitchFamily="18" charset="0"/>
              <a:cs typeface="Times New Roman" panose="02020603050405020304" pitchFamily="18" charset="0"/>
            </a:endParaRPr>
          </a:p>
          <a:p>
            <a:pPr marL="457200" lvl="1" indent="0">
              <a:buNone/>
            </a:pPr>
            <a:endParaRPr lang="en-US" sz="1900">
              <a:latin typeface="Times New Roman" panose="02020603050405020304" pitchFamily="18" charset="0"/>
              <a:cs typeface="Times New Roman" panose="02020603050405020304" pitchFamily="18" charset="0"/>
            </a:endParaRPr>
          </a:p>
          <a:p>
            <a:pPr>
              <a:lnSpc>
                <a:spcPct val="150000"/>
              </a:lnSpc>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263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01E4B-1EE6-3423-A28E-9909201F6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28807-FE7E-73B3-1520-9B81295FAB46}"/>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7C003463-0F56-6F77-EE93-5299E76CE4E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6" name="Content Placeholder 5">
            <a:extLst>
              <a:ext uri="{FF2B5EF4-FFF2-40B4-BE49-F238E27FC236}">
                <a16:creationId xmlns:a16="http://schemas.microsoft.com/office/drawing/2014/main" id="{08EFBEDF-1DFC-FE50-7FA5-89395FB1F66F}"/>
              </a:ext>
            </a:extLst>
          </p:cNvPr>
          <p:cNvSpPr txBox="1">
            <a:spLocks noGrp="1"/>
          </p:cNvSpPr>
          <p:nvPr>
            <p:ph idx="1"/>
          </p:nvPr>
        </p:nvSpPr>
        <p:spPr>
          <a:xfrm>
            <a:off x="1133636" y="1390412"/>
            <a:ext cx="10143964" cy="3860865"/>
          </a:xfrm>
          <a:prstGeom prst="rect">
            <a:avLst/>
          </a:prstGeom>
          <a:noFill/>
        </p:spPr>
        <p:txBody>
          <a:bodyPr wrap="square" rtlCol="0">
            <a:spAutoFit/>
          </a:bodyPr>
          <a:lstStyle/>
          <a:p>
            <a:pPr lvl="1">
              <a:buFont typeface="Arial" panose="020B0604020202020204" pitchFamily="34" charset="0"/>
              <a:buChar char="•"/>
            </a:pPr>
            <a:endParaRPr lang="en-US" sz="1900">
              <a:latin typeface="Times New Roman" panose="02020603050405020304" pitchFamily="18" charset="0"/>
              <a:cs typeface="Times New Roman" panose="02020603050405020304" pitchFamily="18" charset="0"/>
            </a:endParaRPr>
          </a:p>
          <a:p>
            <a:pPr marL="0" indent="0">
              <a:lnSpc>
                <a:spcPct val="150000"/>
              </a:lnSpc>
              <a:buNone/>
            </a:pPr>
            <a:r>
              <a:rPr lang="en-US" sz="2200" b="1">
                <a:latin typeface="Times New Roman" panose="02020603050405020304" pitchFamily="18" charset="0"/>
                <a:cs typeface="Times New Roman" panose="02020603050405020304" pitchFamily="18" charset="0"/>
              </a:rPr>
              <a:t>Real-World Application:</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Households: Generate healthy and affordable weekly grocery lists.</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Students: Get nearest store suggestions with cheapest options.</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Patients (e.g., diabetic, vegetarian): Apply dietary filters within budget.</a:t>
            </a:r>
          </a:p>
          <a:p>
            <a:pPr lvl="1">
              <a:lnSpc>
                <a:spcPct val="150000"/>
              </a:lnSpc>
              <a:buFont typeface="Arial" panose="020B0604020202020204" pitchFamily="34" charset="0"/>
              <a:buChar char="•"/>
            </a:pPr>
            <a:r>
              <a:rPr lang="en-US" sz="1900">
                <a:latin typeface="Times New Roman" panose="02020603050405020304" pitchFamily="18" charset="0"/>
                <a:cs typeface="Times New Roman" panose="02020603050405020304" pitchFamily="18" charset="0"/>
              </a:rPr>
              <a:t>Retail/Nutrition sector: Support clinics, NGOs, and stores with cost-aware meal planning.</a:t>
            </a:r>
          </a:p>
          <a:p>
            <a:pPr marL="457200" lvl="1" indent="0">
              <a:buNone/>
            </a:pPr>
            <a:endParaRPr lang="en-US" sz="1900">
              <a:latin typeface="Times New Roman" panose="02020603050405020304" pitchFamily="18" charset="0"/>
              <a:cs typeface="Times New Roman" panose="02020603050405020304" pitchFamily="18" charset="0"/>
            </a:endParaRPr>
          </a:p>
          <a:p>
            <a:pPr>
              <a:lnSpc>
                <a:spcPct val="150000"/>
              </a:lnSpc>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93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47577-13A0-3F81-6909-EEB9EC648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39B4D-4B57-6136-0434-3E626491FB7C}"/>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7DA98D6E-E965-C81F-7DF6-B59F854596AC}"/>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sp>
        <p:nvSpPr>
          <p:cNvPr id="5" name="Content Placeholder 4">
            <a:extLst>
              <a:ext uri="{FF2B5EF4-FFF2-40B4-BE49-F238E27FC236}">
                <a16:creationId xmlns:a16="http://schemas.microsoft.com/office/drawing/2014/main" id="{5F277A3A-2526-7FEF-A2ED-762885954857}"/>
              </a:ext>
            </a:extLst>
          </p:cNvPr>
          <p:cNvSpPr>
            <a:spLocks noGrp="1"/>
          </p:cNvSpPr>
          <p:nvPr>
            <p:ph idx="1"/>
          </p:nvPr>
        </p:nvSpPr>
        <p:spPr/>
        <p:txBody>
          <a:bodyPr>
            <a:normAutofit/>
          </a:bodyPr>
          <a:lstStyle/>
          <a:p>
            <a:pPr marL="0" indent="0">
              <a:buNone/>
            </a:pPr>
            <a:r>
              <a:rPr lang="en-US" sz="2200" b="1">
                <a:latin typeface="Times New Roman" panose="02020603050405020304" pitchFamily="18" charset="0"/>
                <a:cs typeface="Times New Roman" panose="02020603050405020304" pitchFamily="18" charset="0"/>
              </a:rPr>
              <a:t>  Component Diagram</a:t>
            </a:r>
          </a:p>
        </p:txBody>
      </p:sp>
      <p:pic>
        <p:nvPicPr>
          <p:cNvPr id="8" name="Picture 7" descr="A diagram of a software application&#10;&#10;AI-generated content may be incorrect.">
            <a:extLst>
              <a:ext uri="{FF2B5EF4-FFF2-40B4-BE49-F238E27FC236}">
                <a16:creationId xmlns:a16="http://schemas.microsoft.com/office/drawing/2014/main" id="{A56B3DBD-4A21-6426-054A-FA575C1C0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2564" y="1643605"/>
            <a:ext cx="7008471" cy="4672314"/>
          </a:xfrm>
          <a:prstGeom prst="rect">
            <a:avLst/>
          </a:prstGeom>
        </p:spPr>
      </p:pic>
    </p:spTree>
    <p:extLst>
      <p:ext uri="{BB962C8B-B14F-4D97-AF65-F5344CB8AC3E}">
        <p14:creationId xmlns:p14="http://schemas.microsoft.com/office/powerpoint/2010/main" val="3942485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6EBFC-AD74-41C6-276B-082513833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02FE3-DA5E-E347-4605-37EDE4A15199}"/>
              </a:ext>
            </a:extLst>
          </p:cNvPr>
          <p:cNvSpPr>
            <a:spLocks noGrp="1"/>
          </p:cNvSpPr>
          <p:nvPr>
            <p:ph type="title"/>
          </p:nvPr>
        </p:nvSpPr>
        <p:spPr>
          <a:xfrm>
            <a:off x="304800" y="197644"/>
            <a:ext cx="11684000" cy="574516"/>
          </a:xfrm>
        </p:spPr>
        <p:txBody>
          <a:bodyPr>
            <a:normAutofit/>
          </a:bodyPr>
          <a:lstStyle/>
          <a:p>
            <a:r>
              <a:rPr lang="en-US" sz="2400"/>
              <a:t>AI-powered Smart Grocery List Optimization and Nearest Store Recommendation</a:t>
            </a:r>
          </a:p>
        </p:txBody>
      </p:sp>
      <p:sp>
        <p:nvSpPr>
          <p:cNvPr id="4" name="Rectangle 3">
            <a:extLst>
              <a:ext uri="{FF2B5EF4-FFF2-40B4-BE49-F238E27FC236}">
                <a16:creationId xmlns:a16="http://schemas.microsoft.com/office/drawing/2014/main" id="{A2D808F2-60D3-E7DA-B6A9-812B1692B41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IT22343284</a:t>
            </a:r>
            <a:r>
              <a:rPr lang="en-US" sz="1800">
                <a:solidFill>
                  <a:schemeClr val="tx1"/>
                </a:solidFill>
              </a:rPr>
              <a:t>   |   </a:t>
            </a:r>
            <a:r>
              <a:rPr lang="en-US">
                <a:solidFill>
                  <a:schemeClr val="tx1"/>
                </a:solidFill>
              </a:rPr>
              <a:t>Samarawickrama T.N </a:t>
            </a:r>
            <a:r>
              <a:rPr lang="en-US" sz="1800">
                <a:solidFill>
                  <a:schemeClr val="tx1"/>
                </a:solidFill>
              </a:rPr>
              <a:t>|   25-26J-386</a:t>
            </a:r>
            <a:endParaRPr lang="en-US" sz="1800" b="0">
              <a:solidFill>
                <a:schemeClr val="tx1"/>
              </a:solidFill>
            </a:endParaRPr>
          </a:p>
        </p:txBody>
      </p:sp>
      <p:pic>
        <p:nvPicPr>
          <p:cNvPr id="5" name="Picture 4">
            <a:extLst>
              <a:ext uri="{FF2B5EF4-FFF2-40B4-BE49-F238E27FC236}">
                <a16:creationId xmlns:a16="http://schemas.microsoft.com/office/drawing/2014/main" id="{777D7496-D957-850F-A442-A60C75B607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2825" y="1130366"/>
            <a:ext cx="8514736" cy="4792407"/>
          </a:xfrm>
          <a:prstGeom prst="rect">
            <a:avLst/>
          </a:prstGeom>
        </p:spPr>
      </p:pic>
    </p:spTree>
    <p:extLst>
      <p:ext uri="{BB962C8B-B14F-4D97-AF65-F5344CB8AC3E}">
        <p14:creationId xmlns:p14="http://schemas.microsoft.com/office/powerpoint/2010/main" val="3039644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F0BA9-76BC-6BC6-A437-A9D2F9089598}"/>
              </a:ext>
            </a:extLst>
          </p:cNvPr>
          <p:cNvSpPr>
            <a:spLocks noGrp="1"/>
          </p:cNvSpPr>
          <p:nvPr>
            <p:ph type="title"/>
          </p:nvPr>
        </p:nvSpPr>
        <p:spPr/>
        <p:txBody>
          <a:bodyPr/>
          <a:lstStyle/>
          <a:p>
            <a:r>
              <a:rPr lang="en-US" b="1"/>
              <a:t>Commercialization Potential</a:t>
            </a:r>
            <a:endParaRPr lang="en-US"/>
          </a:p>
        </p:txBody>
      </p:sp>
      <p:sp>
        <p:nvSpPr>
          <p:cNvPr id="3" name="Content Placeholder 2">
            <a:extLst>
              <a:ext uri="{FF2B5EF4-FFF2-40B4-BE49-F238E27FC236}">
                <a16:creationId xmlns:a16="http://schemas.microsoft.com/office/drawing/2014/main" id="{7ACDB14C-5373-9367-788F-63D0D031AFEE}"/>
              </a:ext>
            </a:extLst>
          </p:cNvPr>
          <p:cNvSpPr>
            <a:spLocks noGrp="1"/>
          </p:cNvSpPr>
          <p:nvPr>
            <p:ph idx="1"/>
          </p:nvPr>
        </p:nvSpPr>
        <p:spPr>
          <a:xfrm>
            <a:off x="304800" y="1066800"/>
            <a:ext cx="11684000" cy="5181600"/>
          </a:xfrm>
        </p:spPr>
        <p:txBody>
          <a:bodyPr>
            <a:normAutofit lnSpcReduction="10000"/>
          </a:bodyPr>
          <a:lstStyle/>
          <a:p>
            <a:pPr marL="0" indent="0">
              <a:buNone/>
            </a:pPr>
            <a:r>
              <a:rPr lang="en-GB" b="1"/>
              <a:t>Commercialization Potential:</a:t>
            </a:r>
            <a:r>
              <a:rPr lang="en-GB"/>
              <a:t> The MDANE engine has significant business value:</a:t>
            </a:r>
          </a:p>
          <a:p>
            <a:pPr lvl="1">
              <a:buFont typeface="Arial" panose="020B0604020202020204" pitchFamily="34" charset="0"/>
              <a:buChar char="•"/>
            </a:pPr>
            <a:r>
              <a:rPr lang="en-GB" b="1"/>
              <a:t>Market:</a:t>
            </a:r>
            <a:r>
              <a:rPr lang="en-GB"/>
              <a:t> Targets the growing personalized health &amp; multi-morbidity management market.</a:t>
            </a:r>
          </a:p>
          <a:p>
            <a:pPr lvl="1">
              <a:buFont typeface="Arial" panose="020B0604020202020204" pitchFamily="34" charset="0"/>
              <a:buChar char="•"/>
            </a:pPr>
            <a:r>
              <a:rPr lang="en-GB" b="1"/>
              <a:t>Revenue Models:</a:t>
            </a:r>
            <a:r>
              <a:rPr lang="en-GB"/>
              <a:t> B2C subscription app; B2B2C SaaS licensing to clinics, corporate wellness programs, and insurance companies.</a:t>
            </a:r>
          </a:p>
          <a:p>
            <a:pPr lvl="1">
              <a:buFont typeface="Arial" panose="020B0604020202020204" pitchFamily="34" charset="0"/>
              <a:buChar char="•"/>
            </a:pPr>
            <a:r>
              <a:rPr lang="en-GB" b="1"/>
              <a:t>USP(</a:t>
            </a:r>
            <a:r>
              <a:rPr lang="en-US"/>
              <a:t>Unique Selling Point)</a:t>
            </a:r>
            <a:r>
              <a:rPr lang="en-GB" b="1"/>
              <a:t>:</a:t>
            </a:r>
            <a:r>
              <a:rPr lang="en-GB"/>
              <a:t> First-mover advantage in providing </a:t>
            </a:r>
            <a:r>
              <a:rPr lang="en-GB" b="1"/>
              <a:t>safe, adaptive, and explainable</a:t>
            </a:r>
            <a:r>
              <a:rPr lang="en-GB"/>
              <a:t> nutrition guidance for multi-disease users.</a:t>
            </a:r>
          </a:p>
          <a:p>
            <a:pPr lvl="1">
              <a:buFont typeface="Arial" panose="020B0604020202020204" pitchFamily="34" charset="0"/>
              <a:buChar char="•"/>
            </a:pPr>
            <a:r>
              <a:rPr lang="en-GB" b="1"/>
              <a:t>TAM:</a:t>
            </a:r>
            <a:r>
              <a:rPr lang="en-GB"/>
              <a:t> With over 1 million potential users in the region, targeting a 10% penetration can recover costs within months. Partnerships with health NGOs and mobile manufacturers are a viable growth strategy.</a:t>
            </a:r>
          </a:p>
          <a:p>
            <a:pPr marL="0" indent="0">
              <a:buNone/>
            </a:pPr>
            <a:endParaRPr lang="en-US"/>
          </a:p>
        </p:txBody>
      </p:sp>
      <p:sp>
        <p:nvSpPr>
          <p:cNvPr id="4" name="Rectangle 3">
            <a:extLst>
              <a:ext uri="{FF2B5EF4-FFF2-40B4-BE49-F238E27FC236}">
                <a16:creationId xmlns:a16="http://schemas.microsoft.com/office/drawing/2014/main" id="{4900A0B5-9E2B-731A-CAF4-492A33FDC8B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IT22907684</a:t>
            </a:r>
            <a:r>
              <a:rPr lang="en-US" sz="1800">
                <a:solidFill>
                  <a:schemeClr val="tx1"/>
                </a:solidFill>
              </a:rPr>
              <a:t>   |   &lt;</a:t>
            </a:r>
            <a:r>
              <a:rPr lang="en-US" sz="1800" b="1">
                <a:solidFill>
                  <a:schemeClr val="tx1"/>
                </a:solidFill>
              </a:rPr>
              <a:t>&lt;</a:t>
            </a:r>
            <a:r>
              <a:rPr lang="en-US" b="1">
                <a:solidFill>
                  <a:schemeClr val="tx1"/>
                </a:solidFill>
              </a:rPr>
              <a:t> </a:t>
            </a:r>
            <a:r>
              <a:rPr lang="en-US" b="1" err="1">
                <a:solidFill>
                  <a:schemeClr val="tx1"/>
                </a:solidFill>
              </a:rPr>
              <a:t>Weerarathne</a:t>
            </a:r>
            <a:r>
              <a:rPr lang="en-US" b="1">
                <a:solidFill>
                  <a:schemeClr val="tx1"/>
                </a:solidFill>
              </a:rPr>
              <a:t> H.P </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 25-26J-386 </a:t>
            </a:r>
            <a:r>
              <a:rPr lang="en-US" sz="1800" b="0">
                <a:solidFill>
                  <a:schemeClr val="tx1"/>
                </a:solidFill>
              </a:rPr>
              <a:t>&gt;&gt;</a:t>
            </a:r>
          </a:p>
        </p:txBody>
      </p:sp>
    </p:spTree>
    <p:extLst>
      <p:ext uri="{BB962C8B-B14F-4D97-AF65-F5344CB8AC3E}">
        <p14:creationId xmlns:p14="http://schemas.microsoft.com/office/powerpoint/2010/main" val="51882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F2D53-C033-CF88-3740-BDEFD029EA1D}"/>
              </a:ext>
            </a:extLst>
          </p:cNvPr>
          <p:cNvSpPr>
            <a:spLocks noGrp="1"/>
          </p:cNvSpPr>
          <p:nvPr>
            <p:ph type="title"/>
          </p:nvPr>
        </p:nvSpPr>
        <p:spPr>
          <a:xfrm>
            <a:off x="249583" y="2646018"/>
            <a:ext cx="11684000" cy="792162"/>
          </a:xfrm>
        </p:spPr>
        <p:txBody>
          <a:bodyPr>
            <a:noAutofit/>
          </a:bodyPr>
          <a:lstStyle/>
          <a:p>
            <a:r>
              <a:rPr lang="en-US" sz="5400" b="1">
                <a:latin typeface="Adobe Devanagari"/>
              </a:rPr>
              <a:t>Thank You !</a:t>
            </a:r>
            <a:endParaRPr lang="en-US" sz="5400" b="1"/>
          </a:p>
        </p:txBody>
      </p:sp>
    </p:spTree>
    <p:extLst>
      <p:ext uri="{BB962C8B-B14F-4D97-AF65-F5344CB8AC3E}">
        <p14:creationId xmlns:p14="http://schemas.microsoft.com/office/powerpoint/2010/main" val="1279272071"/>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oposal-Presentation-Template" id="{484E0D2D-57B6-46DF-9381-1356EEC75FDC}" vid="{14AC7C1F-AB92-4CC4-9465-07DCC58F00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c0f8935-5a49-434a-b82b-8a204ec53e1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A168A65140CEB4AB64DB8FF1FF77D75" ma:contentTypeVersion="14" ma:contentTypeDescription="Create a new document." ma:contentTypeScope="" ma:versionID="217abba91338be25e7e7c40bd6f4b317">
  <xsd:schema xmlns:xsd="http://www.w3.org/2001/XMLSchema" xmlns:xs="http://www.w3.org/2001/XMLSchema" xmlns:p="http://schemas.microsoft.com/office/2006/metadata/properties" xmlns:ns3="5c0f8935-5a49-434a-b82b-8a204ec53e15" targetNamespace="http://schemas.microsoft.com/office/2006/metadata/properties" ma:root="true" ma:fieldsID="2442f142289068e050b6cf2a06da830e" ns3:_="">
    <xsd:import namespace="5c0f8935-5a49-434a-b82b-8a204ec53e1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DateTaken" minOccurs="0"/>
                <xsd:element ref="ns3:MediaServiceSearchProperties" minOccurs="0"/>
                <xsd:element ref="ns3:MediaServiceObjectDetectorVersion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0f8935-5a49-434a-b82b-8a204ec53e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6EEE83-13C6-4072-B973-4182459962AF}">
  <ds:schemaRefs>
    <ds:schemaRef ds:uri="http://purl.org/dc/dcmitype/"/>
    <ds:schemaRef ds:uri="5c0f8935-5a49-434a-b82b-8a204ec53e15"/>
    <ds:schemaRef ds:uri="http://purl.org/dc/terms/"/>
    <ds:schemaRef ds:uri="http://schemas.microsoft.com/office/2006/documentManagement/types"/>
    <ds:schemaRef ds:uri="http://purl.org/dc/elements/1.1/"/>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ACB7BAE0-987E-4AAD-95A5-DA369446D9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0f8935-5a49-434a-b82b-8a204ec53e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ACE7F9-CBC5-4EBA-80F8-C0C25845CC39}">
  <ds:schemaRefs>
    <ds:schemaRef ds:uri="http://schemas.microsoft.com/sharepoint/v3/contenttype/forms"/>
  </ds:schemaRefs>
</ds:datastoreItem>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emplate>Proposal-Presentation-Template</Template>
  <TotalTime>0</TotalTime>
  <Words>3661</Words>
  <Application>Microsoft Office PowerPoint</Application>
  <PresentationFormat>Widescreen</PresentationFormat>
  <Paragraphs>432</Paragraphs>
  <Slides>42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Adobe Devanagari</vt:lpstr>
      <vt:lpstr>Aptos</vt:lpstr>
      <vt:lpstr>Arial</vt:lpstr>
      <vt:lpstr>Calibri</vt:lpstr>
      <vt:lpstr>Cambria</vt:lpstr>
      <vt:lpstr>quote-cjk-patch</vt:lpstr>
      <vt:lpstr>Times New Roman</vt:lpstr>
      <vt:lpstr>Wingdings</vt:lpstr>
      <vt:lpstr>Office Theme</vt:lpstr>
      <vt:lpstr>FitNourish AI – Intelligent Nutrition &amp; Wellness Assistant</vt:lpstr>
      <vt:lpstr>PowerPoint Presentation</vt:lpstr>
      <vt:lpstr>PowerPoint Presentation</vt:lpstr>
      <vt:lpstr>PowerPoint Presentation</vt:lpstr>
      <vt:lpstr>It22907684|Weerarathne h. P</vt:lpstr>
      <vt:lpstr>   AI-powered Multi-Disease Adaptive Nutrition and Personalized Health Optimization</vt:lpstr>
      <vt:lpstr>   AI-powered Multi-Disease Adaptive Nutrition and Personalized Health Optimization</vt:lpstr>
      <vt:lpstr>   AI-powered Multi-Disease Adaptive Nutrition and Personalized Health Optimization</vt:lpstr>
      <vt:lpstr>   AI-powered Multi-Disease Adaptive Nutrition and Personalized Health Optimization</vt:lpstr>
      <vt:lpstr>PowerPoint Presentation</vt:lpstr>
      <vt:lpstr>   AI-powered Multi-Disease Adaptive Nutrition and Personalized Health Optimization</vt:lpstr>
      <vt:lpstr>   AI-powered Multi-Disease Adaptive Nutrition and Personalized Health Optimization</vt:lpstr>
      <vt:lpstr> AI-powered Multi-Disease Adaptive Nutrition and Personalized Health Optimization</vt:lpstr>
      <vt:lpstr> AI-powered Multi-Disease Adaptive Nutrition and Personalized Health Optimization </vt:lpstr>
      <vt:lpstr>Work Breakdown Structure</vt:lpstr>
      <vt:lpstr>IT22343352 | Ekanayake M Y R</vt:lpstr>
      <vt:lpstr>AI-powered Dynamic Meal Generator and Visual Ingredient Identifier</vt:lpstr>
      <vt:lpstr>PowerPoint Presentation</vt:lpstr>
      <vt:lpstr>AI-powered Dynamic Meal Generator and Visual Ingredient Identifier</vt:lpstr>
      <vt:lpstr>AI-powered Dynamic Meal Generator and Visual Ingredient Identifier</vt:lpstr>
      <vt:lpstr>AI-powered Dynamic Meal Generator and Visual Ingredient Identifier</vt:lpstr>
      <vt:lpstr>PowerPoint Presentation</vt:lpstr>
      <vt:lpstr>It22343420 | T.M Poornima </vt:lpstr>
      <vt:lpstr>Research Gap</vt:lpstr>
      <vt:lpstr>PowerPoint Presentation</vt:lpstr>
      <vt:lpstr>PowerPoint Presentation</vt:lpstr>
      <vt:lpstr>PowerPoint Presentation</vt:lpstr>
      <vt:lpstr>System Overview</vt:lpstr>
      <vt:lpstr>PowerPoint Presentation</vt:lpstr>
      <vt:lpstr>PowerPoint Presentation</vt:lpstr>
      <vt:lpstr>Work breakdown structure</vt:lpstr>
      <vt:lpstr>IT22343284 | SAMARAWICKRAMA T.N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AI-powered Smart Grocery List Optimization and Nearest Store Recommendation</vt:lpstr>
      <vt:lpstr>Commercialization Potential</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WEERARATHNE H P it22907684</dc:creator>
  <cp:lastModifiedBy>EKANAYAKE M Y R it22343352</cp:lastModifiedBy>
  <cp:revision>3</cp:revision>
  <dcterms:created xsi:type="dcterms:W3CDTF">2025-09-06T07:48:35Z</dcterms:created>
  <dcterms:modified xsi:type="dcterms:W3CDTF">2026-05-03T18:08:27Z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0x0101009A168A65140CEB4AB64DB8FF1FF77D75</vt:lpwstr>
  </property>
</Properties>
</file>