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333" r:id="rId6"/>
    <p:sldId id="334" r:id="rId7"/>
    <p:sldId id="335" r:id="rId8"/>
    <p:sldId id="270" r:id="rId9"/>
    <p:sldId id="321" r:id="rId10"/>
    <p:sldId id="323" r:id="rId11"/>
    <p:sldId id="324" r:id="rId12"/>
    <p:sldId id="326" r:id="rId13"/>
    <p:sldId id="327" r:id="rId14"/>
    <p:sldId id="328" r:id="rId15"/>
    <p:sldId id="330" r:id="rId16"/>
    <p:sldId id="319" r:id="rId17"/>
    <p:sldId id="332" r:id="rId18"/>
    <p:sldId id="33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13F6C-8068-C4D4-EE3C-9F3FCF78AE27}" v="15" dt="2026-03-08T15:50:16.553"/>
    <p1510:client id="{1E228ABF-6657-36D0-DD61-7FE7D6CE8F9B}" v="247" dt="2026-03-08T12:05:26.602"/>
    <p1510:client id="{22F22545-C30C-5C8F-5966-798B22D55133}" v="163" dt="2026-03-09T01:51:24.049"/>
    <p1510:client id="{2B2597CB-3027-8FBC-FF10-1D5EEC7065A3}" v="151" dt="2026-03-08T16:16:33.217"/>
    <p1510:client id="{36F879AB-D661-3B33-D91F-CC4767CFA7DC}" v="291" dt="2026-03-08T16:49:38.173"/>
    <p1510:client id="{3DA0D6E2-0F84-4896-8F15-74524FAE7FBA}" v="265" dt="2026-03-08T17:48:42.897"/>
    <p1510:client id="{6B9893B9-4D13-77F0-2BEE-21C8FF678821}" v="141" dt="2026-03-08T04:05:16.448"/>
    <p1510:client id="{98855B75-D784-01BC-5603-FC361D5E1D1D}" v="76" dt="2026-03-08T20:31:36.827"/>
    <p1510:client id="{A4E67A39-5E83-4C65-A94E-E67E947FE92E}" v="3" dt="2026-04-25T07:56:58.490"/>
    <p1510:client id="{A809222F-8387-8C17-A603-C80FD9D3B7F0}" v="36" dt="2026-03-08T06:17:23.773"/>
    <p1510:client id="{CE535E94-52A0-46DE-A480-455DC6EADAFA}" v="270" dt="2026-03-07T17:54:26.315"/>
    <p1510:client id="{EF04865A-FB99-1950-1860-E16DB5BD6CDE}" v="174" dt="2026-03-08T05:06:29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E9FEB-DBD3-470F-98F8-FB2093EA974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7618-C930-492A-A8F8-0C3E653F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A7CA-F8CE-A455-D14A-CA7D7AD1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476D0-515B-4535-2224-1E381E61E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D91C6-A10F-97F1-C286-7246D2B96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clear diagram. Explain data flow end-to-end. Mention interfaces and consistency.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8D861-989C-B462-FB3B-FC104E527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8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generated image of a machine&#10;&#10;AI-generated content may be incorrect.">
            <a:extLst>
              <a:ext uri="{FF2B5EF4-FFF2-40B4-BE49-F238E27FC236}">
                <a16:creationId xmlns:a16="http://schemas.microsoft.com/office/drawing/2014/main" id="{683DD20E-C79C-5F36-FDFF-55DB5FE08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68" b="2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IT4010 – Progress Presentation 2 (PP2)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 vert="horz" lIns="38576" tIns="19289" rIns="38576" bIns="19289" rtlCol="0">
            <a:normAutofit/>
          </a:bodyPr>
          <a:lstStyle/>
          <a:p>
            <a:pPr algn="l"/>
            <a:r>
              <a:rPr lang="en-US" sz="17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25-26J-386 | Fitnourish.Ai</a:t>
            </a:r>
          </a:p>
          <a:p>
            <a:pPr algn="l"/>
            <a:endParaRPr lang="en-US" sz="17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CC368-B06E-8822-F2A4-46D9BEFF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100" b="1">
                <a:solidFill>
                  <a:srgbClr val="FFFFFF"/>
                </a:solidFill>
                <a:ea typeface="Calibri"/>
                <a:cs typeface="Calibri"/>
              </a:rPr>
              <a:t>Problem Statement &amp; Stakeholders</a:t>
            </a:r>
            <a:endParaRPr lang="en-US" sz="3100" b="1">
              <a:solidFill>
                <a:srgbClr val="FFFFFF"/>
              </a:solidFill>
            </a:endParaRPr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525A-FC3E-4192-8203-C0C5F620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38576" tIns="19289" rIns="38576" bIns="19289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1800" b="1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 b="1">
                <a:ea typeface="+mn-lt"/>
                <a:cs typeface="+mn-lt"/>
              </a:rPr>
              <a:t>Context : </a:t>
            </a:r>
            <a:endParaRPr lang="en-GB" sz="180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>
                <a:ea typeface="+mn-lt"/>
                <a:cs typeface="+mn-lt"/>
              </a:rPr>
              <a:t>Health and nutrition management using mobile health applications.</a:t>
            </a:r>
            <a:endParaRPr 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sz="1800" b="1">
                <a:ea typeface="+mn-lt"/>
                <a:cs typeface="+mn-lt"/>
              </a:rPr>
              <a:t>Stakeholders:</a:t>
            </a:r>
            <a:endParaRPr lang="en-GB" sz="1800">
              <a:ea typeface="Calibri"/>
              <a:cs typeface="Calibri"/>
            </a:endParaRPr>
          </a:p>
          <a:p>
            <a:pPr marL="192881" indent="-192881">
              <a:lnSpc>
                <a:spcPct val="90000"/>
              </a:lnSpc>
            </a:pPr>
            <a:r>
              <a:rPr lang="en-GB" sz="1800" b="1">
                <a:ea typeface="+mn-lt"/>
                <a:cs typeface="+mn-lt"/>
              </a:rPr>
              <a:t>Primary Users:</a:t>
            </a:r>
            <a:r>
              <a:rPr lang="en-GB" sz="1800">
                <a:ea typeface="+mn-lt"/>
                <a:cs typeface="+mn-lt"/>
              </a:rPr>
              <a:t> Individuals who want to improve diet and health</a:t>
            </a:r>
            <a:endParaRPr lang="en-GB" sz="1800">
              <a:ea typeface="Calibri"/>
              <a:cs typeface="Calibri"/>
            </a:endParaRPr>
          </a:p>
          <a:p>
            <a:pPr marL="192881" indent="-192881">
              <a:lnSpc>
                <a:spcPct val="90000"/>
              </a:lnSpc>
            </a:pPr>
            <a:r>
              <a:rPr lang="en-GB" sz="1800" b="1">
                <a:ea typeface="+mn-lt"/>
                <a:cs typeface="+mn-lt"/>
              </a:rPr>
              <a:t>Secondary Users:</a:t>
            </a:r>
            <a:r>
              <a:rPr lang="en-GB" sz="1800">
                <a:ea typeface="+mn-lt"/>
                <a:cs typeface="+mn-lt"/>
              </a:rPr>
              <a:t> Fitness trainers and nutrition advisors</a:t>
            </a:r>
            <a:endParaRPr lang="en-GB" sz="1800">
              <a:ea typeface="Calibri"/>
              <a:cs typeface="Calibri"/>
            </a:endParaRPr>
          </a:p>
          <a:p>
            <a:pPr marL="192881" indent="-192881">
              <a:lnSpc>
                <a:spcPct val="90000"/>
              </a:lnSpc>
            </a:pPr>
            <a:r>
              <a:rPr lang="en-GB" sz="1800" b="1">
                <a:ea typeface="+mn-lt"/>
                <a:cs typeface="+mn-lt"/>
              </a:rPr>
              <a:t>Decision Makers:</a:t>
            </a:r>
            <a:r>
              <a:rPr lang="en-GB" sz="1800">
                <a:ea typeface="+mn-lt"/>
                <a:cs typeface="+mn-lt"/>
              </a:rPr>
              <a:t> Healthcare providers and wellness platforms</a:t>
            </a:r>
            <a:endParaRPr lang="en-GB" sz="18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 b="1">
                <a:ea typeface="+mn-lt"/>
                <a:cs typeface="+mn-lt"/>
              </a:rPr>
              <a:t>Observed Issue:</a:t>
            </a:r>
            <a:br>
              <a:rPr lang="en-GB" sz="1800" b="1">
                <a:ea typeface="+mn-lt"/>
                <a:cs typeface="+mn-lt"/>
              </a:rPr>
            </a:br>
            <a:r>
              <a:rPr lang="en-GB" sz="1800" b="1">
                <a:ea typeface="+mn-lt"/>
                <a:cs typeface="+mn-lt"/>
              </a:rPr>
              <a:t> </a:t>
            </a:r>
            <a:r>
              <a:rPr lang="en-GB" sz="1800">
                <a:ea typeface="+mn-lt"/>
                <a:cs typeface="+mn-lt"/>
              </a:rPr>
              <a:t>Many diet and fitness apps provide static recommendations and do not use real-time health data.</a:t>
            </a:r>
            <a:endParaRPr lang="en-GB" sz="18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 b="1">
                <a:ea typeface="+mn-lt"/>
                <a:cs typeface="+mn-lt"/>
              </a:rPr>
              <a:t>Why It Matters:</a:t>
            </a:r>
            <a:endParaRPr lang="en-GB" sz="18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>
                <a:ea typeface="+mn-lt"/>
                <a:cs typeface="+mn-lt"/>
              </a:rPr>
              <a:t> Users receive inaccurate diet advice</a:t>
            </a:r>
            <a:endParaRPr lang="en-GB" sz="18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>
                <a:ea typeface="+mn-lt"/>
                <a:cs typeface="+mn-lt"/>
              </a:rPr>
              <a:t> Poor diet planning leads to health risks</a:t>
            </a:r>
            <a:endParaRPr lang="en-GB" sz="18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>
                <a:ea typeface="+mn-lt"/>
                <a:cs typeface="+mn-lt"/>
              </a:rPr>
              <a:t> Users spend more time and money on ineffective meal planning</a:t>
            </a:r>
            <a:endParaRPr lang="en-GB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GB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264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4714" y="1500188"/>
            <a:ext cx="6856286" cy="3857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02" y="1500188"/>
            <a:ext cx="2344090" cy="3857625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233DD-8430-D121-60C0-C4BBD514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45" y="2149073"/>
            <a:ext cx="1800225" cy="250940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ea typeface="Calibri"/>
                <a:cs typeface="Calibri"/>
              </a:rPr>
              <a:t>Research Gap &amp; Objectives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390103" y="2881396"/>
            <a:ext cx="2296931" cy="2296931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4D5D-F3AB-E001-486D-4897B102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612" y="1832819"/>
            <a:ext cx="3884901" cy="3141911"/>
          </a:xfrm>
        </p:spPr>
        <p:txBody>
          <a:bodyPr vert="horz" lIns="38576" tIns="19289" rIns="38576" bIns="19289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238" b="1">
                <a:ea typeface="+mn-lt"/>
                <a:cs typeface="+mn-lt"/>
              </a:rPr>
              <a:t>Research Gap:</a:t>
            </a:r>
            <a:br>
              <a:rPr lang="en-GB" sz="1238" b="1">
                <a:ea typeface="+mn-lt"/>
                <a:cs typeface="+mn-lt"/>
              </a:rPr>
            </a:br>
            <a:r>
              <a:rPr lang="en-GB" sz="1238" b="1">
                <a:ea typeface="+mn-lt"/>
                <a:cs typeface="+mn-lt"/>
              </a:rPr>
              <a:t>  Most existing nutrition apps:</a:t>
            </a:r>
            <a:endParaRPr lang="en-GB" sz="1238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 Do not use </a:t>
            </a:r>
            <a:r>
              <a:rPr lang="en-GB" sz="1238" b="1">
                <a:ea typeface="+mn-lt"/>
                <a:cs typeface="+mn-lt"/>
              </a:rPr>
              <a:t>real-time health data</a:t>
            </a:r>
            <a:endParaRPr lang="en-GB" sz="1238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Do not combine </a:t>
            </a:r>
            <a:r>
              <a:rPr lang="en-GB" sz="1238" b="1">
                <a:ea typeface="+mn-lt"/>
                <a:cs typeface="+mn-lt"/>
              </a:rPr>
              <a:t>health monitoring, meal analysis, and grocery optimization</a:t>
            </a:r>
            <a:endParaRPr lang="en-GB" sz="1238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Do not provide </a:t>
            </a:r>
            <a:r>
              <a:rPr lang="en-GB" sz="1238" b="1">
                <a:ea typeface="+mn-lt"/>
                <a:cs typeface="+mn-lt"/>
              </a:rPr>
              <a:t>cost-aware food recommendations</a:t>
            </a:r>
            <a:endParaRPr lang="en-GB" sz="1238"/>
          </a:p>
          <a:p>
            <a:pPr marL="0" indent="0">
              <a:lnSpc>
                <a:spcPct val="90000"/>
              </a:lnSpc>
              <a:buNone/>
            </a:pPr>
            <a:r>
              <a:rPr lang="en-GB" sz="1238" b="1">
                <a:ea typeface="+mn-lt"/>
                <a:cs typeface="+mn-lt"/>
              </a:rPr>
              <a:t>Main Objective:</a:t>
            </a:r>
            <a:endParaRPr lang="en-GB" sz="1238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238" b="1">
                <a:ea typeface="+mn-lt"/>
                <a:cs typeface="+mn-lt"/>
              </a:rPr>
              <a:t>To provide users with personalized nutrition targets, health insights,  and cost- effective food recommendations by analysing -&gt;</a:t>
            </a:r>
            <a:endParaRPr lang="en-GB" sz="1238" b="1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Health data</a:t>
            </a:r>
            <a:endParaRPr lang="en-GB" sz="1238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Activity patterns</a:t>
            </a:r>
            <a:endParaRPr lang="en-GB" sz="1238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Meal images</a:t>
            </a:r>
            <a:endParaRPr lang="en-GB" sz="1238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1238">
                <a:ea typeface="+mn-lt"/>
                <a:cs typeface="+mn-lt"/>
              </a:rPr>
              <a:t>Grocery prices</a:t>
            </a:r>
            <a:endParaRPr lang="en-GB" sz="1238"/>
          </a:p>
          <a:p>
            <a:pPr>
              <a:lnSpc>
                <a:spcPct val="90000"/>
              </a:lnSpc>
            </a:pPr>
            <a:endParaRPr lang="en-GB" sz="1238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537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egetables in a tote bag">
            <a:extLst>
              <a:ext uri="{FF2B5EF4-FFF2-40B4-BE49-F238E27FC236}">
                <a16:creationId xmlns:a16="http://schemas.microsoft.com/office/drawing/2014/main" id="{63AA184A-E6D5-B8B0-1D7E-C8F58F57C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32" r="44581" b="-2"/>
          <a:stretch>
            <a:fillRect/>
          </a:stretch>
        </p:blipFill>
        <p:spPr>
          <a:xfrm>
            <a:off x="3002917" y="1501081"/>
            <a:ext cx="2726372" cy="385673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131A90-653A-90B2-A134-A924B236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569" y="1773436"/>
            <a:ext cx="1589348" cy="3217367"/>
          </a:xfrm>
        </p:spPr>
        <p:txBody>
          <a:bodyPr>
            <a:normAutofit/>
          </a:bodyPr>
          <a:lstStyle/>
          <a:p>
            <a:r>
              <a:rPr lang="en-GB" sz="2025">
                <a:ea typeface="Calibri"/>
                <a:cs typeface="Calibri"/>
              </a:rPr>
              <a:t>Solution Overview (What We Built)</a:t>
            </a:r>
            <a:endParaRPr lang="en-US" sz="2025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1A46-3EA2-B7F7-ED7D-612C23251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521" y="1773436"/>
            <a:ext cx="1852017" cy="3217367"/>
          </a:xfrm>
        </p:spPr>
        <p:txBody>
          <a:bodyPr vert="horz" lIns="38576" tIns="19289" rIns="38576" bIns="19289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844" b="1">
                <a:ea typeface="+mn-lt"/>
                <a:cs typeface="+mn-lt"/>
              </a:rPr>
              <a:t>Solution Summary:</a:t>
            </a:r>
            <a:endParaRPr lang="en-GB" sz="844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844">
                <a:ea typeface="+mn-lt"/>
                <a:cs typeface="+mn-lt"/>
              </a:rPr>
              <a:t>FitNourish.AI is an </a:t>
            </a:r>
            <a:r>
              <a:rPr lang="en-GB" sz="844" b="1">
                <a:ea typeface="+mn-lt"/>
                <a:cs typeface="+mn-lt"/>
              </a:rPr>
              <a:t>AI-powered mobile nutrition assistant</a:t>
            </a:r>
            <a:r>
              <a:rPr lang="en-GB" sz="844">
                <a:ea typeface="+mn-lt"/>
                <a:cs typeface="+mn-lt"/>
              </a:rPr>
              <a:t> that provides      personalized diet guidance and cost-aware grocery recommendations.</a:t>
            </a:r>
            <a:endParaRPr lang="en-GB" sz="844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844" b="1">
                <a:ea typeface="+mn-lt"/>
                <a:cs typeface="+mn-lt"/>
              </a:rPr>
              <a:t>Key Features Delivered:</a:t>
            </a:r>
            <a:endParaRPr lang="en-GB" sz="844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844">
                <a:ea typeface="+mn-lt"/>
                <a:cs typeface="+mn-lt"/>
              </a:rPr>
              <a:t> FR1 — AI Nutrition Target Prediction</a:t>
            </a:r>
            <a:br>
              <a:rPr lang="en-GB" sz="844">
                <a:ea typeface="+mn-lt"/>
                <a:cs typeface="+mn-lt"/>
              </a:rPr>
            </a:br>
            <a:r>
              <a:rPr lang="en-GB" sz="844">
                <a:ea typeface="+mn-lt"/>
                <a:cs typeface="+mn-lt"/>
              </a:rPr>
              <a:t> FR2 — Meal Image Analysis &amp; Meal Planning</a:t>
            </a:r>
            <a:br>
              <a:rPr lang="en-GB" sz="844">
                <a:ea typeface="+mn-lt"/>
                <a:cs typeface="+mn-lt"/>
              </a:rPr>
            </a:br>
            <a:r>
              <a:rPr lang="en-GB" sz="844">
                <a:ea typeface="+mn-lt"/>
                <a:cs typeface="+mn-lt"/>
              </a:rPr>
              <a:t> FR3 — Health Monitoring &amp; Alerts</a:t>
            </a:r>
            <a:br>
              <a:rPr lang="en-GB" sz="844">
                <a:ea typeface="+mn-lt"/>
                <a:cs typeface="+mn-lt"/>
              </a:rPr>
            </a:br>
            <a:r>
              <a:rPr lang="en-GB" sz="844">
                <a:ea typeface="+mn-lt"/>
                <a:cs typeface="+mn-lt"/>
              </a:rPr>
              <a:t> FR4 — Smart Grocery List Optimization</a:t>
            </a:r>
            <a:endParaRPr lang="en-GB" sz="844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844" b="1">
                <a:ea typeface="+mn-lt"/>
                <a:cs typeface="+mn-lt"/>
              </a:rPr>
              <a:t>Non-Functional Focus:</a:t>
            </a:r>
            <a:endParaRPr lang="en-GB" sz="844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844">
                <a:ea typeface="+mn-lt"/>
                <a:cs typeface="+mn-lt"/>
              </a:rPr>
              <a:t>Performance (Fast API responses)</a:t>
            </a:r>
            <a:endParaRPr lang="en-GB" sz="844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844">
                <a:ea typeface="+mn-lt"/>
                <a:cs typeface="+mn-lt"/>
              </a:rPr>
              <a:t>Usability (Mobile-first UI)</a:t>
            </a:r>
            <a:endParaRPr lang="en-GB" sz="844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844">
                <a:ea typeface="+mn-lt"/>
                <a:cs typeface="+mn-lt"/>
              </a:rPr>
              <a:t>Reliability (Validated inputs)</a:t>
            </a:r>
            <a:endParaRPr lang="en-GB" sz="844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844">
                <a:ea typeface="+mn-lt"/>
                <a:cs typeface="+mn-lt"/>
              </a:rPr>
              <a:t>Scalability (Modular architecture)</a:t>
            </a:r>
            <a:endParaRPr lang="en-GB" sz="844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844" b="1">
                <a:ea typeface="+mn-lt"/>
                <a:cs typeface="+mn-lt"/>
              </a:rPr>
              <a:t>Current Completion Status:</a:t>
            </a:r>
            <a:endParaRPr lang="en-GB" sz="844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844">
                <a:ea typeface="+mn-lt"/>
                <a:cs typeface="+mn-lt"/>
              </a:rPr>
              <a:t>System development is </a:t>
            </a:r>
            <a:r>
              <a:rPr lang="en-GB" sz="844" b="1">
                <a:ea typeface="+mn-lt"/>
                <a:cs typeface="+mn-lt"/>
              </a:rPr>
              <a:t>approximately 90% completed.</a:t>
            </a:r>
            <a:endParaRPr lang="en-GB" sz="844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GB" sz="844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44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B25AC-5BD3-BFD3-B690-23066C8A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00" y="1500187"/>
            <a:ext cx="6856286" cy="3857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00" y="1500188"/>
            <a:ext cx="6856286" cy="38576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00189"/>
            <a:ext cx="6856286" cy="3860089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00" y="1500188"/>
            <a:ext cx="6856286" cy="385762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5930" y="1910348"/>
            <a:ext cx="6243386" cy="303730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53FD7-A4F1-BD79-9DC3-928F276A2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822" y="2009258"/>
            <a:ext cx="2581497" cy="106263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6">
                <a:ea typeface="Calibri"/>
                <a:cs typeface="Calibri"/>
              </a:rPr>
              <a:t>System Architecture &amp; Integration</a:t>
            </a:r>
            <a:endParaRPr lang="en-US" sz="2306"/>
          </a:p>
        </p:txBody>
      </p:sp>
      <p:pic>
        <p:nvPicPr>
          <p:cNvPr id="8" name="Picture 7" descr="A diagram of a product&#10;&#10;AI-generated content may be incorrect.">
            <a:extLst>
              <a:ext uri="{FF2B5EF4-FFF2-40B4-BE49-F238E27FC236}">
                <a16:creationId xmlns:a16="http://schemas.microsoft.com/office/drawing/2014/main" id="{DDDAE3B0-7866-4560-9013-A22021F661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6" t="9" r="-5075" b="37"/>
          <a:stretch>
            <a:fillRect/>
          </a:stretch>
        </p:blipFill>
        <p:spPr>
          <a:xfrm>
            <a:off x="1548455" y="2075928"/>
            <a:ext cx="3075945" cy="27012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EA25D-F049-F371-7C7A-488757DAA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3822" y="3168333"/>
            <a:ext cx="2581497" cy="1680411"/>
          </a:xfrm>
        </p:spPr>
        <p:txBody>
          <a:bodyPr vert="horz" lIns="38576" tIns="19289" rIns="38576" bIns="19289" rtlCol="0">
            <a:normAutofit/>
          </a:bodyPr>
          <a:lstStyle/>
          <a:p>
            <a:r>
              <a:rPr lang="en-US" sz="1013">
                <a:ea typeface="Calibri"/>
                <a:cs typeface="Calibri"/>
              </a:rPr>
              <a:t>System Architecture Diagram</a:t>
            </a:r>
          </a:p>
          <a:p>
            <a:endParaRPr lang="en-US" sz="1013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13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42D8-2B23-89D7-94EE-B6A525C2E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38576" tIns="19289" rIns="38576" bIns="19289" rtlCol="0" anchor="t">
            <a:normAutofit/>
          </a:bodyPr>
          <a:lstStyle/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E9D41B-09C2-BF38-E854-F320E6442751}"/>
              </a:ext>
            </a:extLst>
          </p:cNvPr>
          <p:cNvSpPr txBox="1">
            <a:spLocks/>
          </p:cNvSpPr>
          <p:nvPr/>
        </p:nvSpPr>
        <p:spPr>
          <a:xfrm>
            <a:off x="2900362" y="2158097"/>
            <a:ext cx="3471863" cy="2473062"/>
          </a:xfrm>
          <a:prstGeom prst="rect">
            <a:avLst/>
          </a:prstGeom>
        </p:spPr>
        <p:txBody>
          <a:bodyPr vert="horz" lIns="38576" tIns="19289" rIns="38576" bIns="19289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4" b="1">
                <a:ea typeface="Calibri"/>
                <a:cs typeface="Calibri"/>
              </a:rPr>
              <a:t>IT22907684|Weerarathne H.P</a:t>
            </a:r>
          </a:p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1.</a:t>
            </a:r>
            <a:r>
              <a:rPr lang="en-US" sz="1181" b="1">
                <a:solidFill>
                  <a:srgbClr val="000000"/>
                </a:solidFill>
                <a:ea typeface="Calibri"/>
                <a:cs typeface="Calibri"/>
              </a:rPr>
              <a:t>AI-powered Multi-Disease Adaptive Nutrition </a:t>
            </a:r>
            <a:endParaRPr lang="en-US" sz="1350" b="1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81" b="1">
                <a:solidFill>
                  <a:srgbClr val="000000"/>
                </a:solidFill>
                <a:ea typeface="Calibri"/>
                <a:cs typeface="Calibri"/>
              </a:rPr>
              <a:t>   and Personalized Health Optimization </a:t>
            </a:r>
            <a:endParaRPr lang="en-US" sz="1350" b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Integration </a:t>
            </a:r>
            <a:r>
              <a:rPr lang="en-US" sz="1181" b="1">
                <a:ea typeface="+mn-lt"/>
                <a:cs typeface="+mn-lt"/>
              </a:rPr>
              <a:t>Points</a:t>
            </a:r>
            <a:endParaRPr lang="en-US" sz="1181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Mobile App → FastAPI Backend (</a:t>
            </a:r>
            <a:r>
              <a:rPr lang="en-US" sz="760" b="1">
                <a:ea typeface="+mn-lt"/>
                <a:cs typeface="+mn-lt"/>
              </a:rPr>
              <a:t>REST / JSON</a:t>
            </a:r>
            <a:r>
              <a:rPr lang="en-US" sz="760">
                <a:ea typeface="+mn-lt"/>
                <a:cs typeface="+mn-lt"/>
              </a:rPr>
              <a:t>)</a:t>
            </a:r>
            <a:endParaRPr lang="en-US" sz="760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Backend → Random Forest Model (</a:t>
            </a:r>
            <a:r>
              <a:rPr lang="en-US" sz="760" b="1">
                <a:ea typeface="+mn-lt"/>
                <a:cs typeface="+mn-lt"/>
              </a:rPr>
              <a:t>Python object inference</a:t>
            </a:r>
            <a:r>
              <a:rPr lang="en-US" sz="760">
                <a:ea typeface="+mn-lt"/>
                <a:cs typeface="+mn-lt"/>
              </a:rPr>
              <a:t>)</a:t>
            </a:r>
            <a:endParaRPr lang="en-US" sz="760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Smartwatch/Health Data → Mobile App (</a:t>
            </a:r>
            <a:r>
              <a:rPr lang="en-US" sz="760" b="1">
                <a:ea typeface="+mn-lt"/>
                <a:cs typeface="+mn-lt"/>
              </a:rPr>
              <a:t>Health Connect / structured health fields</a:t>
            </a:r>
            <a:r>
              <a:rPr lang="en-US" sz="760">
                <a:ea typeface="+mn-lt"/>
                <a:cs typeface="+mn-lt"/>
              </a:rPr>
              <a:t>)</a:t>
            </a:r>
            <a:endParaRPr lang="en-US" sz="760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Backend → Mobile App (</a:t>
            </a:r>
            <a:r>
              <a:rPr lang="en-US" sz="760" b="1">
                <a:ea typeface="+mn-lt"/>
                <a:cs typeface="+mn-lt"/>
              </a:rPr>
              <a:t>JSON prediction response</a:t>
            </a:r>
            <a:r>
              <a:rPr lang="en-US" sz="760">
                <a:ea typeface="+mn-lt"/>
                <a:cs typeface="+mn-lt"/>
              </a:rPr>
              <a:t>)</a:t>
            </a:r>
            <a:endParaRPr lang="en-US" sz="760">
              <a:ea typeface="Calibri"/>
              <a:cs typeface="Calibri"/>
            </a:endParaRPr>
          </a:p>
          <a:p>
            <a:pPr>
              <a:buNone/>
            </a:pPr>
            <a:r>
              <a:rPr lang="en-US" sz="1181" b="1">
                <a:ea typeface="+mn-lt"/>
                <a:cs typeface="+mn-lt"/>
              </a:rPr>
              <a:t>Deployment / Runtime Setup</a:t>
            </a:r>
            <a:endParaRPr lang="en-US" sz="1350"/>
          </a:p>
          <a:p>
            <a:r>
              <a:rPr lang="en-US" sz="760">
                <a:ea typeface="+mn-lt"/>
                <a:cs typeface="+mn-lt"/>
              </a:rPr>
              <a:t>Frontend: React Native app on Android</a:t>
            </a:r>
            <a:endParaRPr lang="en-US" sz="760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Backend: FastAPI on local machine</a:t>
            </a:r>
            <a:endParaRPr lang="en-US" sz="760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Model: Random Forest running in backend</a:t>
            </a:r>
            <a:endParaRPr lang="en-US" sz="760">
              <a:ea typeface="Calibri"/>
              <a:cs typeface="Calibri"/>
            </a:endParaRPr>
          </a:p>
          <a:p>
            <a:r>
              <a:rPr lang="en-US" sz="760">
                <a:ea typeface="+mn-lt"/>
                <a:cs typeface="+mn-lt"/>
              </a:rPr>
              <a:t>Setup: </a:t>
            </a:r>
            <a:r>
              <a:rPr lang="en-US" sz="760" b="1">
                <a:ea typeface="+mn-lt"/>
                <a:cs typeface="+mn-lt"/>
              </a:rPr>
              <a:t>Single-machine development environment</a:t>
            </a:r>
            <a:endParaRPr lang="en-US" sz="760"/>
          </a:p>
          <a:p>
            <a:pPr marL="0" indent="0">
              <a:buNone/>
            </a:pPr>
            <a:endParaRPr lang="en-US" sz="1181">
              <a:ea typeface="Calibri"/>
              <a:cs typeface="Calibri"/>
            </a:endParaRPr>
          </a:p>
          <a:p>
            <a:pPr marL="0" indent="0">
              <a:buNone/>
            </a:pPr>
            <a:endParaRPr lang="en-US" sz="1350">
              <a:ea typeface="Calibri"/>
              <a:cs typeface="Calibri"/>
            </a:endParaRPr>
          </a:p>
        </p:txBody>
      </p:sp>
      <p:pic>
        <p:nvPicPr>
          <p:cNvPr id="6" name="Picture 5" descr="A person with his arms crossed&#10;&#10;AI-generated content may be incorrect.">
            <a:extLst>
              <a:ext uri="{FF2B5EF4-FFF2-40B4-BE49-F238E27FC236}">
                <a16:creationId xmlns:a16="http://schemas.microsoft.com/office/drawing/2014/main" id="{08B542CB-B1A0-3534-991D-D2A92AB08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140" y="1988791"/>
            <a:ext cx="605325" cy="71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2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CBC5-2C9C-A145-FDC7-349AC54B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Model &amp; Accuracy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C73F5DE-4E2E-BA14-0925-4D37E856E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684" y="2339509"/>
            <a:ext cx="3624230" cy="24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7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C58D-0C87-281F-7F78-865C2716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6DB6-3DB3-BA6D-3056-24D60A8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069" y="2098255"/>
            <a:ext cx="3471863" cy="710153"/>
          </a:xfrm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US" sz="844" b="1">
                <a:ea typeface="Calibri"/>
                <a:cs typeface="Calibri"/>
              </a:rPr>
              <a:t>IT223434352|Ekanayake M.Y.R</a:t>
            </a:r>
          </a:p>
          <a:p>
            <a:pPr algn="l">
              <a:spcBef>
                <a:spcPct val="20000"/>
              </a:spcBef>
            </a:pPr>
            <a:r>
              <a:rPr lang="en-US" sz="1181" b="1">
                <a:ea typeface="Calibri"/>
                <a:cs typeface="Calibri"/>
              </a:rPr>
              <a:t>2.AI-powered Dynamic Meal Generator and Visual Ingredient Identifier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0FA5-4076-BCC2-B5E9-EF4AF8CD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38576" tIns="19289" rIns="38576" bIns="19289" rtlCol="0" anchor="t">
            <a:normAutofit/>
          </a:bodyPr>
          <a:lstStyle/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B8EC46-F321-6E2E-21AD-653273FE2EE8}"/>
              </a:ext>
            </a:extLst>
          </p:cNvPr>
          <p:cNvSpPr txBox="1">
            <a:spLocks/>
          </p:cNvSpPr>
          <p:nvPr/>
        </p:nvSpPr>
        <p:spPr>
          <a:xfrm>
            <a:off x="2764471" y="2932186"/>
            <a:ext cx="4059374" cy="1931561"/>
          </a:xfrm>
          <a:prstGeom prst="rect">
            <a:avLst/>
          </a:prstGeom>
        </p:spPr>
        <p:txBody>
          <a:bodyPr vert="horz" lIns="38576" tIns="19289" rIns="38576" bIns="19289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44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Integration points: </a:t>
            </a:r>
          </a:p>
          <a:p>
            <a:pPr marL="192881" indent="-192881"/>
            <a:r>
              <a:rPr lang="en-US" sz="760">
                <a:ea typeface="+mn-lt"/>
                <a:cs typeface="+mn-lt"/>
              </a:rPr>
              <a:t>Mobile App: React Native application deployed on </a:t>
            </a:r>
            <a:r>
              <a:rPr lang="en-US" sz="760" b="1">
                <a:ea typeface="+mn-lt"/>
                <a:cs typeface="+mn-lt"/>
              </a:rPr>
              <a:t>Android</a:t>
            </a:r>
            <a:r>
              <a:rPr lang="en-US" sz="760">
                <a:ea typeface="+mn-lt"/>
                <a:cs typeface="+mn-lt"/>
              </a:rPr>
              <a:t> with Expo.</a:t>
            </a:r>
            <a:endParaRPr lang="en-US" sz="1350">
              <a:ea typeface="+mn-lt"/>
              <a:cs typeface="+mn-lt"/>
            </a:endParaRPr>
          </a:p>
          <a:p>
            <a:pPr marL="192881" indent="-192881"/>
            <a:r>
              <a:rPr lang="en-US" sz="760">
                <a:ea typeface="+mn-lt"/>
                <a:cs typeface="+mn-lt"/>
              </a:rPr>
              <a:t>AI Intelligence: Integration of Food Analysis and Meal Plan Generation models to provide personalized nutritional insights.</a:t>
            </a:r>
            <a:endParaRPr lang="en-US" sz="760">
              <a:ea typeface="Calibri"/>
              <a:cs typeface="Calibri"/>
            </a:endParaRPr>
          </a:p>
          <a:p>
            <a:pPr marL="192881" indent="-192881"/>
            <a:r>
              <a:rPr lang="en-US" sz="760">
                <a:ea typeface="Calibri"/>
                <a:cs typeface="Calibri"/>
              </a:rPr>
              <a:t>Health Connect Integration - </a:t>
            </a:r>
            <a:r>
              <a:rPr lang="en-US" sz="760">
                <a:ea typeface="+mn-lt"/>
                <a:cs typeface="+mn-lt"/>
              </a:rPr>
              <a:t>Automatically fetches the </a:t>
            </a:r>
            <a:r>
              <a:rPr lang="en-US" sz="760" b="1">
                <a:ea typeface="+mn-lt"/>
                <a:cs typeface="+mn-lt"/>
              </a:rPr>
              <a:t>most recent Calorie Prediction by User ID</a:t>
            </a:r>
            <a:r>
              <a:rPr lang="en-US" sz="760">
                <a:ea typeface="+mn-lt"/>
                <a:cs typeface="+mn-lt"/>
              </a:rPr>
              <a:t> from the database for meal plan generation.</a:t>
            </a:r>
            <a:endParaRPr lang="en-US" sz="760">
              <a:ea typeface="Calibri"/>
              <a:cs typeface="Calibri"/>
            </a:endParaRPr>
          </a:p>
          <a:p>
            <a:pPr marL="192881" indent="-192881"/>
            <a:r>
              <a:rPr lang="en-US" sz="760">
                <a:ea typeface="Calibri"/>
                <a:cs typeface="Calibri"/>
              </a:rPr>
              <a:t>Cloud Database – for storing personalized meal plans</a:t>
            </a:r>
          </a:p>
          <a:p>
            <a:pPr marL="192881" indent="-192881"/>
            <a:endParaRPr lang="en-US" sz="76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Deployment /run time setup: </a:t>
            </a:r>
            <a:r>
              <a:rPr lang="en-US" sz="1181">
                <a:ea typeface="Calibri"/>
                <a:cs typeface="Calibri"/>
              </a:rPr>
              <a:t>                     </a:t>
            </a:r>
          </a:p>
          <a:p>
            <a:r>
              <a:rPr lang="en-US" sz="760">
                <a:ea typeface="Calibri"/>
                <a:cs typeface="Calibri"/>
              </a:rPr>
              <a:t>Frontend: React Native app on Android devices</a:t>
            </a:r>
          </a:p>
          <a:p>
            <a:r>
              <a:rPr lang="en-US" sz="760">
                <a:ea typeface="Calibri"/>
                <a:cs typeface="Calibri"/>
              </a:rPr>
              <a:t>Backend: </a:t>
            </a:r>
            <a:r>
              <a:rPr lang="en-US" sz="760" err="1">
                <a:ea typeface="Calibri"/>
                <a:cs typeface="Calibri"/>
              </a:rPr>
              <a:t>FastAPI</a:t>
            </a:r>
            <a:r>
              <a:rPr lang="en-US" sz="760">
                <a:ea typeface="Calibri"/>
                <a:cs typeface="Calibri"/>
              </a:rPr>
              <a:t> on local machine </a:t>
            </a:r>
            <a:r>
              <a:rPr lang="en-US" sz="760">
                <a:ea typeface="+mn-lt"/>
                <a:cs typeface="+mn-lt"/>
              </a:rPr>
              <a:t>to manage request handling and prediction logic.</a:t>
            </a:r>
            <a:endParaRPr lang="en-US" sz="1350"/>
          </a:p>
          <a:p>
            <a:r>
              <a:rPr lang="en-US" sz="760">
                <a:ea typeface="Calibri"/>
                <a:cs typeface="Calibri"/>
              </a:rPr>
              <a:t>Setup: </a:t>
            </a:r>
            <a:r>
              <a:rPr lang="en-US" sz="760" b="1">
                <a:ea typeface="Calibri"/>
                <a:cs typeface="Calibri"/>
              </a:rPr>
              <a:t>Single-machine development environment</a:t>
            </a:r>
            <a:endParaRPr lang="en-US" sz="1350">
              <a:ea typeface="Calibri"/>
              <a:cs typeface="Calibri"/>
            </a:endParaRPr>
          </a:p>
        </p:txBody>
      </p:sp>
      <p:pic>
        <p:nvPicPr>
          <p:cNvPr id="4" name="Picture 3" descr="C:\Users\User\Downloads\WhatsApp Image 2025-09-05 at 09.54.36.jpeg">
            <a:extLst>
              <a:ext uri="{FF2B5EF4-FFF2-40B4-BE49-F238E27FC236}">
                <a16:creationId xmlns:a16="http://schemas.microsoft.com/office/drawing/2014/main" id="{8A2228BE-2BA7-09E7-C4A1-09DA01084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87" y="2475026"/>
            <a:ext cx="654992" cy="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0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768B-08C1-161D-36F2-172CBCA2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Model &amp; Accuracy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D172-64E4-8131-E7C2-94DE65F1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6069" y="2657476"/>
            <a:ext cx="3471863" cy="1998252"/>
          </a:xfrm>
        </p:spPr>
        <p:txBody>
          <a:bodyPr vert="horz" lIns="38576" tIns="19289" rIns="38576" bIns="19289" rtlCol="0" anchor="t">
            <a:normAutofit/>
          </a:bodyPr>
          <a:lstStyle/>
          <a:p>
            <a:pPr>
              <a:buNone/>
            </a:pP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671C7-8BEA-1FC7-4C46-95A8599557C6}"/>
              </a:ext>
            </a:extLst>
          </p:cNvPr>
          <p:cNvSpPr txBox="1"/>
          <p:nvPr/>
        </p:nvSpPr>
        <p:spPr>
          <a:xfrm>
            <a:off x="2725220" y="2657477"/>
            <a:ext cx="3583785" cy="1694454"/>
          </a:xfrm>
          <a:prstGeom prst="rect">
            <a:avLst/>
          </a:prstGeom>
          <a:noFill/>
        </p:spPr>
        <p:txBody>
          <a:bodyPr wrap="square" lIns="38576" tIns="19289" rIns="38576" bIns="19289" rtlCol="0" anchor="t">
            <a:spAutoFit/>
          </a:bodyPr>
          <a:lstStyle/>
          <a:p>
            <a:r>
              <a:rPr lang="en-US" sz="1055" b="1"/>
              <a:t>Meal Plan Generator:</a:t>
            </a:r>
          </a:p>
          <a:p>
            <a:pPr marL="144661" indent="-144661">
              <a:buFont typeface="Arial"/>
              <a:buChar char="•"/>
            </a:pPr>
            <a:r>
              <a:rPr lang="en-US" sz="844"/>
              <a:t>Optimization Algorithm: Integer Linear Programming (ILP)</a:t>
            </a:r>
            <a:endParaRPr lang="en-US" sz="844">
              <a:ea typeface="Calibri"/>
              <a:cs typeface="Calibri"/>
            </a:endParaRPr>
          </a:p>
          <a:p>
            <a:pPr marL="144661" indent="-144661">
              <a:buFont typeface="Arial"/>
              <a:buChar char="•"/>
            </a:pPr>
            <a:r>
              <a:rPr lang="en-US" sz="844"/>
              <a:t>Model Accuracy: 84.58%</a:t>
            </a:r>
            <a:br>
              <a:rPr lang="en-US" sz="1055"/>
            </a:br>
            <a:endParaRPr lang="en-US" sz="1055">
              <a:ea typeface="Calibri"/>
              <a:cs typeface="Calibri"/>
            </a:endParaRPr>
          </a:p>
          <a:p>
            <a:r>
              <a:rPr lang="en-US" sz="1055" b="1"/>
              <a:t>Meal Analysis:</a:t>
            </a:r>
          </a:p>
          <a:p>
            <a:pPr marL="144661" indent="-144661">
              <a:buFont typeface="Arial"/>
              <a:buChar char="•"/>
            </a:pPr>
            <a:r>
              <a:rPr lang="en-US" sz="844"/>
              <a:t>Base Model: EfficientNetV2BO (CNN)</a:t>
            </a:r>
            <a:endParaRPr lang="en-US" sz="844">
              <a:ea typeface="Calibri"/>
              <a:cs typeface="Calibri"/>
            </a:endParaRPr>
          </a:p>
          <a:p>
            <a:pPr marL="144661" indent="-144661">
              <a:buFont typeface="Arial"/>
              <a:buChar char="•"/>
            </a:pPr>
            <a:r>
              <a:rPr lang="en-US" sz="844"/>
              <a:t>Ingredient Prediction - Multi-Label Classification Model</a:t>
            </a:r>
            <a:endParaRPr lang="en-US" sz="844">
              <a:ea typeface="Calibri"/>
              <a:cs typeface="Calibri"/>
            </a:endParaRPr>
          </a:p>
          <a:p>
            <a:pPr marL="337542" lvl="1" indent="-144661">
              <a:buFont typeface="Courier New"/>
              <a:buChar char="o"/>
            </a:pPr>
            <a:r>
              <a:rPr lang="en-US" sz="844">
                <a:ea typeface="Calibri"/>
                <a:cs typeface="Calibri"/>
              </a:rPr>
              <a:t>75 classes for each ingredient</a:t>
            </a:r>
          </a:p>
          <a:p>
            <a:pPr marL="144661" indent="-144661">
              <a:buFont typeface="Arial"/>
              <a:buChar char="•"/>
            </a:pPr>
            <a:r>
              <a:rPr lang="en-US" sz="844"/>
              <a:t>Nutrition Prediction — Multi-Task Regression Model</a:t>
            </a:r>
            <a:endParaRPr lang="en-US" sz="844">
              <a:ea typeface="Calibri"/>
              <a:cs typeface="Calibri"/>
            </a:endParaRPr>
          </a:p>
          <a:p>
            <a:pPr marL="337542" lvl="1" indent="-144661">
              <a:buFont typeface="Courier New"/>
              <a:buChar char="o"/>
            </a:pPr>
            <a:r>
              <a:rPr lang="en-US" sz="844">
                <a:ea typeface="Calibri"/>
                <a:cs typeface="Calibri"/>
              </a:rPr>
              <a:t>3 regression outputs for </a:t>
            </a:r>
            <a:r>
              <a:rPr lang="en-US" sz="844" err="1">
                <a:ea typeface="Calibri"/>
                <a:cs typeface="Calibri"/>
              </a:rPr>
              <a:t>prote</a:t>
            </a:r>
            <a:r>
              <a:rPr lang="en-US" sz="844">
                <a:ea typeface="Calibri"/>
                <a:cs typeface="Calibri"/>
              </a:rPr>
              <a:t>in, fat and carbohydrates</a:t>
            </a:r>
          </a:p>
          <a:p>
            <a:pPr marL="144661" indent="-144661">
              <a:buFont typeface="Arial"/>
              <a:buChar char="•"/>
            </a:pPr>
            <a:r>
              <a:rPr lang="en-US" sz="844"/>
              <a:t>Model Accuracy: 74.11% (25% tolerance)</a:t>
            </a:r>
          </a:p>
          <a:p>
            <a:pPr marL="144661" indent="-144661">
              <a:buFont typeface="Arial"/>
              <a:buChar char="•"/>
            </a:pPr>
            <a:r>
              <a:rPr lang="en-US" sz="844">
                <a:ea typeface="Calibri"/>
                <a:cs typeface="Calibri"/>
              </a:rPr>
              <a:t>Dataset – Nutritions5k </a:t>
            </a:r>
          </a:p>
        </p:txBody>
      </p:sp>
    </p:spTree>
    <p:extLst>
      <p:ext uri="{BB962C8B-B14F-4D97-AF65-F5344CB8AC3E}">
        <p14:creationId xmlns:p14="http://schemas.microsoft.com/office/powerpoint/2010/main" val="106096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8840-41AE-2DA8-0DCC-DC0D0496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B08C8-7188-5CE5-9EF5-EDCDB35A4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38576" tIns="19289" rIns="38576" bIns="19289" rtlCol="0" anchor="t">
            <a:normAutofit/>
          </a:bodyPr>
          <a:lstStyle/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1133B7-1E66-B703-F7CC-2D6F2957DB4A}"/>
              </a:ext>
            </a:extLst>
          </p:cNvPr>
          <p:cNvSpPr txBox="1">
            <a:spLocks/>
          </p:cNvSpPr>
          <p:nvPr/>
        </p:nvSpPr>
        <p:spPr>
          <a:xfrm>
            <a:off x="2384800" y="2703573"/>
            <a:ext cx="4624298" cy="2054961"/>
          </a:xfrm>
          <a:prstGeom prst="rect">
            <a:avLst/>
          </a:prstGeom>
        </p:spPr>
        <p:txBody>
          <a:bodyPr vert="horz" lIns="38576" tIns="19289" rIns="38576" bIns="19289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Integration points:</a:t>
            </a:r>
            <a:endParaRPr lang="en-US" sz="844" b="1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Mobile Application</a:t>
            </a:r>
            <a:r>
              <a:rPr lang="en-US" sz="760">
                <a:ea typeface="Calibri"/>
                <a:cs typeface="Calibri"/>
              </a:rPr>
              <a:t>: React Native (Expo) mobile app used for collecting user health data such as blood pressure, exercise hours, and daily food intake.</a:t>
            </a:r>
            <a:endParaRPr lang="en-US" sz="1350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AI Prediction Models</a:t>
            </a:r>
            <a:r>
              <a:rPr lang="en-US" sz="760">
                <a:ea typeface="Calibri"/>
                <a:cs typeface="Calibri"/>
              </a:rPr>
              <a:t>: Integration of Health Risk Prediction and Diet Recommendation models to generate personalized health insights based on user data.</a:t>
            </a:r>
            <a:endParaRPr lang="en-US" sz="1350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Calorie Target Integration:</a:t>
            </a:r>
            <a:r>
              <a:rPr lang="en-US" sz="760">
                <a:ea typeface="Calibri"/>
                <a:cs typeface="Calibri"/>
              </a:rPr>
              <a:t> Retrieves the user’s daily calorie target from the Nutrition Analysis module to compare with daily calorie intake.</a:t>
            </a:r>
            <a:endParaRPr lang="en-US" sz="1350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Cloud Database:</a:t>
            </a:r>
            <a:r>
              <a:rPr lang="en-US" sz="760">
                <a:ea typeface="Calibri"/>
                <a:cs typeface="Calibri"/>
              </a:rPr>
              <a:t> MongoDB database used to store user health records, activity logs, prediction results, and health progress data.</a:t>
            </a:r>
            <a:endParaRPr lang="en-US" sz="1350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endParaRPr lang="en-US" sz="760" b="1">
              <a:ea typeface="Calibri"/>
              <a:cs typeface="Calibri"/>
            </a:endParaRPr>
          </a:p>
          <a:p>
            <a:pPr marL="0" indent="0">
              <a:spcBef>
                <a:spcPts val="8"/>
              </a:spcBef>
              <a:buNone/>
            </a:pPr>
            <a:r>
              <a:rPr lang="en-US" sz="1181" b="1">
                <a:ea typeface="Calibri"/>
                <a:cs typeface="Calibri"/>
              </a:rPr>
              <a:t>Deployment /run time setup:  </a:t>
            </a:r>
            <a:r>
              <a:rPr lang="en-US" sz="760">
                <a:ea typeface="Calibri"/>
                <a:cs typeface="Calibri"/>
              </a:rPr>
              <a:t>                    </a:t>
            </a: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Frontend</a:t>
            </a:r>
            <a:r>
              <a:rPr lang="en-US" sz="760">
                <a:ea typeface="Calibri"/>
                <a:cs typeface="Calibri"/>
              </a:rPr>
              <a:t>: React Native (Expo) mobile app running on Android devices for health data input, predictions, and progress tracking.</a:t>
            </a:r>
            <a:endParaRPr lang="en-US" sz="1350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Backend:</a:t>
            </a:r>
            <a:r>
              <a:rPr lang="en-US" sz="760">
                <a:ea typeface="Calibri"/>
                <a:cs typeface="Calibri"/>
              </a:rPr>
              <a:t> </a:t>
            </a:r>
            <a:r>
              <a:rPr lang="en-US" sz="760" err="1">
                <a:ea typeface="Calibri"/>
                <a:cs typeface="Calibri"/>
              </a:rPr>
              <a:t>FastAPI</a:t>
            </a:r>
            <a:r>
              <a:rPr lang="en-US" sz="760">
                <a:ea typeface="Calibri"/>
                <a:cs typeface="Calibri"/>
              </a:rPr>
              <a:t> server running on a local machine to process health data, execute Health Risk Prediction and Diet Recommendation models, and handle API requests.</a:t>
            </a:r>
            <a:endParaRPr lang="en-US" sz="1350">
              <a:ea typeface="Calibri"/>
              <a:cs typeface="Calibri"/>
            </a:endParaRPr>
          </a:p>
          <a:p>
            <a:pPr marL="120551" indent="-120551">
              <a:spcBef>
                <a:spcPts val="8"/>
              </a:spcBef>
            </a:pPr>
            <a:r>
              <a:rPr lang="en-US" sz="760" b="1">
                <a:ea typeface="Calibri"/>
                <a:cs typeface="Calibri"/>
              </a:rPr>
              <a:t>Database Setup:</a:t>
            </a:r>
            <a:r>
              <a:rPr lang="en-US" sz="760">
                <a:ea typeface="Calibri"/>
                <a:cs typeface="Calibri"/>
              </a:rPr>
              <a:t> MongoDB used for storing user health records, daily activities, prediction results, and health progress in a single-machine development environment.</a:t>
            </a:r>
            <a:endParaRPr lang="en-US" sz="1350">
              <a:ea typeface="Calibri"/>
              <a:cs typeface="Calibri"/>
            </a:endParaRPr>
          </a:p>
          <a:p>
            <a:pPr marL="0" indent="0">
              <a:spcBef>
                <a:spcPts val="8"/>
              </a:spcBef>
              <a:buNone/>
            </a:pPr>
            <a:endParaRPr lang="en-US" sz="760">
              <a:ea typeface="Calibri"/>
              <a:cs typeface="Calibri"/>
            </a:endParaRPr>
          </a:p>
          <a:p>
            <a:pPr marL="0" indent="0">
              <a:spcBef>
                <a:spcPts val="8"/>
              </a:spcBef>
              <a:buNone/>
            </a:pPr>
            <a:endParaRPr lang="en-US" sz="760">
              <a:ea typeface="Calibri"/>
              <a:cs typeface="Calibri"/>
            </a:endParaRPr>
          </a:p>
          <a:p>
            <a:pPr marL="0" indent="0">
              <a:buNone/>
            </a:pPr>
            <a:endParaRPr lang="en-US" sz="760">
              <a:ea typeface="Calibri"/>
              <a:cs typeface="Calibri"/>
            </a:endParaRPr>
          </a:p>
          <a:p>
            <a:pPr marL="0" indent="0">
              <a:buNone/>
            </a:pPr>
            <a:endParaRPr lang="en-US" sz="1181">
              <a:ea typeface="Calibri"/>
              <a:cs typeface="Calibri"/>
            </a:endParaRPr>
          </a:p>
          <a:p>
            <a:pPr marL="0" indent="0">
              <a:buNone/>
            </a:pPr>
            <a:endParaRPr lang="en-US" sz="1350">
              <a:ea typeface="Calibri"/>
              <a:cs typeface="Calibri"/>
            </a:endParaRPr>
          </a:p>
          <a:p>
            <a:pPr marL="0" indent="0">
              <a:buNone/>
            </a:pPr>
            <a:endParaRPr lang="en-US" sz="1350">
              <a:ea typeface="Calibri"/>
              <a:cs typeface="Calibri"/>
            </a:endParaRPr>
          </a:p>
        </p:txBody>
      </p:sp>
      <p:pic>
        <p:nvPicPr>
          <p:cNvPr id="4" name="Picture 3" descr="A person in a red shirt&#10;&#10;AI-generated content may be incorrect.">
            <a:extLst>
              <a:ext uri="{FF2B5EF4-FFF2-40B4-BE49-F238E27FC236}">
                <a16:creationId xmlns:a16="http://schemas.microsoft.com/office/drawing/2014/main" id="{1B126892-66AF-64A8-8646-ACD90B61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89" y="2100040"/>
            <a:ext cx="578644" cy="66660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FA26CEA-C8C8-6387-CBA4-30324FF3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844">
                <a:ea typeface="Calibri"/>
                <a:cs typeface="Calibri"/>
              </a:rPr>
              <a:t>IT22343420|T.M Poornima</a:t>
            </a:r>
            <a:br>
              <a:rPr lang="en-US" sz="844">
                <a:ea typeface="Calibri"/>
                <a:cs typeface="Calibri"/>
              </a:rPr>
            </a:br>
            <a:r>
              <a:rPr lang="en-US" sz="1181" b="1">
                <a:ea typeface="Calibri"/>
                <a:cs typeface="Calibri"/>
              </a:rPr>
              <a:t>3.AI-powered Predictive Health Alert Progress </a:t>
            </a:r>
            <a:br>
              <a:rPr lang="en-US" sz="1181" b="1">
                <a:ea typeface="Calibri"/>
                <a:cs typeface="Calibri"/>
              </a:rPr>
            </a:br>
            <a:r>
              <a:rPr lang="en-US" sz="1181" b="1">
                <a:ea typeface="Calibri"/>
                <a:cs typeface="Calibri"/>
              </a:rPr>
              <a:t>Tracking System</a:t>
            </a:r>
          </a:p>
        </p:txBody>
      </p:sp>
    </p:spTree>
    <p:extLst>
      <p:ext uri="{BB962C8B-B14F-4D97-AF65-F5344CB8AC3E}">
        <p14:creationId xmlns:p14="http://schemas.microsoft.com/office/powerpoint/2010/main" val="60953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0D71E-3C94-7291-4F4D-3DD96CC40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4930" y="2705999"/>
            <a:ext cx="4114799" cy="1745624"/>
          </a:xfrm>
        </p:spPr>
        <p:txBody>
          <a:bodyPr vert="horz" lIns="38576" tIns="19289" rIns="38576" bIns="19289" rtlCol="0" anchor="t">
            <a:normAutofit/>
          </a:bodyPr>
          <a:lstStyle/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Health Risk Prediction Model:</a:t>
            </a:r>
          </a:p>
          <a:p>
            <a:pPr>
              <a:spcBef>
                <a:spcPts val="8"/>
              </a:spcBef>
            </a:pPr>
            <a:r>
              <a:rPr lang="en-US" sz="844">
                <a:ea typeface="Calibri"/>
                <a:cs typeface="Calibri"/>
              </a:rPr>
              <a:t>Training Algorithm: </a:t>
            </a:r>
            <a:r>
              <a:rPr lang="en-US" sz="844" err="1">
                <a:ea typeface="Calibri"/>
                <a:cs typeface="Calibri"/>
              </a:rPr>
              <a:t>XGBoost</a:t>
            </a:r>
            <a:r>
              <a:rPr lang="en-US" sz="844">
                <a:ea typeface="Calibri"/>
                <a:cs typeface="Calibri"/>
              </a:rPr>
              <a:t> Classifier</a:t>
            </a:r>
          </a:p>
          <a:p>
            <a:pPr>
              <a:spcBef>
                <a:spcPts val="8"/>
              </a:spcBef>
            </a:pPr>
            <a:r>
              <a:rPr lang="en-US" sz="844">
                <a:ea typeface="Calibri"/>
                <a:cs typeface="Calibri"/>
              </a:rPr>
              <a:t>Prediction Type – Classification Model for predicting user health risk level (Low, Moderate, High)</a:t>
            </a:r>
            <a:endParaRPr lang="en-US">
              <a:ea typeface="Calibri"/>
              <a:cs typeface="Calibri"/>
            </a:endParaRPr>
          </a:p>
          <a:p>
            <a:pPr>
              <a:spcBef>
                <a:spcPts val="8"/>
              </a:spcBef>
            </a:pPr>
            <a:r>
              <a:rPr lang="en-US" sz="844">
                <a:ea typeface="Calibri"/>
                <a:cs typeface="Calibri"/>
              </a:rPr>
              <a:t>Model Accuracy: 89.9%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sz="76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Diet Recommendation Model:</a:t>
            </a:r>
          </a:p>
          <a:p>
            <a:pPr>
              <a:spcBef>
                <a:spcPts val="8"/>
              </a:spcBef>
            </a:pPr>
            <a:r>
              <a:rPr lang="en-US" sz="844">
                <a:ea typeface="Calibri"/>
                <a:cs typeface="Calibri"/>
              </a:rPr>
              <a:t>Training Algorithm: Gradient Boosting Classifier</a:t>
            </a:r>
          </a:p>
          <a:p>
            <a:pPr>
              <a:spcBef>
                <a:spcPts val="8"/>
              </a:spcBef>
            </a:pPr>
            <a:r>
              <a:rPr lang="en-US" sz="844">
                <a:ea typeface="Calibri"/>
                <a:cs typeface="Calibri"/>
              </a:rPr>
              <a:t>Prediction Type – Classification Model for generating personalized diet recommendations</a:t>
            </a:r>
            <a:endParaRPr lang="en-US">
              <a:ea typeface="Calibri"/>
              <a:cs typeface="Calibri"/>
            </a:endParaRPr>
          </a:p>
          <a:p>
            <a:pPr>
              <a:spcBef>
                <a:spcPts val="8"/>
              </a:spcBef>
            </a:pPr>
            <a:r>
              <a:rPr lang="en-US" sz="844">
                <a:ea typeface="Calibri"/>
                <a:cs typeface="Calibri"/>
              </a:rPr>
              <a:t>Model Accuracy: 67.36%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sz="760">
              <a:ea typeface="Calibri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64307A-1409-36C4-1C08-3E3E3BFA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425" y="2098254"/>
            <a:ext cx="4629150" cy="482204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Model &amp; Accuracy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9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E27C-552E-8899-0DFB-9646B097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37456-45B9-7809-0EE6-3607949E5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38576" tIns="19289" rIns="38576" bIns="19289" rtlCol="0" anchor="t">
            <a:normAutofit/>
          </a:bodyPr>
          <a:lstStyle/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7E3E68-FF21-F68D-E70B-5F4983580759}"/>
              </a:ext>
            </a:extLst>
          </p:cNvPr>
          <p:cNvSpPr txBox="1">
            <a:spLocks/>
          </p:cNvSpPr>
          <p:nvPr/>
        </p:nvSpPr>
        <p:spPr>
          <a:xfrm>
            <a:off x="2466744" y="2759707"/>
            <a:ext cx="4291246" cy="1829575"/>
          </a:xfrm>
          <a:prstGeom prst="rect">
            <a:avLst/>
          </a:prstGeom>
        </p:spPr>
        <p:txBody>
          <a:bodyPr vert="horz" lIns="38576" tIns="19289" rIns="38576" bIns="19289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en-US" sz="1181" b="1">
                <a:ea typeface="Calibri"/>
                <a:cs typeface="Calibri"/>
              </a:rPr>
              <a:t>Integration Points</a:t>
            </a:r>
            <a:endParaRPr lang="en-US" sz="1181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760">
                <a:ea typeface="+mn-lt"/>
                <a:cs typeface="+mn-lt"/>
              </a:rPr>
              <a:t>Mobile App : </a:t>
            </a:r>
            <a:r>
              <a:rPr lang="en-US" sz="760"/>
              <a:t>React Native (Expo) app used for grocery item search and user interaction.</a:t>
            </a:r>
          </a:p>
          <a:p>
            <a:pPr>
              <a:lnSpc>
                <a:spcPct val="110000"/>
              </a:lnSpc>
            </a:pPr>
            <a:r>
              <a:rPr lang="en-US" sz="760"/>
              <a:t>Supermarket Data Integration : Uses real-time supermarket data scraped from Keells (Curl ) and Cargills (Playwright )</a:t>
            </a:r>
          </a:p>
          <a:p>
            <a:pPr>
              <a:lnSpc>
                <a:spcPct val="110000"/>
              </a:lnSpc>
            </a:pPr>
            <a:r>
              <a:rPr lang="en-US" sz="760"/>
              <a:t>Data Processing Pipeline</a:t>
            </a:r>
            <a:r>
              <a:rPr lang="en-US" sz="760">
                <a:ea typeface="+mn-lt"/>
                <a:cs typeface="+mn-lt"/>
              </a:rPr>
              <a:t> : </a:t>
            </a:r>
            <a:r>
              <a:rPr lang="en-US" sz="760"/>
              <a:t>Transforms raw supermarket data into structured product records (clean , categoriz ) </a:t>
            </a:r>
            <a:endParaRPr lang="en-US" sz="760">
              <a:ea typeface="Calibri"/>
              <a:cs typeface="Calibri"/>
            </a:endParaRPr>
          </a:p>
          <a:p>
            <a:r>
              <a:rPr lang="en-US" sz="760"/>
              <a:t>External Integration</a:t>
            </a:r>
            <a:r>
              <a:rPr lang="en-US" sz="760">
                <a:ea typeface="+mn-lt"/>
                <a:cs typeface="+mn-lt"/>
              </a:rPr>
              <a:t> : </a:t>
            </a:r>
            <a:r>
              <a:rPr lang="en-US" sz="760"/>
              <a:t>Google Maps API,</a:t>
            </a:r>
            <a:r>
              <a:rPr lang="en-US" sz="760">
                <a:ea typeface="+mn-lt"/>
                <a:cs typeface="+mn-lt"/>
              </a:rPr>
              <a:t> </a:t>
            </a:r>
            <a:r>
              <a:rPr lang="en-US" sz="760"/>
              <a:t>Haversine formula , </a:t>
            </a:r>
            <a:r>
              <a:rPr lang="it-IT" sz="760"/>
              <a:t>AI insights integration via OpenAI API.</a:t>
            </a:r>
            <a:endParaRPr lang="en-US" sz="760"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81" b="1"/>
              <a:t>Deployment / Runtime Setup</a:t>
            </a:r>
            <a:endParaRPr lang="en-US" sz="1181" b="1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760">
                <a:ea typeface="+mn-lt"/>
                <a:cs typeface="+mn-lt"/>
              </a:rPr>
              <a:t>Frontend: React Native mobile application built with Expo, running on Android devices.</a:t>
            </a:r>
            <a:endParaRPr lang="en-US" sz="1350"/>
          </a:p>
          <a:p>
            <a:pPr>
              <a:lnSpc>
                <a:spcPct val="110000"/>
              </a:lnSpc>
            </a:pPr>
            <a:r>
              <a:rPr lang="en-US" sz="760">
                <a:ea typeface="+mn-lt"/>
                <a:cs typeface="+mn-lt"/>
              </a:rPr>
              <a:t>Backend: REST API developed using FastAPI, running on the local machine.</a:t>
            </a:r>
            <a:endParaRPr lang="en-US" sz="1350"/>
          </a:p>
          <a:p>
            <a:pPr>
              <a:lnSpc>
                <a:spcPct val="110000"/>
              </a:lnSpc>
            </a:pPr>
            <a:r>
              <a:rPr lang="en-US" sz="760">
                <a:ea typeface="+mn-lt"/>
                <a:cs typeface="+mn-lt"/>
              </a:rPr>
              <a:t>Development Environment: Single-machine development environment.</a:t>
            </a:r>
            <a:endParaRPr lang="en-US" sz="1350"/>
          </a:p>
          <a:p>
            <a:endParaRPr lang="en-US" sz="1350"/>
          </a:p>
          <a:p>
            <a:pPr marL="0" indent="0">
              <a:buNone/>
            </a:pPr>
            <a:endParaRPr lang="en-US" sz="760">
              <a:ea typeface="Calibri"/>
              <a:cs typeface="Calibri"/>
            </a:endParaRPr>
          </a:p>
        </p:txBody>
      </p:sp>
      <p:pic>
        <p:nvPicPr>
          <p:cNvPr id="4" name="Picture 3" descr="A person with long hair&#10;&#10;AI-generated content may be incorrect.">
            <a:extLst>
              <a:ext uri="{FF2B5EF4-FFF2-40B4-BE49-F238E27FC236}">
                <a16:creationId xmlns:a16="http://schemas.microsoft.com/office/drawing/2014/main" id="{8668A9C1-63D0-CEB2-3E98-9D39650AC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15" y="2097137"/>
            <a:ext cx="587128" cy="69026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02A0FF-29FE-F82C-1364-C7D246F6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051" y="2152859"/>
            <a:ext cx="2850131" cy="482204"/>
          </a:xfrm>
        </p:spPr>
        <p:txBody>
          <a:bodyPr>
            <a:normAutofit fontScale="90000"/>
          </a:bodyPr>
          <a:lstStyle/>
          <a:p>
            <a:pPr algn="l"/>
            <a:r>
              <a:rPr lang="en-US" sz="844">
                <a:ea typeface="Calibri"/>
                <a:cs typeface="Calibri"/>
              </a:rPr>
              <a:t>IT22343284|Samarawikrama T.N</a:t>
            </a:r>
            <a:br>
              <a:rPr lang="en-US" sz="1181"/>
            </a:br>
            <a:r>
              <a:rPr lang="en-US" sz="1181" b="1">
                <a:ea typeface="Calibri"/>
                <a:cs typeface="Calibri"/>
              </a:rPr>
              <a:t>4.AI-powered Smart Grocery List Optimization and Nearest Store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781758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291B04-E4A9-78B9-94BC-97450F65FF2C}"/>
              </a:ext>
            </a:extLst>
          </p:cNvPr>
          <p:cNvSpPr txBox="1">
            <a:spLocks/>
          </p:cNvSpPr>
          <p:nvPr/>
        </p:nvSpPr>
        <p:spPr>
          <a:xfrm>
            <a:off x="2836069" y="2344906"/>
            <a:ext cx="3471863" cy="2090445"/>
          </a:xfrm>
          <a:prstGeom prst="rect">
            <a:avLst/>
          </a:prstGeom>
        </p:spPr>
        <p:txBody>
          <a:bodyPr vert="horz" lIns="38576" tIns="19289" rIns="38576" bIns="19289" rtlCol="0" anchor="t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81" b="1">
                <a:ea typeface="Calibri"/>
                <a:cs typeface="Calibri"/>
              </a:rPr>
              <a:t>              Optimization Logic &amp; System Algorithms</a:t>
            </a:r>
          </a:p>
          <a:p>
            <a:pPr marL="0" indent="0">
              <a:buNone/>
            </a:pPr>
            <a:endParaRPr lang="en-US" sz="1013" b="1"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13" b="1">
                <a:ea typeface="Calibri"/>
                <a:cs typeface="Calibri"/>
              </a:rPr>
              <a:t>1. Distance Calculation Model : </a:t>
            </a:r>
            <a:r>
              <a:rPr lang="en-US" sz="1013">
                <a:ea typeface="Calibri"/>
                <a:cs typeface="Calibri"/>
              </a:rPr>
              <a:t>Calculates store distance using Google Maps API and Haversine formula.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13" b="1">
                <a:ea typeface="Calibri"/>
                <a:cs typeface="Calibri"/>
              </a:rPr>
              <a:t>2. Price Comparison Engine : </a:t>
            </a:r>
            <a:r>
              <a:rPr lang="en-US" sz="1013">
                <a:ea typeface="Calibri"/>
                <a:cs typeface="Calibri"/>
              </a:rPr>
              <a:t>Compares the latest product prices across Keells and Cargills supermarkets.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13" b="1">
                <a:ea typeface="Calibri"/>
                <a:cs typeface="Calibri"/>
              </a:rPr>
              <a:t>3. Multi-Store Basket Analysis : </a:t>
            </a:r>
            <a:r>
              <a:rPr lang="en-US" sz="1013">
                <a:ea typeface="Calibri"/>
                <a:cs typeface="Calibri"/>
              </a:rPr>
              <a:t>Calculates the total grocery basket cost for each store and recommends the cheapest option.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13" b="1">
                <a:ea typeface="Calibri"/>
                <a:cs typeface="Calibri"/>
              </a:rPr>
              <a:t>4.System Approach : </a:t>
            </a:r>
            <a:r>
              <a:rPr lang="en-US" sz="1013">
                <a:ea typeface="Calibri"/>
                <a:cs typeface="Calibri"/>
              </a:rPr>
              <a:t>Rule-based cost optimization using price and distance analysis.</a:t>
            </a:r>
          </a:p>
          <a:p>
            <a:pPr marL="0" indent="0">
              <a:buNone/>
            </a:pPr>
            <a:endParaRPr lang="en-US" sz="675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7730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1535" y="1982392"/>
            <a:ext cx="5142215" cy="28932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0251" y="1982392"/>
            <a:ext cx="1758068" cy="2893219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43F9A-D563-C66B-B49A-A42E72C5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010" y="2469055"/>
            <a:ext cx="1350169" cy="1882053"/>
          </a:xfrm>
        </p:spPr>
        <p:txBody>
          <a:bodyPr>
            <a:normAutofit/>
          </a:bodyPr>
          <a:lstStyle/>
          <a:p>
            <a:r>
              <a:rPr lang="en-US" sz="1181" b="1">
                <a:solidFill>
                  <a:srgbClr val="FFFFFF"/>
                </a:solidFill>
                <a:ea typeface="Calibri"/>
                <a:cs typeface="Calibri"/>
              </a:rPr>
              <a:t>Commercialization</a:t>
            </a:r>
            <a:endParaRPr lang="en-US" sz="1181" b="1">
              <a:solidFill>
                <a:srgbClr val="FFFFFF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185579" y="3018298"/>
            <a:ext cx="1722698" cy="1722698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78BE3D2-2700-53DA-8A01-631B0B56D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460" y="2231866"/>
            <a:ext cx="2913676" cy="2356433"/>
          </a:xfrm>
        </p:spPr>
        <p:txBody>
          <a:bodyPr vert="horz" lIns="38576" tIns="19289" rIns="38576" bIns="19289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60" b="1">
                <a:ea typeface="+mn-lt"/>
                <a:cs typeface="+mn-lt"/>
              </a:rPr>
              <a:t>Target users / Market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Individuals (25–65) with chronic diseases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Health- Aware smartphone</a:t>
            </a:r>
            <a:r>
              <a:rPr lang="en-US" sz="760" dirty="0">
                <a:ea typeface="+mn-lt"/>
                <a:cs typeface="+mn-lt"/>
              </a:rPr>
              <a:t> users</a:t>
            </a:r>
            <a:endParaRPr lang="en-US" sz="76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Clinics, insurers, corporate wellness programs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Supermarket chains </a:t>
            </a:r>
          </a:p>
          <a:p>
            <a:pPr>
              <a:lnSpc>
                <a:spcPct val="90000"/>
              </a:lnSpc>
            </a:pPr>
            <a:r>
              <a:rPr lang="en-US" sz="760" b="1">
                <a:ea typeface="+mn-lt"/>
                <a:cs typeface="+mn-lt"/>
              </a:rPr>
              <a:t>Value proposition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Personalized nutrition guidance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Uses real-time health data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Supports multi-disease management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 b="1">
                <a:ea typeface="+mn-lt"/>
                <a:cs typeface="+mn-lt"/>
              </a:rPr>
              <a:t>Cost and feasibility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Subscription-based mobile app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SaaS for clinics and organizations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Low operational cost, scalable system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 b="1">
                <a:ea typeface="+mn-lt"/>
                <a:cs typeface="+mn-lt"/>
              </a:rPr>
              <a:t>Adoption plan / Next steps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Pilot with small user group/clinics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Collect feedback and improve system</a:t>
            </a:r>
            <a:endParaRPr lang="en-US" sz="76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760">
                <a:ea typeface="+mn-lt"/>
                <a:cs typeface="+mn-lt"/>
              </a:rPr>
              <a:t>Expand through healthcare partnerships</a:t>
            </a:r>
            <a:endParaRPr lang="en-US" sz="760"/>
          </a:p>
          <a:p>
            <a:pPr>
              <a:lnSpc>
                <a:spcPct val="90000"/>
              </a:lnSpc>
            </a:pPr>
            <a:endParaRPr lang="en-US" sz="76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3C7A4-0F5D-3201-46BB-A18FA77467AD}"/>
              </a:ext>
            </a:extLst>
          </p:cNvPr>
          <p:cNvSpPr txBox="1"/>
          <p:nvPr/>
        </p:nvSpPr>
        <p:spPr>
          <a:xfrm>
            <a:off x="5748848" y="2907084"/>
            <a:ext cx="1157288" cy="8180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13" b="1" dirty="0">
                <a:solidFill>
                  <a:srgbClr val="FF0000"/>
                </a:solidFill>
                <a:ea typeface="Calibri"/>
                <a:cs typeface="Calibri"/>
              </a:rPr>
              <a:t>Unique selling point s it’s a all in one application separate 4 apps in one </a:t>
            </a:r>
            <a:r>
              <a:rPr lang="en-GB" sz="1013" b="1" dirty="0" err="1">
                <a:solidFill>
                  <a:srgbClr val="FF0000"/>
                </a:solidFill>
                <a:ea typeface="Calibri"/>
                <a:cs typeface="Calibri"/>
              </a:rPr>
              <a:t>appication</a:t>
            </a:r>
            <a:r>
              <a:rPr lang="en-GB" sz="1013" b="1" dirty="0">
                <a:solidFill>
                  <a:srgbClr val="FF0000"/>
                </a:solidFill>
                <a:ea typeface="Calibri"/>
                <a:cs typeface="Calibri"/>
              </a:rPr>
              <a:t> </a:t>
            </a:r>
            <a:endParaRPr lang="en-GB" sz="101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44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0250" y="1982392"/>
            <a:ext cx="5142215" cy="28932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/>
          </a:p>
        </p:txBody>
      </p:sp>
      <p:sp>
        <p:nvSpPr>
          <p:cNvPr id="37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53240" y="1982392"/>
            <a:ext cx="4037525" cy="2893219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7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33DC0-091C-42E3-D6D0-E6DB09040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10" y="2385414"/>
            <a:ext cx="2984584" cy="1223005"/>
          </a:xfrm>
        </p:spPr>
        <p:txBody>
          <a:bodyPr vert="horz" lIns="38576" tIns="19289" rIns="38576" bIns="19289" rtlCol="0" anchor="b">
            <a:normAutofit/>
          </a:bodyPr>
          <a:lstStyle/>
          <a:p>
            <a:pPr defTabSz="385763">
              <a:lnSpc>
                <a:spcPct val="90000"/>
              </a:lnSpc>
            </a:pPr>
            <a:r>
              <a:rPr lang="en-US" sz="2785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870" y="3743087"/>
            <a:ext cx="1790264" cy="7715"/>
          </a:xfrm>
          <a:custGeom>
            <a:avLst/>
            <a:gdLst>
              <a:gd name="csX0" fmla="*/ 0 w 10000"/>
              <a:gd name="csY0" fmla="*/ 0 h 10000"/>
              <a:gd name="csX1" fmla="*/ 10000 w 10000"/>
              <a:gd name="csY1" fmla="*/ 0 h 10000"/>
              <a:gd name="csX2" fmla="*/ 10000 w 10000"/>
              <a:gd name="csY2" fmla="*/ 10000 h 10000"/>
              <a:gd name="csX3" fmla="*/ 0 w 10000"/>
              <a:gd name="csY3" fmla="*/ 10000 h 10000"/>
              <a:gd name="csX4" fmla="*/ 0 w 10000"/>
              <a:gd name="csY4" fmla="*/ 0 h 1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0" h="10000" fill="none" extrusionOk="0">
                <a:moveTo>
                  <a:pt x="0" y="0"/>
                </a:moveTo>
                <a:cubicBezTo>
                  <a:pt x="4791" y="327"/>
                  <a:pt x="6400" y="69"/>
                  <a:pt x="10000" y="0"/>
                </a:cubicBezTo>
                <a:cubicBezTo>
                  <a:pt x="9955" y="3464"/>
                  <a:pt x="10081" y="7866"/>
                  <a:pt x="10000" y="10000"/>
                </a:cubicBezTo>
                <a:cubicBezTo>
                  <a:pt x="6219" y="9793"/>
                  <a:pt x="4034" y="10351"/>
                  <a:pt x="0" y="10000"/>
                </a:cubicBezTo>
                <a:cubicBezTo>
                  <a:pt x="454" y="6185"/>
                  <a:pt x="74" y="2352"/>
                  <a:pt x="0" y="0"/>
                </a:cubicBezTo>
                <a:close/>
              </a:path>
              <a:path w="10000" h="10000" stroke="0" extrusionOk="0">
                <a:moveTo>
                  <a:pt x="0" y="0"/>
                </a:moveTo>
                <a:cubicBezTo>
                  <a:pt x="3868" y="-313"/>
                  <a:pt x="7744" y="7"/>
                  <a:pt x="10000" y="0"/>
                </a:cubicBezTo>
                <a:cubicBezTo>
                  <a:pt x="10451" y="4945"/>
                  <a:pt x="10100" y="5440"/>
                  <a:pt x="10000" y="10000"/>
                </a:cubicBezTo>
                <a:cubicBezTo>
                  <a:pt x="7056" y="10499"/>
                  <a:pt x="4749" y="10060"/>
                  <a:pt x="0" y="10000"/>
                </a:cubicBezTo>
                <a:cubicBezTo>
                  <a:pt x="-33" y="7118"/>
                  <a:pt x="-309" y="315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406707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FCAD72F4CCFB45A09406EB35919E92" ma:contentTypeVersion="13" ma:contentTypeDescription="Create a new document." ma:contentTypeScope="" ma:versionID="cf18322699a8423968a5ef25da34988e">
  <xsd:schema xmlns:xsd="http://www.w3.org/2001/XMLSchema" xmlns:xs="http://www.w3.org/2001/XMLSchema" xmlns:p="http://schemas.microsoft.com/office/2006/metadata/properties" xmlns:ns3="afaca268-e3b2-4935-9488-571ad382c364" xmlns:ns4="162a7144-2f0e-4714-bb73-c0ccd69df26f" targetNamespace="http://schemas.microsoft.com/office/2006/metadata/properties" ma:root="true" ma:fieldsID="727e1663d4dc9bb74c5723a250cd9acd" ns3:_="" ns4:_="">
    <xsd:import namespace="afaca268-e3b2-4935-9488-571ad382c364"/>
    <xsd:import namespace="162a7144-2f0e-4714-bb73-c0ccd69df26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ca268-e3b2-4935-9488-571ad382c36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a7144-2f0e-4714-bb73-c0ccd69df26f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aca268-e3b2-4935-9488-571ad382c364" xsi:nil="true"/>
  </documentManagement>
</p:properties>
</file>

<file path=customXml/itemProps1.xml><?xml version="1.0" encoding="utf-8"?>
<ds:datastoreItem xmlns:ds="http://schemas.openxmlformats.org/officeDocument/2006/customXml" ds:itemID="{25E8FE36-1986-475E-8AB6-9B07F6DC2B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28EAB4-446F-4967-A0DB-2FF40DB50E01}">
  <ds:schemaRefs>
    <ds:schemaRef ds:uri="162a7144-2f0e-4714-bb73-c0ccd69df26f"/>
    <ds:schemaRef ds:uri="afaca268-e3b2-4935-9488-571ad382c3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33E88C-3AF7-41B7-B601-981BD9AFD337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afaca268-e3b2-4935-9488-571ad382c364"/>
    <ds:schemaRef ds:uri="162a7144-2f0e-4714-bb73-c0ccd69df26f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Office PowerPoint</Application>
  <PresentationFormat>On-screen Show (4:3)</PresentationFormat>
  <Paragraphs>143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Office Theme</vt:lpstr>
      <vt:lpstr>IT4010 – Progress Presentation 2 (PP2)</vt:lpstr>
      <vt:lpstr>Problem Statement &amp; Stakeholders</vt:lpstr>
      <vt:lpstr>Research Gap &amp; Objectives</vt:lpstr>
      <vt:lpstr>Solution Overview (What We Built)</vt:lpstr>
      <vt:lpstr>System Architecture &amp; Integration</vt:lpstr>
      <vt:lpstr>PowerPoint Presentation</vt:lpstr>
      <vt:lpstr>Model &amp; Accuracy </vt:lpstr>
      <vt:lpstr>IT223434352|Ekanayake M.Y.R 2.AI-powered Dynamic Meal Generator and Visual Ingredient Identifier</vt:lpstr>
      <vt:lpstr>Model &amp; Accuracy</vt:lpstr>
      <vt:lpstr>IT22343420|T.M Poornima 3.AI-powered Predictive Health Alert Progress  Tracking System</vt:lpstr>
      <vt:lpstr>Model &amp; Accuracy</vt:lpstr>
      <vt:lpstr>IT22343284|Samarawikrama T.N 4.AI-powered Smart Grocery List Optimization and Nearest Store Recommendation</vt:lpstr>
      <vt:lpstr>PowerPoint Presentation</vt:lpstr>
      <vt:lpstr>Commercialization</vt:lpstr>
      <vt:lpstr>Thank You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Yuwani Ekanayake</dc:creator>
  <cp:keywords/>
  <dc:description>generated using python-pptx</dc:description>
  <cp:lastModifiedBy>EKANAYAKE M Y R it22343352</cp:lastModifiedBy>
  <cp:revision>35</cp:revision>
  <dcterms:created xsi:type="dcterms:W3CDTF">2013-01-27T09:14:16Z</dcterms:created>
  <dcterms:modified xsi:type="dcterms:W3CDTF">2026-04-25T07:56:58Z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0x010100B4FCAD72F4CCFB45A09406EB35919E92</vt:lpwstr>
  </property>
</Properties>
</file>