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95" r:id="rId2"/>
    <p:sldId id="320" r:id="rId3"/>
    <p:sldId id="321" r:id="rId4"/>
    <p:sldId id="264" r:id="rId5"/>
    <p:sldId id="299" r:id="rId6"/>
    <p:sldId id="315" r:id="rId7"/>
    <p:sldId id="294" r:id="rId8"/>
    <p:sldId id="310" r:id="rId9"/>
    <p:sldId id="311" r:id="rId10"/>
    <p:sldId id="314" r:id="rId11"/>
    <p:sldId id="312" r:id="rId12"/>
    <p:sldId id="316" r:id="rId13"/>
    <p:sldId id="317" r:id="rId14"/>
    <p:sldId id="313" r:id="rId15"/>
    <p:sldId id="318" r:id="rId16"/>
    <p:sldId id="319" r:id="rId17"/>
    <p:sldId id="298" r:id="rId18"/>
    <p:sldId id="34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F7094-0105-2AC4-DBDB-A4F29C1E09E2}" v="350" dt="2026-01-05T11:44:32.809"/>
    <p1510:client id="{0E1732C0-49FE-D229-01CE-4D317488CE74}" v="10" dt="2026-01-05T05:53:09.239"/>
    <p1510:client id="{2609EA1C-204B-7495-9C74-127D08AB37E8}" v="53" dt="2026-01-05T07:47:34.702"/>
    <p1510:client id="{273AB35D-76EB-48AA-B62B-9FBF1B0484B0}" v="357" dt="2026-01-06T03:08:55.627"/>
    <p1510:client id="{30DFEB1C-3F19-9A54-AED2-C5AD2B930692}" v="90" dt="2026-01-05T13:27:26.757"/>
    <p1510:client id="{419C7A4D-E505-4FDD-C00F-83A55DF9DE3D}" v="124" dt="2026-01-05T15:08:26.252"/>
    <p1510:client id="{581A9F12-5740-7849-98E8-4552AB749BC8}" v="30" dt="2026-01-05T18:32:07.144"/>
    <p1510:client id="{5C163981-8A61-1218-EBB2-B27150F0C775}" v="142" dt="2026-01-05T03:10:24.477"/>
    <p1510:client id="{A2F2BDE5-EC35-D588-88EA-1607E8738DC7}" v="1" dt="2026-01-05T18:27:58.817"/>
    <p1510:client id="{AB49FD3E-1EB9-5284-5790-2AA361D5CCE7}" v="3" dt="2026-01-05T13:29:10.507"/>
    <p1510:client id="{CB438C0C-FECB-E125-BC68-1D57AA279EA3}" v="43" dt="2026-01-05T05:52:59.039"/>
    <p1510:client id="{F54EEA32-373C-5685-A85F-F539B408A3BE}" v="4" dt="2026-01-05T14:58:21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0E6140-A333-4486-998C-ADAFCC44508A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748C7CA-8C14-4D67-9F64-6AC0AF668424}">
      <dgm:prSet/>
      <dgm:spPr/>
      <dgm:t>
        <a:bodyPr/>
        <a:lstStyle/>
        <a:p>
          <a:r>
            <a:rPr lang="en-US"/>
            <a:t>🤷‍♂️Problem</a:t>
          </a:r>
        </a:p>
      </dgm:t>
    </dgm:pt>
    <dgm:pt modelId="{62DCEDC8-088D-42C4-BDCD-6C2388A4F6C1}" type="parTrans" cxnId="{F79C2A67-60ED-4D69-A570-E7C0B9D89189}">
      <dgm:prSet/>
      <dgm:spPr/>
      <dgm:t>
        <a:bodyPr/>
        <a:lstStyle/>
        <a:p>
          <a:endParaRPr lang="en-US"/>
        </a:p>
      </dgm:t>
    </dgm:pt>
    <dgm:pt modelId="{5E17D3A8-0248-49D2-940F-B109E167797B}" type="sibTrans" cxnId="{F79C2A67-60ED-4D69-A570-E7C0B9D89189}">
      <dgm:prSet/>
      <dgm:spPr/>
      <dgm:t>
        <a:bodyPr/>
        <a:lstStyle/>
        <a:p>
          <a:endParaRPr lang="en-US"/>
        </a:p>
      </dgm:t>
    </dgm:pt>
    <dgm:pt modelId="{873F3124-89C0-4722-81E7-5A341C366356}">
      <dgm:prSet/>
      <dgm:spPr/>
      <dgm:t>
        <a:bodyPr/>
        <a:lstStyle/>
        <a:p>
          <a:r>
            <a:rPr lang="en-US"/>
            <a:t>People do not know </a:t>
          </a:r>
          <a:r>
            <a:rPr lang="en-US" b="1"/>
            <a:t>how many calories and nutrients</a:t>
          </a:r>
          <a:r>
            <a:rPr lang="en-US"/>
            <a:t> they need daily</a:t>
          </a:r>
        </a:p>
      </dgm:t>
    </dgm:pt>
    <dgm:pt modelId="{A8584F47-2F36-4E8A-81E8-F8EAECE595A7}" type="parTrans" cxnId="{FCD5C903-7612-4E54-8A7D-C4EDE94E2FE7}">
      <dgm:prSet/>
      <dgm:spPr/>
      <dgm:t>
        <a:bodyPr/>
        <a:lstStyle/>
        <a:p>
          <a:endParaRPr lang="en-US"/>
        </a:p>
      </dgm:t>
    </dgm:pt>
    <dgm:pt modelId="{679E77FD-B977-46C3-AD8A-C5E915B217C1}" type="sibTrans" cxnId="{FCD5C903-7612-4E54-8A7D-C4EDE94E2FE7}">
      <dgm:prSet/>
      <dgm:spPr/>
      <dgm:t>
        <a:bodyPr/>
        <a:lstStyle/>
        <a:p>
          <a:endParaRPr lang="en-US"/>
        </a:p>
      </dgm:t>
    </dgm:pt>
    <dgm:pt modelId="{50FCAB5A-89A7-4C9D-8FC6-EDBF98D7B487}">
      <dgm:prSet/>
      <dgm:spPr/>
      <dgm:t>
        <a:bodyPr/>
        <a:lstStyle/>
        <a:p>
          <a:r>
            <a:rPr lang="en-US"/>
            <a:t>Users with </a:t>
          </a:r>
          <a:r>
            <a:rPr lang="en-US" b="1"/>
            <a:t>diabetes and hypertension</a:t>
          </a:r>
          <a:r>
            <a:rPr lang="en-US"/>
            <a:t> need personalized diets, not generic plans</a:t>
          </a:r>
        </a:p>
      </dgm:t>
    </dgm:pt>
    <dgm:pt modelId="{3EC6A796-1835-46C9-BECE-55B33D0DE6D3}" type="parTrans" cxnId="{D0DA7D9A-119A-4FA3-8D7A-5F494C24ECB6}">
      <dgm:prSet/>
      <dgm:spPr/>
      <dgm:t>
        <a:bodyPr/>
        <a:lstStyle/>
        <a:p>
          <a:endParaRPr lang="en-US"/>
        </a:p>
      </dgm:t>
    </dgm:pt>
    <dgm:pt modelId="{8C5FC159-15F7-40D7-B931-1DF4A9925E56}" type="sibTrans" cxnId="{D0DA7D9A-119A-4FA3-8D7A-5F494C24ECB6}">
      <dgm:prSet/>
      <dgm:spPr/>
      <dgm:t>
        <a:bodyPr/>
        <a:lstStyle/>
        <a:p>
          <a:endParaRPr lang="en-US"/>
        </a:p>
      </dgm:t>
    </dgm:pt>
    <dgm:pt modelId="{8C924E13-6363-4AC4-8F8B-D5386AC25F6C}">
      <dgm:prSet/>
      <dgm:spPr/>
      <dgm:t>
        <a:bodyPr/>
        <a:lstStyle/>
        <a:p>
          <a:r>
            <a:rPr lang="en-US"/>
            <a:t>Grocery prices change across stores, making </a:t>
          </a:r>
          <a:r>
            <a:rPr lang="en-US" b="1"/>
            <a:t>healthy choices expensive</a:t>
          </a:r>
          <a:endParaRPr lang="en-US"/>
        </a:p>
      </dgm:t>
    </dgm:pt>
    <dgm:pt modelId="{D02EA614-0328-4C3A-916B-EBBB951C75B4}" type="parTrans" cxnId="{170E0C65-1C16-4A44-B296-407DB43517EF}">
      <dgm:prSet/>
      <dgm:spPr/>
      <dgm:t>
        <a:bodyPr/>
        <a:lstStyle/>
        <a:p>
          <a:endParaRPr lang="en-US"/>
        </a:p>
      </dgm:t>
    </dgm:pt>
    <dgm:pt modelId="{2DEA6DBE-DFFE-412E-B0BF-083268BE5A5C}" type="sibTrans" cxnId="{170E0C65-1C16-4A44-B296-407DB43517EF}">
      <dgm:prSet/>
      <dgm:spPr/>
      <dgm:t>
        <a:bodyPr/>
        <a:lstStyle/>
        <a:p>
          <a:endParaRPr lang="en-US"/>
        </a:p>
      </dgm:t>
    </dgm:pt>
    <dgm:pt modelId="{16966DA6-0437-4C11-A1F1-314DA86E8689}">
      <dgm:prSet/>
      <dgm:spPr/>
      <dgm:t>
        <a:bodyPr/>
        <a:lstStyle/>
        <a:p>
          <a:r>
            <a:rPr lang="en-US"/>
            <a:t>Health data is </a:t>
          </a:r>
          <a:r>
            <a:rPr lang="en-US" b="1"/>
            <a:t>hard to track manually</a:t>
          </a:r>
          <a:r>
            <a:rPr lang="en-US"/>
            <a:t> and often inaccurate</a:t>
          </a:r>
        </a:p>
      </dgm:t>
    </dgm:pt>
    <dgm:pt modelId="{8A2733F1-AE70-4044-84F7-F3823BA64964}" type="parTrans" cxnId="{E1B2E495-3050-49F3-946D-BB85D4ED415F}">
      <dgm:prSet/>
      <dgm:spPr/>
      <dgm:t>
        <a:bodyPr/>
        <a:lstStyle/>
        <a:p>
          <a:endParaRPr lang="en-US"/>
        </a:p>
      </dgm:t>
    </dgm:pt>
    <dgm:pt modelId="{7244F60D-ED90-4DBA-A34B-C3CB7A93E558}" type="sibTrans" cxnId="{E1B2E495-3050-49F3-946D-BB85D4ED415F}">
      <dgm:prSet/>
      <dgm:spPr/>
      <dgm:t>
        <a:bodyPr/>
        <a:lstStyle/>
        <a:p>
          <a:endParaRPr lang="en-US"/>
        </a:p>
      </dgm:t>
    </dgm:pt>
    <dgm:pt modelId="{6DF9C92E-39B9-443A-A587-84F7E6B36108}">
      <dgm:prSet/>
      <dgm:spPr/>
      <dgm:t>
        <a:bodyPr/>
        <a:lstStyle/>
        <a:p>
          <a:r>
            <a:rPr lang="en-US"/>
            <a:t>🧠Impact</a:t>
          </a:r>
        </a:p>
      </dgm:t>
    </dgm:pt>
    <dgm:pt modelId="{A22DA0F7-D62F-4259-9905-4F2D28EE21AA}" type="parTrans" cxnId="{6BB5811F-25FB-4010-993A-C6FE85A1818A}">
      <dgm:prSet/>
      <dgm:spPr/>
      <dgm:t>
        <a:bodyPr/>
        <a:lstStyle/>
        <a:p>
          <a:endParaRPr lang="en-US"/>
        </a:p>
      </dgm:t>
    </dgm:pt>
    <dgm:pt modelId="{E1AF0E05-240B-4CAA-A116-660FEBDD7450}" type="sibTrans" cxnId="{6BB5811F-25FB-4010-993A-C6FE85A1818A}">
      <dgm:prSet/>
      <dgm:spPr/>
      <dgm:t>
        <a:bodyPr/>
        <a:lstStyle/>
        <a:p>
          <a:endParaRPr lang="en-US"/>
        </a:p>
      </dgm:t>
    </dgm:pt>
    <dgm:pt modelId="{475810BC-A0CE-4B43-8B95-78A9767713AC}">
      <dgm:prSet/>
      <dgm:spPr/>
      <dgm:t>
        <a:bodyPr/>
        <a:lstStyle/>
        <a:p>
          <a:r>
            <a:rPr lang="en-US"/>
            <a:t>Poor diet leads to </a:t>
          </a:r>
          <a:r>
            <a:rPr lang="en-US" b="1"/>
            <a:t>obesity, diabetes, heart disease</a:t>
          </a:r>
          <a:r>
            <a:rPr lang="en-US"/>
            <a:t>, and high medical costs</a:t>
          </a:r>
        </a:p>
      </dgm:t>
    </dgm:pt>
    <dgm:pt modelId="{24A36C99-2D27-4F41-A08C-0BBFEC32A11D}" type="parTrans" cxnId="{50DDB2B1-0E23-4E56-8F0C-65EA5F55BFC2}">
      <dgm:prSet/>
      <dgm:spPr/>
      <dgm:t>
        <a:bodyPr/>
        <a:lstStyle/>
        <a:p>
          <a:endParaRPr lang="en-US"/>
        </a:p>
      </dgm:t>
    </dgm:pt>
    <dgm:pt modelId="{D130204F-6E17-4EB6-8BE1-FAB384B30DF9}" type="sibTrans" cxnId="{50DDB2B1-0E23-4E56-8F0C-65EA5F55BFC2}">
      <dgm:prSet/>
      <dgm:spPr/>
      <dgm:t>
        <a:bodyPr/>
        <a:lstStyle/>
        <a:p>
          <a:endParaRPr lang="en-US"/>
        </a:p>
      </dgm:t>
    </dgm:pt>
    <dgm:pt modelId="{825B8A55-4253-4CF9-8A35-C52E6ED15520}">
      <dgm:prSet/>
      <dgm:spPr/>
      <dgm:t>
        <a:bodyPr/>
        <a:lstStyle/>
        <a:p>
          <a:r>
            <a:rPr lang="en-US"/>
            <a:t>People spend </a:t>
          </a:r>
          <a:r>
            <a:rPr lang="en-US" b="1"/>
            <a:t>more money</a:t>
          </a:r>
          <a:r>
            <a:rPr lang="en-US"/>
            <a:t> without nutrition awareness</a:t>
          </a:r>
        </a:p>
      </dgm:t>
    </dgm:pt>
    <dgm:pt modelId="{25541D9D-404C-4B58-B667-61418E9786C2}" type="parTrans" cxnId="{3AB0DA61-0292-4F0A-A431-D2180093EC83}">
      <dgm:prSet/>
      <dgm:spPr/>
      <dgm:t>
        <a:bodyPr/>
        <a:lstStyle/>
        <a:p>
          <a:endParaRPr lang="en-US"/>
        </a:p>
      </dgm:t>
    </dgm:pt>
    <dgm:pt modelId="{1ACC0481-B862-4ADE-B2EE-97B33DBC8386}" type="sibTrans" cxnId="{3AB0DA61-0292-4F0A-A431-D2180093EC83}">
      <dgm:prSet/>
      <dgm:spPr/>
      <dgm:t>
        <a:bodyPr/>
        <a:lstStyle/>
        <a:p>
          <a:endParaRPr lang="en-US"/>
        </a:p>
      </dgm:t>
    </dgm:pt>
    <dgm:pt modelId="{7ACA4B2F-7308-4B67-92AB-9E2BFADA2AF4}">
      <dgm:prSet/>
      <dgm:spPr/>
      <dgm:t>
        <a:bodyPr/>
        <a:lstStyle/>
        <a:p>
          <a:r>
            <a:rPr lang="en-US"/>
            <a:t>Lack of early health alerts increases </a:t>
          </a:r>
          <a:r>
            <a:rPr lang="en-US" b="1"/>
            <a:t>long-term health risks</a:t>
          </a:r>
          <a:endParaRPr lang="en-US"/>
        </a:p>
      </dgm:t>
    </dgm:pt>
    <dgm:pt modelId="{0F975C77-C06E-45F8-8BAC-99F1A0F36598}" type="parTrans" cxnId="{8ADCF8B7-3E81-44D8-8D80-92CC3660AEE1}">
      <dgm:prSet/>
      <dgm:spPr/>
      <dgm:t>
        <a:bodyPr/>
        <a:lstStyle/>
        <a:p>
          <a:endParaRPr lang="en-US"/>
        </a:p>
      </dgm:t>
    </dgm:pt>
    <dgm:pt modelId="{4AD62E5F-F70E-419D-9BC6-9ADE7C6785E6}" type="sibTrans" cxnId="{8ADCF8B7-3E81-44D8-8D80-92CC3660AEE1}">
      <dgm:prSet/>
      <dgm:spPr/>
      <dgm:t>
        <a:bodyPr/>
        <a:lstStyle/>
        <a:p>
          <a:endParaRPr lang="en-US"/>
        </a:p>
      </dgm:t>
    </dgm:pt>
    <dgm:pt modelId="{E13D9793-13B4-4BED-AF91-8062986819C4}" type="pres">
      <dgm:prSet presAssocID="{FC0E6140-A333-4486-998C-ADAFCC44508A}" presName="linear" presStyleCnt="0">
        <dgm:presLayoutVars>
          <dgm:animLvl val="lvl"/>
          <dgm:resizeHandles val="exact"/>
        </dgm:presLayoutVars>
      </dgm:prSet>
      <dgm:spPr/>
    </dgm:pt>
    <dgm:pt modelId="{47D88072-B145-45D1-843B-C94D9305B11F}" type="pres">
      <dgm:prSet presAssocID="{D748C7CA-8C14-4D67-9F64-6AC0AF668424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D0795FDC-F94B-4C6F-BA72-27B66F68E9AE}" type="pres">
      <dgm:prSet presAssocID="{5E17D3A8-0248-49D2-940F-B109E167797B}" presName="spacer" presStyleCnt="0"/>
      <dgm:spPr/>
    </dgm:pt>
    <dgm:pt modelId="{BD2F84C4-A4CD-4759-AD6C-0D7F4F8DA39C}" type="pres">
      <dgm:prSet presAssocID="{873F3124-89C0-4722-81E7-5A341C366356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2C31B921-FEC9-4D9A-9382-4CD4A17164A5}" type="pres">
      <dgm:prSet presAssocID="{679E77FD-B977-46C3-AD8A-C5E915B217C1}" presName="spacer" presStyleCnt="0"/>
      <dgm:spPr/>
    </dgm:pt>
    <dgm:pt modelId="{6F3FD806-0336-462E-881C-BE13F8E2D153}" type="pres">
      <dgm:prSet presAssocID="{50FCAB5A-89A7-4C9D-8FC6-EDBF98D7B487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F6E7E06C-4855-4B62-BEB8-5C48D9F0C873}" type="pres">
      <dgm:prSet presAssocID="{8C5FC159-15F7-40D7-B931-1DF4A9925E56}" presName="spacer" presStyleCnt="0"/>
      <dgm:spPr/>
    </dgm:pt>
    <dgm:pt modelId="{B56A3DF4-7114-40FC-BC4D-7340CD3B4379}" type="pres">
      <dgm:prSet presAssocID="{8C924E13-6363-4AC4-8F8B-D5386AC25F6C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7E199141-0B9B-44D8-BDFD-E7359BE6A519}" type="pres">
      <dgm:prSet presAssocID="{2DEA6DBE-DFFE-412E-B0BF-083268BE5A5C}" presName="spacer" presStyleCnt="0"/>
      <dgm:spPr/>
    </dgm:pt>
    <dgm:pt modelId="{47EDE31F-05F4-4B6C-9704-8879D5A03C93}" type="pres">
      <dgm:prSet presAssocID="{16966DA6-0437-4C11-A1F1-314DA86E8689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7FA790F5-DE29-4C8A-AD2F-E8CBE255FE67}" type="pres">
      <dgm:prSet presAssocID="{7244F60D-ED90-4DBA-A34B-C3CB7A93E558}" presName="spacer" presStyleCnt="0"/>
      <dgm:spPr/>
    </dgm:pt>
    <dgm:pt modelId="{C842F9AA-1DD7-46C8-AE9E-3C883B0132C8}" type="pres">
      <dgm:prSet presAssocID="{6DF9C92E-39B9-443A-A587-84F7E6B36108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3C661E40-4579-423D-8004-4509037015B2}" type="pres">
      <dgm:prSet presAssocID="{E1AF0E05-240B-4CAA-A116-660FEBDD7450}" presName="spacer" presStyleCnt="0"/>
      <dgm:spPr/>
    </dgm:pt>
    <dgm:pt modelId="{5951FFE5-12BE-410D-91B6-64B079966E36}" type="pres">
      <dgm:prSet presAssocID="{475810BC-A0CE-4B43-8B95-78A9767713AC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5D680DB3-DB66-4255-9421-17FA70387741}" type="pres">
      <dgm:prSet presAssocID="{D130204F-6E17-4EB6-8BE1-FAB384B30DF9}" presName="spacer" presStyleCnt="0"/>
      <dgm:spPr/>
    </dgm:pt>
    <dgm:pt modelId="{FD30B5D5-404E-4077-B8DF-DE698C7CC49B}" type="pres">
      <dgm:prSet presAssocID="{825B8A55-4253-4CF9-8A35-C52E6ED15520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F4788539-F22F-48D0-B7A4-7BAE5DC7468D}" type="pres">
      <dgm:prSet presAssocID="{1ACC0481-B862-4ADE-B2EE-97B33DBC8386}" presName="spacer" presStyleCnt="0"/>
      <dgm:spPr/>
    </dgm:pt>
    <dgm:pt modelId="{FEC1E914-9256-4617-80CC-E88BE0028FF0}" type="pres">
      <dgm:prSet presAssocID="{7ACA4B2F-7308-4B67-92AB-9E2BFADA2AF4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1E5B8B00-0934-48DB-8AF4-9574498F49A6}" type="presOf" srcId="{16966DA6-0437-4C11-A1F1-314DA86E8689}" destId="{47EDE31F-05F4-4B6C-9704-8879D5A03C93}" srcOrd="0" destOrd="0" presId="urn:microsoft.com/office/officeart/2005/8/layout/vList2"/>
    <dgm:cxn modelId="{FCD5C903-7612-4E54-8A7D-C4EDE94E2FE7}" srcId="{FC0E6140-A333-4486-998C-ADAFCC44508A}" destId="{873F3124-89C0-4722-81E7-5A341C366356}" srcOrd="1" destOrd="0" parTransId="{A8584F47-2F36-4E8A-81E8-F8EAECE595A7}" sibTransId="{679E77FD-B977-46C3-AD8A-C5E915B217C1}"/>
    <dgm:cxn modelId="{6BB5811F-25FB-4010-993A-C6FE85A1818A}" srcId="{FC0E6140-A333-4486-998C-ADAFCC44508A}" destId="{6DF9C92E-39B9-443A-A587-84F7E6B36108}" srcOrd="5" destOrd="0" parTransId="{A22DA0F7-D62F-4259-9905-4F2D28EE21AA}" sibTransId="{E1AF0E05-240B-4CAA-A116-660FEBDD7450}"/>
    <dgm:cxn modelId="{3AB0DA61-0292-4F0A-A431-D2180093EC83}" srcId="{FC0E6140-A333-4486-998C-ADAFCC44508A}" destId="{825B8A55-4253-4CF9-8A35-C52E6ED15520}" srcOrd="7" destOrd="0" parTransId="{25541D9D-404C-4B58-B667-61418E9786C2}" sibTransId="{1ACC0481-B862-4ADE-B2EE-97B33DBC8386}"/>
    <dgm:cxn modelId="{170E0C65-1C16-4A44-B296-407DB43517EF}" srcId="{FC0E6140-A333-4486-998C-ADAFCC44508A}" destId="{8C924E13-6363-4AC4-8F8B-D5386AC25F6C}" srcOrd="3" destOrd="0" parTransId="{D02EA614-0328-4C3A-916B-EBBB951C75B4}" sibTransId="{2DEA6DBE-DFFE-412E-B0BF-083268BE5A5C}"/>
    <dgm:cxn modelId="{F79C2A67-60ED-4D69-A570-E7C0B9D89189}" srcId="{FC0E6140-A333-4486-998C-ADAFCC44508A}" destId="{D748C7CA-8C14-4D67-9F64-6AC0AF668424}" srcOrd="0" destOrd="0" parTransId="{62DCEDC8-088D-42C4-BDCD-6C2388A4F6C1}" sibTransId="{5E17D3A8-0248-49D2-940F-B109E167797B}"/>
    <dgm:cxn modelId="{88438047-2D43-4B56-8DD7-E4026AEE0A2E}" type="presOf" srcId="{825B8A55-4253-4CF9-8A35-C52E6ED15520}" destId="{FD30B5D5-404E-4077-B8DF-DE698C7CC49B}" srcOrd="0" destOrd="0" presId="urn:microsoft.com/office/officeart/2005/8/layout/vList2"/>
    <dgm:cxn modelId="{FE03E254-FAD3-4B46-9EC8-F3602BF615DA}" type="presOf" srcId="{873F3124-89C0-4722-81E7-5A341C366356}" destId="{BD2F84C4-A4CD-4759-AD6C-0D7F4F8DA39C}" srcOrd="0" destOrd="0" presId="urn:microsoft.com/office/officeart/2005/8/layout/vList2"/>
    <dgm:cxn modelId="{DF02CC75-889D-40C5-9557-A60DFE663031}" type="presOf" srcId="{475810BC-A0CE-4B43-8B95-78A9767713AC}" destId="{5951FFE5-12BE-410D-91B6-64B079966E36}" srcOrd="0" destOrd="0" presId="urn:microsoft.com/office/officeart/2005/8/layout/vList2"/>
    <dgm:cxn modelId="{E1B2E495-3050-49F3-946D-BB85D4ED415F}" srcId="{FC0E6140-A333-4486-998C-ADAFCC44508A}" destId="{16966DA6-0437-4C11-A1F1-314DA86E8689}" srcOrd="4" destOrd="0" parTransId="{8A2733F1-AE70-4044-84F7-F3823BA64964}" sibTransId="{7244F60D-ED90-4DBA-A34B-C3CB7A93E558}"/>
    <dgm:cxn modelId="{3ED3AC96-0DFF-4A71-9BF0-42995623B554}" type="presOf" srcId="{50FCAB5A-89A7-4C9D-8FC6-EDBF98D7B487}" destId="{6F3FD806-0336-462E-881C-BE13F8E2D153}" srcOrd="0" destOrd="0" presId="urn:microsoft.com/office/officeart/2005/8/layout/vList2"/>
    <dgm:cxn modelId="{64784399-8864-4332-BE88-7A542D026228}" type="presOf" srcId="{8C924E13-6363-4AC4-8F8B-D5386AC25F6C}" destId="{B56A3DF4-7114-40FC-BC4D-7340CD3B4379}" srcOrd="0" destOrd="0" presId="urn:microsoft.com/office/officeart/2005/8/layout/vList2"/>
    <dgm:cxn modelId="{D0DA7D9A-119A-4FA3-8D7A-5F494C24ECB6}" srcId="{FC0E6140-A333-4486-998C-ADAFCC44508A}" destId="{50FCAB5A-89A7-4C9D-8FC6-EDBF98D7B487}" srcOrd="2" destOrd="0" parTransId="{3EC6A796-1835-46C9-BECE-55B33D0DE6D3}" sibTransId="{8C5FC159-15F7-40D7-B931-1DF4A9925E56}"/>
    <dgm:cxn modelId="{5CEA5AA8-1214-43A2-95CB-E5B599EAF8D0}" type="presOf" srcId="{7ACA4B2F-7308-4B67-92AB-9E2BFADA2AF4}" destId="{FEC1E914-9256-4617-80CC-E88BE0028FF0}" srcOrd="0" destOrd="0" presId="urn:microsoft.com/office/officeart/2005/8/layout/vList2"/>
    <dgm:cxn modelId="{50DDB2B1-0E23-4E56-8F0C-65EA5F55BFC2}" srcId="{FC0E6140-A333-4486-998C-ADAFCC44508A}" destId="{475810BC-A0CE-4B43-8B95-78A9767713AC}" srcOrd="6" destOrd="0" parTransId="{24A36C99-2D27-4F41-A08C-0BBFEC32A11D}" sibTransId="{D130204F-6E17-4EB6-8BE1-FAB384B30DF9}"/>
    <dgm:cxn modelId="{8ADCF8B7-3E81-44D8-8D80-92CC3660AEE1}" srcId="{FC0E6140-A333-4486-998C-ADAFCC44508A}" destId="{7ACA4B2F-7308-4B67-92AB-9E2BFADA2AF4}" srcOrd="8" destOrd="0" parTransId="{0F975C77-C06E-45F8-8BAC-99F1A0F36598}" sibTransId="{4AD62E5F-F70E-419D-9BC6-9ADE7C6785E6}"/>
    <dgm:cxn modelId="{5739AEBE-34D4-43D5-8E99-6EEF232288A2}" type="presOf" srcId="{FC0E6140-A333-4486-998C-ADAFCC44508A}" destId="{E13D9793-13B4-4BED-AF91-8062986819C4}" srcOrd="0" destOrd="0" presId="urn:microsoft.com/office/officeart/2005/8/layout/vList2"/>
    <dgm:cxn modelId="{C9B6ABC6-A6C9-4687-81E1-E0474DB5046F}" type="presOf" srcId="{6DF9C92E-39B9-443A-A587-84F7E6B36108}" destId="{C842F9AA-1DD7-46C8-AE9E-3C883B0132C8}" srcOrd="0" destOrd="0" presId="urn:microsoft.com/office/officeart/2005/8/layout/vList2"/>
    <dgm:cxn modelId="{D349D8DE-6E7A-434C-990C-EA7D8D52C06B}" type="presOf" srcId="{D748C7CA-8C14-4D67-9F64-6AC0AF668424}" destId="{47D88072-B145-45D1-843B-C94D9305B11F}" srcOrd="0" destOrd="0" presId="urn:microsoft.com/office/officeart/2005/8/layout/vList2"/>
    <dgm:cxn modelId="{F6FAA61E-82EA-4350-A5A5-5751BC90C643}" type="presParOf" srcId="{E13D9793-13B4-4BED-AF91-8062986819C4}" destId="{47D88072-B145-45D1-843B-C94D9305B11F}" srcOrd="0" destOrd="0" presId="urn:microsoft.com/office/officeart/2005/8/layout/vList2"/>
    <dgm:cxn modelId="{CDE88B02-01CE-45C7-9F52-FBF1BB4B2C24}" type="presParOf" srcId="{E13D9793-13B4-4BED-AF91-8062986819C4}" destId="{D0795FDC-F94B-4C6F-BA72-27B66F68E9AE}" srcOrd="1" destOrd="0" presId="urn:microsoft.com/office/officeart/2005/8/layout/vList2"/>
    <dgm:cxn modelId="{555A3EBA-F25C-40FD-8E07-248B814B6FA9}" type="presParOf" srcId="{E13D9793-13B4-4BED-AF91-8062986819C4}" destId="{BD2F84C4-A4CD-4759-AD6C-0D7F4F8DA39C}" srcOrd="2" destOrd="0" presId="urn:microsoft.com/office/officeart/2005/8/layout/vList2"/>
    <dgm:cxn modelId="{4DBEA034-5974-472A-B835-43580508EA31}" type="presParOf" srcId="{E13D9793-13B4-4BED-AF91-8062986819C4}" destId="{2C31B921-FEC9-4D9A-9382-4CD4A17164A5}" srcOrd="3" destOrd="0" presId="urn:microsoft.com/office/officeart/2005/8/layout/vList2"/>
    <dgm:cxn modelId="{28867A60-3ABA-4E77-95BC-71F73C63CD8D}" type="presParOf" srcId="{E13D9793-13B4-4BED-AF91-8062986819C4}" destId="{6F3FD806-0336-462E-881C-BE13F8E2D153}" srcOrd="4" destOrd="0" presId="urn:microsoft.com/office/officeart/2005/8/layout/vList2"/>
    <dgm:cxn modelId="{310ECF3F-37DF-41FA-A61A-9E3959E1DE82}" type="presParOf" srcId="{E13D9793-13B4-4BED-AF91-8062986819C4}" destId="{F6E7E06C-4855-4B62-BEB8-5C48D9F0C873}" srcOrd="5" destOrd="0" presId="urn:microsoft.com/office/officeart/2005/8/layout/vList2"/>
    <dgm:cxn modelId="{7461F788-C0D0-4FD5-B0E4-1A2A12B77CB9}" type="presParOf" srcId="{E13D9793-13B4-4BED-AF91-8062986819C4}" destId="{B56A3DF4-7114-40FC-BC4D-7340CD3B4379}" srcOrd="6" destOrd="0" presId="urn:microsoft.com/office/officeart/2005/8/layout/vList2"/>
    <dgm:cxn modelId="{A6B735D5-3EC7-4451-A0C3-B1C326BB0CA7}" type="presParOf" srcId="{E13D9793-13B4-4BED-AF91-8062986819C4}" destId="{7E199141-0B9B-44D8-BDFD-E7359BE6A519}" srcOrd="7" destOrd="0" presId="urn:microsoft.com/office/officeart/2005/8/layout/vList2"/>
    <dgm:cxn modelId="{3CE28CF3-A0DB-4976-9A8D-51EE69F2A1B0}" type="presParOf" srcId="{E13D9793-13B4-4BED-AF91-8062986819C4}" destId="{47EDE31F-05F4-4B6C-9704-8879D5A03C93}" srcOrd="8" destOrd="0" presId="urn:microsoft.com/office/officeart/2005/8/layout/vList2"/>
    <dgm:cxn modelId="{1E27E2EF-5D95-421E-801D-FA031E81DE14}" type="presParOf" srcId="{E13D9793-13B4-4BED-AF91-8062986819C4}" destId="{7FA790F5-DE29-4C8A-AD2F-E8CBE255FE67}" srcOrd="9" destOrd="0" presId="urn:microsoft.com/office/officeart/2005/8/layout/vList2"/>
    <dgm:cxn modelId="{601F8EDC-AD7B-4EB8-9D5D-5647CE6B81B9}" type="presParOf" srcId="{E13D9793-13B4-4BED-AF91-8062986819C4}" destId="{C842F9AA-1DD7-46C8-AE9E-3C883B0132C8}" srcOrd="10" destOrd="0" presId="urn:microsoft.com/office/officeart/2005/8/layout/vList2"/>
    <dgm:cxn modelId="{BFBD738D-045A-4104-ABC2-8EDC02C1EAE0}" type="presParOf" srcId="{E13D9793-13B4-4BED-AF91-8062986819C4}" destId="{3C661E40-4579-423D-8004-4509037015B2}" srcOrd="11" destOrd="0" presId="urn:microsoft.com/office/officeart/2005/8/layout/vList2"/>
    <dgm:cxn modelId="{4CAA2C7D-0B0E-46E9-9A43-62B2AF80B5C5}" type="presParOf" srcId="{E13D9793-13B4-4BED-AF91-8062986819C4}" destId="{5951FFE5-12BE-410D-91B6-64B079966E36}" srcOrd="12" destOrd="0" presId="urn:microsoft.com/office/officeart/2005/8/layout/vList2"/>
    <dgm:cxn modelId="{51DAD9DB-7B2E-41D2-87D2-685F35294984}" type="presParOf" srcId="{E13D9793-13B4-4BED-AF91-8062986819C4}" destId="{5D680DB3-DB66-4255-9421-17FA70387741}" srcOrd="13" destOrd="0" presId="urn:microsoft.com/office/officeart/2005/8/layout/vList2"/>
    <dgm:cxn modelId="{27070585-1633-4BA8-BDF9-7C83546FD890}" type="presParOf" srcId="{E13D9793-13B4-4BED-AF91-8062986819C4}" destId="{FD30B5D5-404E-4077-B8DF-DE698C7CC49B}" srcOrd="14" destOrd="0" presId="urn:microsoft.com/office/officeart/2005/8/layout/vList2"/>
    <dgm:cxn modelId="{E7E05B0D-314E-4598-966E-5EAE0175D6D7}" type="presParOf" srcId="{E13D9793-13B4-4BED-AF91-8062986819C4}" destId="{F4788539-F22F-48D0-B7A4-7BAE5DC7468D}" srcOrd="15" destOrd="0" presId="urn:microsoft.com/office/officeart/2005/8/layout/vList2"/>
    <dgm:cxn modelId="{A335E03B-641D-4CD8-9160-40D27D7BEE25}" type="presParOf" srcId="{E13D9793-13B4-4BED-AF91-8062986819C4}" destId="{FEC1E914-9256-4617-80CC-E88BE0028FF0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67E1A4-69EA-4B12-B0E8-FA5A0379A35B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27CB038-63CE-4259-89C1-CA09059C18FB}">
      <dgm:prSet/>
      <dgm:spPr/>
      <dgm:t>
        <a:bodyPr/>
        <a:lstStyle/>
        <a:p>
          <a:r>
            <a:rPr lang="en-US"/>
            <a:t>👥 Who Is Affected</a:t>
          </a:r>
        </a:p>
      </dgm:t>
    </dgm:pt>
    <dgm:pt modelId="{52F69C0D-AD08-4233-B44F-4155DFB4C41D}" type="parTrans" cxnId="{12394F3B-9DBE-43D0-8B75-D13609BC952F}">
      <dgm:prSet/>
      <dgm:spPr/>
      <dgm:t>
        <a:bodyPr/>
        <a:lstStyle/>
        <a:p>
          <a:endParaRPr lang="en-US"/>
        </a:p>
      </dgm:t>
    </dgm:pt>
    <dgm:pt modelId="{146B6023-8AA4-4433-8391-3B1949A1A471}" type="sibTrans" cxnId="{12394F3B-9DBE-43D0-8B75-D13609BC952F}">
      <dgm:prSet/>
      <dgm:spPr/>
      <dgm:t>
        <a:bodyPr/>
        <a:lstStyle/>
        <a:p>
          <a:endParaRPr lang="en-US"/>
        </a:p>
      </dgm:t>
    </dgm:pt>
    <dgm:pt modelId="{C763D2C0-CE9D-46B6-951B-8E69553C8B67}">
      <dgm:prSet/>
      <dgm:spPr/>
      <dgm:t>
        <a:bodyPr/>
        <a:lstStyle/>
        <a:p>
          <a:r>
            <a:rPr lang="en-US"/>
            <a:t>Individuals managing </a:t>
          </a:r>
          <a:r>
            <a:rPr lang="en-US" b="1"/>
            <a:t>weight (lose / gain / maintain)</a:t>
          </a:r>
          <a:endParaRPr lang="en-US"/>
        </a:p>
      </dgm:t>
    </dgm:pt>
    <dgm:pt modelId="{925C145F-6D8A-4B2F-98BE-F40072BDC248}" type="parTrans" cxnId="{6B9271E1-E777-40ED-8336-501BF4961617}">
      <dgm:prSet/>
      <dgm:spPr/>
      <dgm:t>
        <a:bodyPr/>
        <a:lstStyle/>
        <a:p>
          <a:endParaRPr lang="en-US"/>
        </a:p>
      </dgm:t>
    </dgm:pt>
    <dgm:pt modelId="{903D9577-DCB5-4547-A66F-012E8BEB196B}" type="sibTrans" cxnId="{6B9271E1-E777-40ED-8336-501BF4961617}">
      <dgm:prSet/>
      <dgm:spPr/>
      <dgm:t>
        <a:bodyPr/>
        <a:lstStyle/>
        <a:p>
          <a:endParaRPr lang="en-US"/>
        </a:p>
      </dgm:t>
    </dgm:pt>
    <dgm:pt modelId="{640204A6-B444-451C-A24F-6D305A351AB2}">
      <dgm:prSet/>
      <dgm:spPr/>
      <dgm:t>
        <a:bodyPr/>
        <a:lstStyle/>
        <a:p>
          <a:r>
            <a:rPr lang="en-US"/>
            <a:t>People with </a:t>
          </a:r>
          <a:r>
            <a:rPr lang="en-US" b="1"/>
            <a:t>chronic diseases</a:t>
          </a:r>
          <a:r>
            <a:rPr lang="en-US"/>
            <a:t> (diabetes, hypertension)</a:t>
          </a:r>
        </a:p>
      </dgm:t>
    </dgm:pt>
    <dgm:pt modelId="{F4C8405A-B5ED-4485-879D-54015FC941A5}" type="parTrans" cxnId="{BE79F539-156B-4FA3-A8E6-F0FF7FB74B82}">
      <dgm:prSet/>
      <dgm:spPr/>
      <dgm:t>
        <a:bodyPr/>
        <a:lstStyle/>
        <a:p>
          <a:endParaRPr lang="en-US"/>
        </a:p>
      </dgm:t>
    </dgm:pt>
    <dgm:pt modelId="{D8E015CE-0BE8-4B2A-9891-780FC6C23171}" type="sibTrans" cxnId="{BE79F539-156B-4FA3-A8E6-F0FF7FB74B82}">
      <dgm:prSet/>
      <dgm:spPr/>
      <dgm:t>
        <a:bodyPr/>
        <a:lstStyle/>
        <a:p>
          <a:endParaRPr lang="en-US"/>
        </a:p>
      </dgm:t>
    </dgm:pt>
    <dgm:pt modelId="{E8EF78DA-6D68-429C-AB94-68E305A9E78A}">
      <dgm:prSet/>
      <dgm:spPr/>
      <dgm:t>
        <a:bodyPr/>
        <a:lstStyle/>
        <a:p>
          <a:r>
            <a:rPr lang="en-US"/>
            <a:t>Busy students and professionals</a:t>
          </a:r>
        </a:p>
      </dgm:t>
    </dgm:pt>
    <dgm:pt modelId="{92297A99-A2A5-4D57-9F5D-69A16F519162}" type="parTrans" cxnId="{68DEF59E-CBDF-4BEB-B36B-E13DBFA293F8}">
      <dgm:prSet/>
      <dgm:spPr/>
      <dgm:t>
        <a:bodyPr/>
        <a:lstStyle/>
        <a:p>
          <a:endParaRPr lang="en-US"/>
        </a:p>
      </dgm:t>
    </dgm:pt>
    <dgm:pt modelId="{81D366E2-5012-456C-A802-C6365A2D07D4}" type="sibTrans" cxnId="{68DEF59E-CBDF-4BEB-B36B-E13DBFA293F8}">
      <dgm:prSet/>
      <dgm:spPr/>
      <dgm:t>
        <a:bodyPr/>
        <a:lstStyle/>
        <a:p>
          <a:endParaRPr lang="en-US"/>
        </a:p>
      </dgm:t>
    </dgm:pt>
    <dgm:pt modelId="{3D56C181-D5BA-48A6-B4B7-3C39957E756B}">
      <dgm:prSet/>
      <dgm:spPr/>
      <dgm:t>
        <a:bodyPr/>
        <a:lstStyle/>
        <a:p>
          <a:r>
            <a:rPr lang="en-US"/>
            <a:t>Families trying to eat </a:t>
          </a:r>
          <a:r>
            <a:rPr lang="en-US" b="1"/>
            <a:t>healthy on a budget</a:t>
          </a:r>
          <a:endParaRPr lang="en-US"/>
        </a:p>
      </dgm:t>
    </dgm:pt>
    <dgm:pt modelId="{8C91F38F-465C-4559-8655-39C606F2B1D8}" type="parTrans" cxnId="{F55469E8-5131-4F31-946C-3699645E8A27}">
      <dgm:prSet/>
      <dgm:spPr/>
      <dgm:t>
        <a:bodyPr/>
        <a:lstStyle/>
        <a:p>
          <a:endParaRPr lang="en-US"/>
        </a:p>
      </dgm:t>
    </dgm:pt>
    <dgm:pt modelId="{4192790F-64FE-43BF-8A80-3587E6634334}" type="sibTrans" cxnId="{F55469E8-5131-4F31-946C-3699645E8A27}">
      <dgm:prSet/>
      <dgm:spPr/>
      <dgm:t>
        <a:bodyPr/>
        <a:lstStyle/>
        <a:p>
          <a:endParaRPr lang="en-US"/>
        </a:p>
      </dgm:t>
    </dgm:pt>
    <dgm:pt modelId="{34EF6F05-EA5A-4C18-B98C-1DB46267C796}">
      <dgm:prSet/>
      <dgm:spPr/>
      <dgm:t>
        <a:bodyPr/>
        <a:lstStyle/>
        <a:p>
          <a:r>
            <a:rPr lang="en-US"/>
            <a:t>💪Who Benefits</a:t>
          </a:r>
        </a:p>
      </dgm:t>
    </dgm:pt>
    <dgm:pt modelId="{688B28E6-4E07-4005-8F0E-C76EE67EC9B6}" type="parTrans" cxnId="{EF0CD8D5-837A-442F-937B-DCF369863642}">
      <dgm:prSet/>
      <dgm:spPr/>
      <dgm:t>
        <a:bodyPr/>
        <a:lstStyle/>
        <a:p>
          <a:endParaRPr lang="en-US"/>
        </a:p>
      </dgm:t>
    </dgm:pt>
    <dgm:pt modelId="{741F8C7B-EB6E-4415-8889-FED4DAEB1F2D}" type="sibTrans" cxnId="{EF0CD8D5-837A-442F-937B-DCF369863642}">
      <dgm:prSet/>
      <dgm:spPr/>
      <dgm:t>
        <a:bodyPr/>
        <a:lstStyle/>
        <a:p>
          <a:endParaRPr lang="en-US"/>
        </a:p>
      </dgm:t>
    </dgm:pt>
    <dgm:pt modelId="{72AA002B-7913-409A-AA39-026DBACA1D43}">
      <dgm:prSet/>
      <dgm:spPr/>
      <dgm:t>
        <a:bodyPr/>
        <a:lstStyle/>
        <a:p>
          <a:r>
            <a:rPr lang="en-US"/>
            <a:t>Users get </a:t>
          </a:r>
          <a:r>
            <a:rPr lang="en-US" b="1"/>
            <a:t>personalized nutrition guidance</a:t>
          </a:r>
          <a:endParaRPr lang="en-US"/>
        </a:p>
      </dgm:t>
    </dgm:pt>
    <dgm:pt modelId="{B7CD96BE-DDBE-49CA-AB58-63645C38BB45}" type="parTrans" cxnId="{76205004-6664-4BD8-8C60-08345345FF2A}">
      <dgm:prSet/>
      <dgm:spPr/>
      <dgm:t>
        <a:bodyPr/>
        <a:lstStyle/>
        <a:p>
          <a:endParaRPr lang="en-US"/>
        </a:p>
      </dgm:t>
    </dgm:pt>
    <dgm:pt modelId="{361BACEE-6464-4DF5-BB9D-34FC36640421}" type="sibTrans" cxnId="{76205004-6664-4BD8-8C60-08345345FF2A}">
      <dgm:prSet/>
      <dgm:spPr/>
      <dgm:t>
        <a:bodyPr/>
        <a:lstStyle/>
        <a:p>
          <a:endParaRPr lang="en-US"/>
        </a:p>
      </dgm:t>
    </dgm:pt>
    <dgm:pt modelId="{67039B7D-56C2-4B11-9CFC-0AD3F0072C85}">
      <dgm:prSet/>
      <dgm:spPr/>
      <dgm:t>
        <a:bodyPr/>
        <a:lstStyle/>
        <a:p>
          <a:r>
            <a:rPr lang="en-US"/>
            <a:t>Healthcare providers get </a:t>
          </a:r>
          <a:r>
            <a:rPr lang="en-US" b="1"/>
            <a:t>better health insights</a:t>
          </a:r>
          <a:endParaRPr lang="en-US"/>
        </a:p>
      </dgm:t>
    </dgm:pt>
    <dgm:pt modelId="{BD227817-FE8A-4C0C-AB6E-8718C8A50BEF}" type="parTrans" cxnId="{385FDAAE-CC6B-4FE0-94A0-305613473A25}">
      <dgm:prSet/>
      <dgm:spPr/>
      <dgm:t>
        <a:bodyPr/>
        <a:lstStyle/>
        <a:p>
          <a:endParaRPr lang="en-US"/>
        </a:p>
      </dgm:t>
    </dgm:pt>
    <dgm:pt modelId="{F94BFCD1-9A27-4172-AD0D-A6389F0CE93D}" type="sibTrans" cxnId="{385FDAAE-CC6B-4FE0-94A0-305613473A25}">
      <dgm:prSet/>
      <dgm:spPr/>
      <dgm:t>
        <a:bodyPr/>
        <a:lstStyle/>
        <a:p>
          <a:endParaRPr lang="en-US"/>
        </a:p>
      </dgm:t>
    </dgm:pt>
    <dgm:pt modelId="{C1E7DEFA-F4CC-4F32-8B3A-BB24DD85E004}">
      <dgm:prSet/>
      <dgm:spPr/>
      <dgm:t>
        <a:bodyPr/>
        <a:lstStyle/>
        <a:p>
          <a:r>
            <a:rPr lang="en-US"/>
            <a:t>Society benefits from </a:t>
          </a:r>
          <a:r>
            <a:rPr lang="en-US" b="1"/>
            <a:t>preventive healthcare</a:t>
          </a:r>
          <a:endParaRPr lang="en-US"/>
        </a:p>
      </dgm:t>
    </dgm:pt>
    <dgm:pt modelId="{F7B7D774-D1DC-481D-82BC-7CB6C9D26404}" type="parTrans" cxnId="{878C4DD3-FE9E-4E15-8B38-E97657CB0D2C}">
      <dgm:prSet/>
      <dgm:spPr/>
      <dgm:t>
        <a:bodyPr/>
        <a:lstStyle/>
        <a:p>
          <a:endParaRPr lang="en-US"/>
        </a:p>
      </dgm:t>
    </dgm:pt>
    <dgm:pt modelId="{43AE4346-C6A3-4892-B59A-2A331F1CE196}" type="sibTrans" cxnId="{878C4DD3-FE9E-4E15-8B38-E97657CB0D2C}">
      <dgm:prSet/>
      <dgm:spPr/>
      <dgm:t>
        <a:bodyPr/>
        <a:lstStyle/>
        <a:p>
          <a:endParaRPr lang="en-US"/>
        </a:p>
      </dgm:t>
    </dgm:pt>
    <dgm:pt modelId="{E8AF4374-EADC-4BF2-B46C-7B69C0C90433}">
      <dgm:prSet/>
      <dgm:spPr/>
      <dgm:t>
        <a:bodyPr/>
        <a:lstStyle/>
        <a:p>
          <a:r>
            <a:rPr lang="en-US"/>
            <a:t>Technology sector benefits from </a:t>
          </a:r>
          <a:r>
            <a:rPr lang="en-US" b="1"/>
            <a:t>AI + ML + mobile integration</a:t>
          </a:r>
          <a:endParaRPr lang="en-US"/>
        </a:p>
      </dgm:t>
    </dgm:pt>
    <dgm:pt modelId="{7169299D-7A53-4A3A-A08A-80DDB547D0C3}" type="parTrans" cxnId="{D06CE643-C72E-456B-9D56-9D68183C2F49}">
      <dgm:prSet/>
      <dgm:spPr/>
      <dgm:t>
        <a:bodyPr/>
        <a:lstStyle/>
        <a:p>
          <a:endParaRPr lang="en-US"/>
        </a:p>
      </dgm:t>
    </dgm:pt>
    <dgm:pt modelId="{F56884F3-976C-4FD4-86DA-21AF3E34117E}" type="sibTrans" cxnId="{D06CE643-C72E-456B-9D56-9D68183C2F49}">
      <dgm:prSet/>
      <dgm:spPr/>
      <dgm:t>
        <a:bodyPr/>
        <a:lstStyle/>
        <a:p>
          <a:endParaRPr lang="en-US"/>
        </a:p>
      </dgm:t>
    </dgm:pt>
    <dgm:pt modelId="{777EC803-1898-41F1-B747-04CF01EB1179}" type="pres">
      <dgm:prSet presAssocID="{C267E1A4-69EA-4B12-B0E8-FA5A0379A35B}" presName="linear" presStyleCnt="0">
        <dgm:presLayoutVars>
          <dgm:animLvl val="lvl"/>
          <dgm:resizeHandles val="exact"/>
        </dgm:presLayoutVars>
      </dgm:prSet>
      <dgm:spPr/>
    </dgm:pt>
    <dgm:pt modelId="{D965F8F3-6C53-4DAF-B836-A6A53C8E25ED}" type="pres">
      <dgm:prSet presAssocID="{327CB038-63CE-4259-89C1-CA09059C18FB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33550484-28E3-4D81-971C-4B1363E51410}" type="pres">
      <dgm:prSet presAssocID="{146B6023-8AA4-4433-8391-3B1949A1A471}" presName="spacer" presStyleCnt="0"/>
      <dgm:spPr/>
    </dgm:pt>
    <dgm:pt modelId="{84902B8B-EA32-4D0D-BD00-938DC9A5D386}" type="pres">
      <dgm:prSet presAssocID="{C763D2C0-CE9D-46B6-951B-8E69553C8B67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C7829A03-2D1F-410C-A243-ADB5CBF3A194}" type="pres">
      <dgm:prSet presAssocID="{903D9577-DCB5-4547-A66F-012E8BEB196B}" presName="spacer" presStyleCnt="0"/>
      <dgm:spPr/>
    </dgm:pt>
    <dgm:pt modelId="{58A3878C-99C5-428A-9E3B-13BF08D9278C}" type="pres">
      <dgm:prSet presAssocID="{640204A6-B444-451C-A24F-6D305A351AB2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659EF6CC-A78A-466D-89EF-999FBA9521F3}" type="pres">
      <dgm:prSet presAssocID="{D8E015CE-0BE8-4B2A-9891-780FC6C23171}" presName="spacer" presStyleCnt="0"/>
      <dgm:spPr/>
    </dgm:pt>
    <dgm:pt modelId="{321FA6A5-8DB2-4722-B77B-DD24AAF06DEB}" type="pres">
      <dgm:prSet presAssocID="{E8EF78DA-6D68-429C-AB94-68E305A9E78A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EBCD883F-F012-47FD-8908-E8959F8FAD44}" type="pres">
      <dgm:prSet presAssocID="{81D366E2-5012-456C-A802-C6365A2D07D4}" presName="spacer" presStyleCnt="0"/>
      <dgm:spPr/>
    </dgm:pt>
    <dgm:pt modelId="{C12B88B0-E3CD-4DF2-869E-599CC6ED3E66}" type="pres">
      <dgm:prSet presAssocID="{3D56C181-D5BA-48A6-B4B7-3C39957E756B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DDC520B1-B3B4-4C60-9EF2-7794D46770BF}" type="pres">
      <dgm:prSet presAssocID="{4192790F-64FE-43BF-8A80-3587E6634334}" presName="spacer" presStyleCnt="0"/>
      <dgm:spPr/>
    </dgm:pt>
    <dgm:pt modelId="{40828D68-BBDE-471B-AA62-62C385F8AF7B}" type="pres">
      <dgm:prSet presAssocID="{34EF6F05-EA5A-4C18-B98C-1DB46267C796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C74A2D47-9AAB-49B0-8D8C-5BFA519200D8}" type="pres">
      <dgm:prSet presAssocID="{741F8C7B-EB6E-4415-8889-FED4DAEB1F2D}" presName="spacer" presStyleCnt="0"/>
      <dgm:spPr/>
    </dgm:pt>
    <dgm:pt modelId="{D71D2274-9573-4F47-B8E5-926052E0ED64}" type="pres">
      <dgm:prSet presAssocID="{72AA002B-7913-409A-AA39-026DBACA1D43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8B1D6109-52B4-468A-ADD2-4F5BF4D3A656}" type="pres">
      <dgm:prSet presAssocID="{361BACEE-6464-4DF5-BB9D-34FC36640421}" presName="spacer" presStyleCnt="0"/>
      <dgm:spPr/>
    </dgm:pt>
    <dgm:pt modelId="{4858011D-40CD-4792-AA30-53B378D148A6}" type="pres">
      <dgm:prSet presAssocID="{67039B7D-56C2-4B11-9CFC-0AD3F0072C85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A1E18F9B-F031-40F9-A98F-76DB984E8156}" type="pres">
      <dgm:prSet presAssocID="{F94BFCD1-9A27-4172-AD0D-A6389F0CE93D}" presName="spacer" presStyleCnt="0"/>
      <dgm:spPr/>
    </dgm:pt>
    <dgm:pt modelId="{BE06BF16-0A49-4E60-B686-071756AC90DA}" type="pres">
      <dgm:prSet presAssocID="{C1E7DEFA-F4CC-4F32-8B3A-BB24DD85E004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1B5F673B-8592-427E-857E-323630033E64}" type="pres">
      <dgm:prSet presAssocID="{43AE4346-C6A3-4892-B59A-2A331F1CE196}" presName="spacer" presStyleCnt="0"/>
      <dgm:spPr/>
    </dgm:pt>
    <dgm:pt modelId="{EC865DB9-C5B3-411F-ADD9-25B2ED529611}" type="pres">
      <dgm:prSet presAssocID="{E8AF4374-EADC-4BF2-B46C-7B69C0C90433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76205004-6664-4BD8-8C60-08345345FF2A}" srcId="{C267E1A4-69EA-4B12-B0E8-FA5A0379A35B}" destId="{72AA002B-7913-409A-AA39-026DBACA1D43}" srcOrd="6" destOrd="0" parTransId="{B7CD96BE-DDBE-49CA-AB58-63645C38BB45}" sibTransId="{361BACEE-6464-4DF5-BB9D-34FC36640421}"/>
    <dgm:cxn modelId="{E8247207-3E41-4E3D-8D15-6100A6E360BD}" type="presOf" srcId="{C763D2C0-CE9D-46B6-951B-8E69553C8B67}" destId="{84902B8B-EA32-4D0D-BD00-938DC9A5D386}" srcOrd="0" destOrd="0" presId="urn:microsoft.com/office/officeart/2005/8/layout/vList2"/>
    <dgm:cxn modelId="{37D23D1C-DDD6-42D6-A655-7F1181896063}" type="presOf" srcId="{E8AF4374-EADC-4BF2-B46C-7B69C0C90433}" destId="{EC865DB9-C5B3-411F-ADD9-25B2ED529611}" srcOrd="0" destOrd="0" presId="urn:microsoft.com/office/officeart/2005/8/layout/vList2"/>
    <dgm:cxn modelId="{BE79F539-156B-4FA3-A8E6-F0FF7FB74B82}" srcId="{C267E1A4-69EA-4B12-B0E8-FA5A0379A35B}" destId="{640204A6-B444-451C-A24F-6D305A351AB2}" srcOrd="2" destOrd="0" parTransId="{F4C8405A-B5ED-4485-879D-54015FC941A5}" sibTransId="{D8E015CE-0BE8-4B2A-9891-780FC6C23171}"/>
    <dgm:cxn modelId="{12394F3B-9DBE-43D0-8B75-D13609BC952F}" srcId="{C267E1A4-69EA-4B12-B0E8-FA5A0379A35B}" destId="{327CB038-63CE-4259-89C1-CA09059C18FB}" srcOrd="0" destOrd="0" parTransId="{52F69C0D-AD08-4233-B44F-4155DFB4C41D}" sibTransId="{146B6023-8AA4-4433-8391-3B1949A1A471}"/>
    <dgm:cxn modelId="{D06CE643-C72E-456B-9D56-9D68183C2F49}" srcId="{C267E1A4-69EA-4B12-B0E8-FA5A0379A35B}" destId="{E8AF4374-EADC-4BF2-B46C-7B69C0C90433}" srcOrd="9" destOrd="0" parTransId="{7169299D-7A53-4A3A-A08A-80DDB547D0C3}" sibTransId="{F56884F3-976C-4FD4-86DA-21AF3E34117E}"/>
    <dgm:cxn modelId="{9590394F-D64A-49BA-B0AE-1987BC256261}" type="presOf" srcId="{67039B7D-56C2-4B11-9CFC-0AD3F0072C85}" destId="{4858011D-40CD-4792-AA30-53B378D148A6}" srcOrd="0" destOrd="0" presId="urn:microsoft.com/office/officeart/2005/8/layout/vList2"/>
    <dgm:cxn modelId="{CC5B514F-7FA9-49C7-AB64-F962527C071E}" type="presOf" srcId="{640204A6-B444-451C-A24F-6D305A351AB2}" destId="{58A3878C-99C5-428A-9E3B-13BF08D9278C}" srcOrd="0" destOrd="0" presId="urn:microsoft.com/office/officeart/2005/8/layout/vList2"/>
    <dgm:cxn modelId="{A8BAA288-0BF7-499A-9E95-DE02BFB3C6A7}" type="presOf" srcId="{327CB038-63CE-4259-89C1-CA09059C18FB}" destId="{D965F8F3-6C53-4DAF-B836-A6A53C8E25ED}" srcOrd="0" destOrd="0" presId="urn:microsoft.com/office/officeart/2005/8/layout/vList2"/>
    <dgm:cxn modelId="{30189F99-A4BC-4D8D-AE66-8D6A737D3E77}" type="presOf" srcId="{3D56C181-D5BA-48A6-B4B7-3C39957E756B}" destId="{C12B88B0-E3CD-4DF2-869E-599CC6ED3E66}" srcOrd="0" destOrd="0" presId="urn:microsoft.com/office/officeart/2005/8/layout/vList2"/>
    <dgm:cxn modelId="{68DEF59E-CBDF-4BEB-B36B-E13DBFA293F8}" srcId="{C267E1A4-69EA-4B12-B0E8-FA5A0379A35B}" destId="{E8EF78DA-6D68-429C-AB94-68E305A9E78A}" srcOrd="3" destOrd="0" parTransId="{92297A99-A2A5-4D57-9F5D-69A16F519162}" sibTransId="{81D366E2-5012-456C-A802-C6365A2D07D4}"/>
    <dgm:cxn modelId="{385FDAAE-CC6B-4FE0-94A0-305613473A25}" srcId="{C267E1A4-69EA-4B12-B0E8-FA5A0379A35B}" destId="{67039B7D-56C2-4B11-9CFC-0AD3F0072C85}" srcOrd="7" destOrd="0" parTransId="{BD227817-FE8A-4C0C-AB6E-8718C8A50BEF}" sibTransId="{F94BFCD1-9A27-4172-AD0D-A6389F0CE93D}"/>
    <dgm:cxn modelId="{C0B9F9B4-F4BA-4533-AE20-E754A568429B}" type="presOf" srcId="{72AA002B-7913-409A-AA39-026DBACA1D43}" destId="{D71D2274-9573-4F47-B8E5-926052E0ED64}" srcOrd="0" destOrd="0" presId="urn:microsoft.com/office/officeart/2005/8/layout/vList2"/>
    <dgm:cxn modelId="{878C4DD3-FE9E-4E15-8B38-E97657CB0D2C}" srcId="{C267E1A4-69EA-4B12-B0E8-FA5A0379A35B}" destId="{C1E7DEFA-F4CC-4F32-8B3A-BB24DD85E004}" srcOrd="8" destOrd="0" parTransId="{F7B7D774-D1DC-481D-82BC-7CB6C9D26404}" sibTransId="{43AE4346-C6A3-4892-B59A-2A331F1CE196}"/>
    <dgm:cxn modelId="{B1649AD4-91CC-4361-9A7E-6E02A13B0CB8}" type="presOf" srcId="{E8EF78DA-6D68-429C-AB94-68E305A9E78A}" destId="{321FA6A5-8DB2-4722-B77B-DD24AAF06DEB}" srcOrd="0" destOrd="0" presId="urn:microsoft.com/office/officeart/2005/8/layout/vList2"/>
    <dgm:cxn modelId="{3595A4D4-EEEE-4A03-B338-425704107E39}" type="presOf" srcId="{C1E7DEFA-F4CC-4F32-8B3A-BB24DD85E004}" destId="{BE06BF16-0A49-4E60-B686-071756AC90DA}" srcOrd="0" destOrd="0" presId="urn:microsoft.com/office/officeart/2005/8/layout/vList2"/>
    <dgm:cxn modelId="{EF0CD8D5-837A-442F-937B-DCF369863642}" srcId="{C267E1A4-69EA-4B12-B0E8-FA5A0379A35B}" destId="{34EF6F05-EA5A-4C18-B98C-1DB46267C796}" srcOrd="5" destOrd="0" parTransId="{688B28E6-4E07-4005-8F0E-C76EE67EC9B6}" sibTransId="{741F8C7B-EB6E-4415-8889-FED4DAEB1F2D}"/>
    <dgm:cxn modelId="{6B9271E1-E777-40ED-8336-501BF4961617}" srcId="{C267E1A4-69EA-4B12-B0E8-FA5A0379A35B}" destId="{C763D2C0-CE9D-46B6-951B-8E69553C8B67}" srcOrd="1" destOrd="0" parTransId="{925C145F-6D8A-4B2F-98BE-F40072BDC248}" sibTransId="{903D9577-DCB5-4547-A66F-012E8BEB196B}"/>
    <dgm:cxn modelId="{66D9D6E1-34FB-4A3B-A7A2-6CBF2FB7DB3E}" type="presOf" srcId="{34EF6F05-EA5A-4C18-B98C-1DB46267C796}" destId="{40828D68-BBDE-471B-AA62-62C385F8AF7B}" srcOrd="0" destOrd="0" presId="urn:microsoft.com/office/officeart/2005/8/layout/vList2"/>
    <dgm:cxn modelId="{F55469E8-5131-4F31-946C-3699645E8A27}" srcId="{C267E1A4-69EA-4B12-B0E8-FA5A0379A35B}" destId="{3D56C181-D5BA-48A6-B4B7-3C39957E756B}" srcOrd="4" destOrd="0" parTransId="{8C91F38F-465C-4559-8655-39C606F2B1D8}" sibTransId="{4192790F-64FE-43BF-8A80-3587E6634334}"/>
    <dgm:cxn modelId="{16EDC0FA-FA0D-406C-A421-7568105BECDC}" type="presOf" srcId="{C267E1A4-69EA-4B12-B0E8-FA5A0379A35B}" destId="{777EC803-1898-41F1-B747-04CF01EB1179}" srcOrd="0" destOrd="0" presId="urn:microsoft.com/office/officeart/2005/8/layout/vList2"/>
    <dgm:cxn modelId="{E66F303A-4E8E-41BD-8973-68B9BFA099FB}" type="presParOf" srcId="{777EC803-1898-41F1-B747-04CF01EB1179}" destId="{D965F8F3-6C53-4DAF-B836-A6A53C8E25ED}" srcOrd="0" destOrd="0" presId="urn:microsoft.com/office/officeart/2005/8/layout/vList2"/>
    <dgm:cxn modelId="{4BD03832-9038-415C-8289-F405F0870681}" type="presParOf" srcId="{777EC803-1898-41F1-B747-04CF01EB1179}" destId="{33550484-28E3-4D81-971C-4B1363E51410}" srcOrd="1" destOrd="0" presId="urn:microsoft.com/office/officeart/2005/8/layout/vList2"/>
    <dgm:cxn modelId="{4D4C34D2-B2B0-4547-891A-C91E3A9ADFEB}" type="presParOf" srcId="{777EC803-1898-41F1-B747-04CF01EB1179}" destId="{84902B8B-EA32-4D0D-BD00-938DC9A5D386}" srcOrd="2" destOrd="0" presId="urn:microsoft.com/office/officeart/2005/8/layout/vList2"/>
    <dgm:cxn modelId="{D21AD913-31F9-469C-BCD1-AC979536E2EF}" type="presParOf" srcId="{777EC803-1898-41F1-B747-04CF01EB1179}" destId="{C7829A03-2D1F-410C-A243-ADB5CBF3A194}" srcOrd="3" destOrd="0" presId="urn:microsoft.com/office/officeart/2005/8/layout/vList2"/>
    <dgm:cxn modelId="{75FF637D-A660-4A92-95F4-9AD49CE10D6C}" type="presParOf" srcId="{777EC803-1898-41F1-B747-04CF01EB1179}" destId="{58A3878C-99C5-428A-9E3B-13BF08D9278C}" srcOrd="4" destOrd="0" presId="urn:microsoft.com/office/officeart/2005/8/layout/vList2"/>
    <dgm:cxn modelId="{05D05DC6-E24F-48AD-9A8C-EF60AFF5E601}" type="presParOf" srcId="{777EC803-1898-41F1-B747-04CF01EB1179}" destId="{659EF6CC-A78A-466D-89EF-999FBA9521F3}" srcOrd="5" destOrd="0" presId="urn:microsoft.com/office/officeart/2005/8/layout/vList2"/>
    <dgm:cxn modelId="{D0AAC78A-69F4-427C-A689-D626A255E307}" type="presParOf" srcId="{777EC803-1898-41F1-B747-04CF01EB1179}" destId="{321FA6A5-8DB2-4722-B77B-DD24AAF06DEB}" srcOrd="6" destOrd="0" presId="urn:microsoft.com/office/officeart/2005/8/layout/vList2"/>
    <dgm:cxn modelId="{3B7C8FFD-27E8-40D6-AE34-3EB66C63570E}" type="presParOf" srcId="{777EC803-1898-41F1-B747-04CF01EB1179}" destId="{EBCD883F-F012-47FD-8908-E8959F8FAD44}" srcOrd="7" destOrd="0" presId="urn:microsoft.com/office/officeart/2005/8/layout/vList2"/>
    <dgm:cxn modelId="{6FFF268E-E906-4984-A603-6142C990D4CB}" type="presParOf" srcId="{777EC803-1898-41F1-B747-04CF01EB1179}" destId="{C12B88B0-E3CD-4DF2-869E-599CC6ED3E66}" srcOrd="8" destOrd="0" presId="urn:microsoft.com/office/officeart/2005/8/layout/vList2"/>
    <dgm:cxn modelId="{6AF4250A-C3A3-48E1-A068-092FAABE3B26}" type="presParOf" srcId="{777EC803-1898-41F1-B747-04CF01EB1179}" destId="{DDC520B1-B3B4-4C60-9EF2-7794D46770BF}" srcOrd="9" destOrd="0" presId="urn:microsoft.com/office/officeart/2005/8/layout/vList2"/>
    <dgm:cxn modelId="{52D40163-286D-4FA5-B99A-DFA72F468CD2}" type="presParOf" srcId="{777EC803-1898-41F1-B747-04CF01EB1179}" destId="{40828D68-BBDE-471B-AA62-62C385F8AF7B}" srcOrd="10" destOrd="0" presId="urn:microsoft.com/office/officeart/2005/8/layout/vList2"/>
    <dgm:cxn modelId="{4869DB98-32A5-45AC-991B-30D13ECC0F32}" type="presParOf" srcId="{777EC803-1898-41F1-B747-04CF01EB1179}" destId="{C74A2D47-9AAB-49B0-8D8C-5BFA519200D8}" srcOrd="11" destOrd="0" presId="urn:microsoft.com/office/officeart/2005/8/layout/vList2"/>
    <dgm:cxn modelId="{6323B209-AEAC-4CA4-ACA6-92CA14429759}" type="presParOf" srcId="{777EC803-1898-41F1-B747-04CF01EB1179}" destId="{D71D2274-9573-4F47-B8E5-926052E0ED64}" srcOrd="12" destOrd="0" presId="urn:microsoft.com/office/officeart/2005/8/layout/vList2"/>
    <dgm:cxn modelId="{86930B3D-48F5-45C9-9AB8-B2F2F2820C49}" type="presParOf" srcId="{777EC803-1898-41F1-B747-04CF01EB1179}" destId="{8B1D6109-52B4-468A-ADD2-4F5BF4D3A656}" srcOrd="13" destOrd="0" presId="urn:microsoft.com/office/officeart/2005/8/layout/vList2"/>
    <dgm:cxn modelId="{2E0137FA-3846-4CCE-A5E2-A779F8F35FAF}" type="presParOf" srcId="{777EC803-1898-41F1-B747-04CF01EB1179}" destId="{4858011D-40CD-4792-AA30-53B378D148A6}" srcOrd="14" destOrd="0" presId="urn:microsoft.com/office/officeart/2005/8/layout/vList2"/>
    <dgm:cxn modelId="{3EBA867B-BC72-4FF8-B077-5F8EA55B8E61}" type="presParOf" srcId="{777EC803-1898-41F1-B747-04CF01EB1179}" destId="{A1E18F9B-F031-40F9-A98F-76DB984E8156}" srcOrd="15" destOrd="0" presId="urn:microsoft.com/office/officeart/2005/8/layout/vList2"/>
    <dgm:cxn modelId="{D6587410-1D84-4E2C-AA81-100280313633}" type="presParOf" srcId="{777EC803-1898-41F1-B747-04CF01EB1179}" destId="{BE06BF16-0A49-4E60-B686-071756AC90DA}" srcOrd="16" destOrd="0" presId="urn:microsoft.com/office/officeart/2005/8/layout/vList2"/>
    <dgm:cxn modelId="{130EA81A-7A84-4243-BA9C-5ABCC4940904}" type="presParOf" srcId="{777EC803-1898-41F1-B747-04CF01EB1179}" destId="{1B5F673B-8592-427E-857E-323630033E64}" srcOrd="17" destOrd="0" presId="urn:microsoft.com/office/officeart/2005/8/layout/vList2"/>
    <dgm:cxn modelId="{6F752042-0751-45A8-A52F-597C652A5662}" type="presParOf" srcId="{777EC803-1898-41F1-B747-04CF01EB1179}" destId="{EC865DB9-C5B3-411F-ADD9-25B2ED529611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88072-B145-45D1-843B-C94D9305B11F}">
      <dsp:nvSpPr>
        <dsp:cNvPr id="0" name=""/>
        <dsp:cNvSpPr/>
      </dsp:nvSpPr>
      <dsp:spPr>
        <a:xfrm>
          <a:off x="0" y="147581"/>
          <a:ext cx="6815667" cy="5791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🤷‍♂️Problem</a:t>
          </a:r>
        </a:p>
      </dsp:txBody>
      <dsp:txXfrm>
        <a:off x="28272" y="175853"/>
        <a:ext cx="6759123" cy="522605"/>
      </dsp:txXfrm>
    </dsp:sp>
    <dsp:sp modelId="{BD2F84C4-A4CD-4759-AD6C-0D7F4F8DA39C}">
      <dsp:nvSpPr>
        <dsp:cNvPr id="0" name=""/>
        <dsp:cNvSpPr/>
      </dsp:nvSpPr>
      <dsp:spPr>
        <a:xfrm>
          <a:off x="0" y="769931"/>
          <a:ext cx="6815667" cy="5791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People do not know </a:t>
          </a:r>
          <a:r>
            <a:rPr lang="en-US" sz="1500" b="1" kern="1200"/>
            <a:t>how many calories and nutrients</a:t>
          </a:r>
          <a:r>
            <a:rPr lang="en-US" sz="1500" kern="1200"/>
            <a:t> they need daily</a:t>
          </a:r>
        </a:p>
      </dsp:txBody>
      <dsp:txXfrm>
        <a:off x="28272" y="798203"/>
        <a:ext cx="6759123" cy="522605"/>
      </dsp:txXfrm>
    </dsp:sp>
    <dsp:sp modelId="{6F3FD806-0336-462E-881C-BE13F8E2D153}">
      <dsp:nvSpPr>
        <dsp:cNvPr id="0" name=""/>
        <dsp:cNvSpPr/>
      </dsp:nvSpPr>
      <dsp:spPr>
        <a:xfrm>
          <a:off x="0" y="1392281"/>
          <a:ext cx="6815667" cy="5791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Users with </a:t>
          </a:r>
          <a:r>
            <a:rPr lang="en-US" sz="1500" b="1" kern="1200"/>
            <a:t>diabetes and hypertension</a:t>
          </a:r>
          <a:r>
            <a:rPr lang="en-US" sz="1500" kern="1200"/>
            <a:t> need personalized diets, not generic plans</a:t>
          </a:r>
        </a:p>
      </dsp:txBody>
      <dsp:txXfrm>
        <a:off x="28272" y="1420553"/>
        <a:ext cx="6759123" cy="522605"/>
      </dsp:txXfrm>
    </dsp:sp>
    <dsp:sp modelId="{B56A3DF4-7114-40FC-BC4D-7340CD3B4379}">
      <dsp:nvSpPr>
        <dsp:cNvPr id="0" name=""/>
        <dsp:cNvSpPr/>
      </dsp:nvSpPr>
      <dsp:spPr>
        <a:xfrm>
          <a:off x="0" y="2014631"/>
          <a:ext cx="6815667" cy="5791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Grocery prices change across stores, making </a:t>
          </a:r>
          <a:r>
            <a:rPr lang="en-US" sz="1500" b="1" kern="1200"/>
            <a:t>healthy choices expensive</a:t>
          </a:r>
          <a:endParaRPr lang="en-US" sz="1500" kern="1200"/>
        </a:p>
      </dsp:txBody>
      <dsp:txXfrm>
        <a:off x="28272" y="2042903"/>
        <a:ext cx="6759123" cy="522605"/>
      </dsp:txXfrm>
    </dsp:sp>
    <dsp:sp modelId="{47EDE31F-05F4-4B6C-9704-8879D5A03C93}">
      <dsp:nvSpPr>
        <dsp:cNvPr id="0" name=""/>
        <dsp:cNvSpPr/>
      </dsp:nvSpPr>
      <dsp:spPr>
        <a:xfrm>
          <a:off x="0" y="2636981"/>
          <a:ext cx="6815667" cy="5791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Health data is </a:t>
          </a:r>
          <a:r>
            <a:rPr lang="en-US" sz="1500" b="1" kern="1200"/>
            <a:t>hard to track manually</a:t>
          </a:r>
          <a:r>
            <a:rPr lang="en-US" sz="1500" kern="1200"/>
            <a:t> and often inaccurate</a:t>
          </a:r>
        </a:p>
      </dsp:txBody>
      <dsp:txXfrm>
        <a:off x="28272" y="2665253"/>
        <a:ext cx="6759123" cy="522605"/>
      </dsp:txXfrm>
    </dsp:sp>
    <dsp:sp modelId="{C842F9AA-1DD7-46C8-AE9E-3C883B0132C8}">
      <dsp:nvSpPr>
        <dsp:cNvPr id="0" name=""/>
        <dsp:cNvSpPr/>
      </dsp:nvSpPr>
      <dsp:spPr>
        <a:xfrm>
          <a:off x="0" y="3259331"/>
          <a:ext cx="6815667" cy="5791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🧠Impact</a:t>
          </a:r>
        </a:p>
      </dsp:txBody>
      <dsp:txXfrm>
        <a:off x="28272" y="3287603"/>
        <a:ext cx="6759123" cy="522605"/>
      </dsp:txXfrm>
    </dsp:sp>
    <dsp:sp modelId="{5951FFE5-12BE-410D-91B6-64B079966E36}">
      <dsp:nvSpPr>
        <dsp:cNvPr id="0" name=""/>
        <dsp:cNvSpPr/>
      </dsp:nvSpPr>
      <dsp:spPr>
        <a:xfrm>
          <a:off x="0" y="3881681"/>
          <a:ext cx="6815667" cy="5791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Poor diet leads to </a:t>
          </a:r>
          <a:r>
            <a:rPr lang="en-US" sz="1500" b="1" kern="1200"/>
            <a:t>obesity, diabetes, heart disease</a:t>
          </a:r>
          <a:r>
            <a:rPr lang="en-US" sz="1500" kern="1200"/>
            <a:t>, and high medical costs</a:t>
          </a:r>
        </a:p>
      </dsp:txBody>
      <dsp:txXfrm>
        <a:off x="28272" y="3909953"/>
        <a:ext cx="6759123" cy="522605"/>
      </dsp:txXfrm>
    </dsp:sp>
    <dsp:sp modelId="{FD30B5D5-404E-4077-B8DF-DE698C7CC49B}">
      <dsp:nvSpPr>
        <dsp:cNvPr id="0" name=""/>
        <dsp:cNvSpPr/>
      </dsp:nvSpPr>
      <dsp:spPr>
        <a:xfrm>
          <a:off x="0" y="4504031"/>
          <a:ext cx="6815667" cy="5791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People spend </a:t>
          </a:r>
          <a:r>
            <a:rPr lang="en-US" sz="1500" b="1" kern="1200"/>
            <a:t>more money</a:t>
          </a:r>
          <a:r>
            <a:rPr lang="en-US" sz="1500" kern="1200"/>
            <a:t> without nutrition awareness</a:t>
          </a:r>
        </a:p>
      </dsp:txBody>
      <dsp:txXfrm>
        <a:off x="28272" y="4532303"/>
        <a:ext cx="6759123" cy="522605"/>
      </dsp:txXfrm>
    </dsp:sp>
    <dsp:sp modelId="{FEC1E914-9256-4617-80CC-E88BE0028FF0}">
      <dsp:nvSpPr>
        <dsp:cNvPr id="0" name=""/>
        <dsp:cNvSpPr/>
      </dsp:nvSpPr>
      <dsp:spPr>
        <a:xfrm>
          <a:off x="0" y="5126381"/>
          <a:ext cx="6815667" cy="5791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Lack of early health alerts increases </a:t>
          </a:r>
          <a:r>
            <a:rPr lang="en-US" sz="1500" b="1" kern="1200"/>
            <a:t>long-term health risks</a:t>
          </a:r>
          <a:endParaRPr lang="en-US" sz="1500" kern="1200"/>
        </a:p>
      </dsp:txBody>
      <dsp:txXfrm>
        <a:off x="28272" y="5154653"/>
        <a:ext cx="6759123" cy="5226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65F8F3-6C53-4DAF-B836-A6A53C8E25ED}">
      <dsp:nvSpPr>
        <dsp:cNvPr id="0" name=""/>
        <dsp:cNvSpPr/>
      </dsp:nvSpPr>
      <dsp:spPr>
        <a:xfrm>
          <a:off x="0" y="235016"/>
          <a:ext cx="6815667" cy="489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👥 Who Is Affected</a:t>
          </a:r>
        </a:p>
      </dsp:txBody>
      <dsp:txXfrm>
        <a:off x="23874" y="258890"/>
        <a:ext cx="6767919" cy="441312"/>
      </dsp:txXfrm>
    </dsp:sp>
    <dsp:sp modelId="{84902B8B-EA32-4D0D-BD00-938DC9A5D386}">
      <dsp:nvSpPr>
        <dsp:cNvPr id="0" name=""/>
        <dsp:cNvSpPr/>
      </dsp:nvSpPr>
      <dsp:spPr>
        <a:xfrm>
          <a:off x="0" y="778796"/>
          <a:ext cx="6815667" cy="489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Individuals managing </a:t>
          </a:r>
          <a:r>
            <a:rPr lang="en-US" sz="1900" b="1" kern="1200"/>
            <a:t>weight (lose / gain / maintain)</a:t>
          </a:r>
          <a:endParaRPr lang="en-US" sz="1900" kern="1200"/>
        </a:p>
      </dsp:txBody>
      <dsp:txXfrm>
        <a:off x="23874" y="802670"/>
        <a:ext cx="6767919" cy="441312"/>
      </dsp:txXfrm>
    </dsp:sp>
    <dsp:sp modelId="{58A3878C-99C5-428A-9E3B-13BF08D9278C}">
      <dsp:nvSpPr>
        <dsp:cNvPr id="0" name=""/>
        <dsp:cNvSpPr/>
      </dsp:nvSpPr>
      <dsp:spPr>
        <a:xfrm>
          <a:off x="0" y="1322576"/>
          <a:ext cx="6815667" cy="489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People with </a:t>
          </a:r>
          <a:r>
            <a:rPr lang="en-US" sz="1900" b="1" kern="1200"/>
            <a:t>chronic diseases</a:t>
          </a:r>
          <a:r>
            <a:rPr lang="en-US" sz="1900" kern="1200"/>
            <a:t> (diabetes, hypertension)</a:t>
          </a:r>
        </a:p>
      </dsp:txBody>
      <dsp:txXfrm>
        <a:off x="23874" y="1346450"/>
        <a:ext cx="6767919" cy="441312"/>
      </dsp:txXfrm>
    </dsp:sp>
    <dsp:sp modelId="{321FA6A5-8DB2-4722-B77B-DD24AAF06DEB}">
      <dsp:nvSpPr>
        <dsp:cNvPr id="0" name=""/>
        <dsp:cNvSpPr/>
      </dsp:nvSpPr>
      <dsp:spPr>
        <a:xfrm>
          <a:off x="0" y="1866356"/>
          <a:ext cx="6815667" cy="489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Busy students and professionals</a:t>
          </a:r>
        </a:p>
      </dsp:txBody>
      <dsp:txXfrm>
        <a:off x="23874" y="1890230"/>
        <a:ext cx="6767919" cy="441312"/>
      </dsp:txXfrm>
    </dsp:sp>
    <dsp:sp modelId="{C12B88B0-E3CD-4DF2-869E-599CC6ED3E66}">
      <dsp:nvSpPr>
        <dsp:cNvPr id="0" name=""/>
        <dsp:cNvSpPr/>
      </dsp:nvSpPr>
      <dsp:spPr>
        <a:xfrm>
          <a:off x="0" y="2410136"/>
          <a:ext cx="6815667" cy="489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Families trying to eat </a:t>
          </a:r>
          <a:r>
            <a:rPr lang="en-US" sz="1900" b="1" kern="1200"/>
            <a:t>healthy on a budget</a:t>
          </a:r>
          <a:endParaRPr lang="en-US" sz="1900" kern="1200"/>
        </a:p>
      </dsp:txBody>
      <dsp:txXfrm>
        <a:off x="23874" y="2434010"/>
        <a:ext cx="6767919" cy="441312"/>
      </dsp:txXfrm>
    </dsp:sp>
    <dsp:sp modelId="{40828D68-BBDE-471B-AA62-62C385F8AF7B}">
      <dsp:nvSpPr>
        <dsp:cNvPr id="0" name=""/>
        <dsp:cNvSpPr/>
      </dsp:nvSpPr>
      <dsp:spPr>
        <a:xfrm>
          <a:off x="0" y="2953916"/>
          <a:ext cx="6815667" cy="489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💪Who Benefits</a:t>
          </a:r>
        </a:p>
      </dsp:txBody>
      <dsp:txXfrm>
        <a:off x="23874" y="2977790"/>
        <a:ext cx="6767919" cy="441312"/>
      </dsp:txXfrm>
    </dsp:sp>
    <dsp:sp modelId="{D71D2274-9573-4F47-B8E5-926052E0ED64}">
      <dsp:nvSpPr>
        <dsp:cNvPr id="0" name=""/>
        <dsp:cNvSpPr/>
      </dsp:nvSpPr>
      <dsp:spPr>
        <a:xfrm>
          <a:off x="0" y="3497696"/>
          <a:ext cx="6815667" cy="489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Users get </a:t>
          </a:r>
          <a:r>
            <a:rPr lang="en-US" sz="1900" b="1" kern="1200"/>
            <a:t>personalized nutrition guidance</a:t>
          </a:r>
          <a:endParaRPr lang="en-US" sz="1900" kern="1200"/>
        </a:p>
      </dsp:txBody>
      <dsp:txXfrm>
        <a:off x="23874" y="3521570"/>
        <a:ext cx="6767919" cy="441312"/>
      </dsp:txXfrm>
    </dsp:sp>
    <dsp:sp modelId="{4858011D-40CD-4792-AA30-53B378D148A6}">
      <dsp:nvSpPr>
        <dsp:cNvPr id="0" name=""/>
        <dsp:cNvSpPr/>
      </dsp:nvSpPr>
      <dsp:spPr>
        <a:xfrm>
          <a:off x="0" y="4041476"/>
          <a:ext cx="6815667" cy="489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Healthcare providers get </a:t>
          </a:r>
          <a:r>
            <a:rPr lang="en-US" sz="1900" b="1" kern="1200"/>
            <a:t>better health insights</a:t>
          </a:r>
          <a:endParaRPr lang="en-US" sz="1900" kern="1200"/>
        </a:p>
      </dsp:txBody>
      <dsp:txXfrm>
        <a:off x="23874" y="4065350"/>
        <a:ext cx="6767919" cy="441312"/>
      </dsp:txXfrm>
    </dsp:sp>
    <dsp:sp modelId="{BE06BF16-0A49-4E60-B686-071756AC90DA}">
      <dsp:nvSpPr>
        <dsp:cNvPr id="0" name=""/>
        <dsp:cNvSpPr/>
      </dsp:nvSpPr>
      <dsp:spPr>
        <a:xfrm>
          <a:off x="0" y="4585256"/>
          <a:ext cx="6815667" cy="489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Society benefits from </a:t>
          </a:r>
          <a:r>
            <a:rPr lang="en-US" sz="1900" b="1" kern="1200"/>
            <a:t>preventive healthcare</a:t>
          </a:r>
          <a:endParaRPr lang="en-US" sz="1900" kern="1200"/>
        </a:p>
      </dsp:txBody>
      <dsp:txXfrm>
        <a:off x="23874" y="4609130"/>
        <a:ext cx="6767919" cy="441312"/>
      </dsp:txXfrm>
    </dsp:sp>
    <dsp:sp modelId="{EC865DB9-C5B3-411F-ADD9-25B2ED529611}">
      <dsp:nvSpPr>
        <dsp:cNvPr id="0" name=""/>
        <dsp:cNvSpPr/>
      </dsp:nvSpPr>
      <dsp:spPr>
        <a:xfrm>
          <a:off x="0" y="5129036"/>
          <a:ext cx="6815667" cy="489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2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Technology sector benefits from </a:t>
          </a:r>
          <a:r>
            <a:rPr lang="en-US" sz="1900" b="1" kern="1200"/>
            <a:t>AI + ML + mobile integration</a:t>
          </a:r>
          <a:endParaRPr lang="en-US" sz="1900" kern="1200"/>
        </a:p>
      </dsp:txBody>
      <dsp:txXfrm>
        <a:off x="23874" y="5152910"/>
        <a:ext cx="6767919" cy="441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15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5/4/2026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9F014-595B-83F1-44E7-60F561FD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FFD65-49A2-B767-101A-2B2A980C2FCC}"/>
              </a:ext>
            </a:extLst>
          </p:cNvPr>
          <p:cNvSpPr txBox="1"/>
          <p:nvPr/>
        </p:nvSpPr>
        <p:spPr>
          <a:xfrm>
            <a:off x="609601" y="4109"/>
            <a:ext cx="4011084" cy="11620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lnSpcReduction="1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000" b="1" kern="1200">
                <a:latin typeface="Adobe Devanagari"/>
                <a:ea typeface="+mj-ea"/>
                <a:cs typeface="Adobe Devanagari" pitchFamily="18" charset="0"/>
              </a:rPr>
              <a:t>    </a:t>
            </a:r>
            <a:r>
              <a:rPr lang="en-US" sz="3600" b="1" kern="1200">
                <a:latin typeface="Adobe Devanagari"/>
                <a:ea typeface="+mj-ea"/>
                <a:cs typeface="Adobe Devanagari" pitchFamily="18" charset="0"/>
              </a:rPr>
              <a:t>                               📲</a:t>
            </a:r>
            <a:r>
              <a:rPr lang="en-US" sz="3600" b="1" kern="1200" err="1">
                <a:latin typeface="Adobe Devanagari"/>
                <a:ea typeface="+mj-ea"/>
                <a:cs typeface="Adobe Devanagari" pitchFamily="18" charset="0"/>
              </a:rPr>
              <a:t>Fitnorish.Ai</a:t>
            </a:r>
            <a:endParaRPr lang="en-US" sz="3600" b="1" kern="1200">
              <a:latin typeface="Adobe Devanagari"/>
              <a:ea typeface="+mj-ea"/>
              <a:cs typeface="Adobe Devanagari" pitchFamily="18" charset="0"/>
            </a:endParaRP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1E8D770E-7029-97FA-7584-C20BFDD4BB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400821"/>
              </p:ext>
            </p:extLst>
          </p:nvPr>
        </p:nvGraphicFramePr>
        <p:xfrm>
          <a:off x="4766733" y="273051"/>
          <a:ext cx="6815667" cy="585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4" name="Picture 33" descr="A computer generated image of a machine&#10;&#10;AI-generated content may be incorrect.">
            <a:extLst>
              <a:ext uri="{FF2B5EF4-FFF2-40B4-BE49-F238E27FC236}">
                <a16:creationId xmlns:a16="http://schemas.microsoft.com/office/drawing/2014/main" id="{8E960B8D-8521-BE2D-6EC6-92F6B23ECF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060" y="1594036"/>
            <a:ext cx="4011704" cy="365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7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AD4E0-F3C8-1B24-C9B7-82C33A1E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AB4E9A-A325-7E65-47E0-32933D482C02}"/>
              </a:ext>
            </a:extLst>
          </p:cNvPr>
          <p:cNvSpPr txBox="1"/>
          <p:nvPr/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atin typeface="Adobe Devanagari"/>
                <a:ea typeface="+mj-ea"/>
                <a:cs typeface="Adobe Devanagari" pitchFamily="18" charset="0"/>
              </a:rPr>
              <a:t>                                   📲</a:t>
            </a:r>
            <a:r>
              <a:rPr lang="en-US" sz="3600" b="1" kern="1200" err="1">
                <a:latin typeface="Adobe Devanagari"/>
                <a:ea typeface="+mj-ea"/>
                <a:cs typeface="Adobe Devanagari" pitchFamily="18" charset="0"/>
              </a:rPr>
              <a:t>Fitnorish.Ai</a:t>
            </a:r>
            <a:endParaRPr lang="en-US" sz="3600" b="1" kern="1200">
              <a:latin typeface="Adobe Devanagari"/>
              <a:ea typeface="+mj-ea"/>
              <a:cs typeface="Adobe Devanagari" pitchFamily="18" charset="0"/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38EDA3B1-009D-E314-E87D-05752D77E7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8160231"/>
              </p:ext>
            </p:extLst>
          </p:nvPr>
        </p:nvGraphicFramePr>
        <p:xfrm>
          <a:off x="4766733" y="273051"/>
          <a:ext cx="6815667" cy="585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Picture 17" descr="A group of hands holding a cloud shaped sign&#10;&#10;AI-generated content may be incorrect.">
            <a:extLst>
              <a:ext uri="{FF2B5EF4-FFF2-40B4-BE49-F238E27FC236}">
                <a16:creationId xmlns:a16="http://schemas.microsoft.com/office/drawing/2014/main" id="{5B763917-8477-B85F-69B8-2B6FA89607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824" y="1750079"/>
            <a:ext cx="4191000" cy="335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7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A0350-5F12-7361-3847-0A209F69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2B6A5-5FB0-1BCC-A779-5E440715BD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6467" y="1696233"/>
            <a:ext cx="5409159" cy="462836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/>
              <a:t> </a:t>
            </a:r>
            <a:r>
              <a:rPr lang="en-US" sz="2400">
                <a:solidFill>
                  <a:schemeClr val="accent5">
                    <a:lumMod val="76000"/>
                  </a:schemeClr>
                </a:solidFill>
              </a:rPr>
              <a:t>Smart &amp; Intelligent Design</a:t>
            </a:r>
            <a:endParaRPr lang="en-US" sz="2400">
              <a:solidFill>
                <a:schemeClr val="accent5">
                  <a:lumMod val="76000"/>
                </a:schemeClr>
              </a:solidFill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Collects </a:t>
            </a:r>
            <a:r>
              <a:rPr lang="en-US" sz="2000" b="1">
                <a:ea typeface="+mn-lt"/>
                <a:cs typeface="+mn-lt"/>
              </a:rPr>
              <a:t>health, activity, and lifestyle data</a:t>
            </a:r>
            <a:endParaRPr lang="en-US" sz="20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Uses </a:t>
            </a:r>
            <a:r>
              <a:rPr lang="en-US" sz="2000" b="1">
                <a:ea typeface="+mn-lt"/>
                <a:cs typeface="+mn-lt"/>
              </a:rPr>
              <a:t>Machine Learning</a:t>
            </a:r>
            <a:r>
              <a:rPr lang="en-US" sz="2000">
                <a:ea typeface="+mn-lt"/>
                <a:cs typeface="+mn-lt"/>
              </a:rPr>
              <a:t> to predict:</a:t>
            </a:r>
            <a:endParaRPr lang="en-US" sz="2000">
              <a:ea typeface="Cambria"/>
            </a:endParaRPr>
          </a:p>
          <a:p>
            <a:pPr marL="1028700" lvl="1">
              <a:buFont typeface="Wingdings"/>
              <a:buChar char="Ø"/>
            </a:pPr>
            <a:r>
              <a:rPr lang="en-US" sz="2000">
                <a:ea typeface="+mn-lt"/>
                <a:cs typeface="+mn-lt"/>
              </a:rPr>
              <a:t>Daily calories</a:t>
            </a:r>
            <a:endParaRPr lang="en-US" sz="2000">
              <a:ea typeface="Cambria"/>
            </a:endParaRPr>
          </a:p>
          <a:p>
            <a:pPr marL="1028700" lvl="1">
              <a:buFont typeface="Wingdings"/>
              <a:buChar char="Ø"/>
            </a:pPr>
            <a:r>
              <a:rPr lang="en-US" sz="2000">
                <a:ea typeface="+mn-lt"/>
                <a:cs typeface="+mn-lt"/>
              </a:rPr>
              <a:t>Protein, carbs, and fat needs</a:t>
            </a:r>
            <a:endParaRPr lang="en-US" sz="20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Supports </a:t>
            </a:r>
            <a:r>
              <a:rPr lang="en-US" sz="2000" b="1">
                <a:ea typeface="+mn-lt"/>
                <a:cs typeface="+mn-lt"/>
              </a:rPr>
              <a:t>multi-disease nutrition planning</a:t>
            </a:r>
            <a:endParaRPr lang="en-US" sz="2000">
              <a:ea typeface="Cambria"/>
            </a:endParaRPr>
          </a:p>
          <a:p>
            <a:pPr indent="0">
              <a:buNone/>
            </a:pPr>
            <a:r>
              <a:rPr lang="en-US" sz="2000"/>
              <a:t>Cost &amp; Meal Intelligence</a:t>
            </a:r>
            <a:endParaRPr lang="en-US" sz="20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Compares grocery prices across stores</a:t>
            </a:r>
            <a:endParaRPr lang="en-US" sz="20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Suggests </a:t>
            </a:r>
            <a:r>
              <a:rPr lang="en-US" sz="2000" b="1">
                <a:ea typeface="+mn-lt"/>
                <a:cs typeface="+mn-lt"/>
              </a:rPr>
              <a:t>cheaper nutrition-equivalent alternatives</a:t>
            </a:r>
            <a:endParaRPr lang="en-US" sz="20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Analyzes meal images to estimate </a:t>
            </a:r>
            <a:r>
              <a:rPr lang="en-US" sz="2000" b="1">
                <a:ea typeface="+mn-lt"/>
                <a:cs typeface="+mn-lt"/>
              </a:rPr>
              <a:t>calories and nutrients</a:t>
            </a:r>
            <a:endParaRPr lang="en-US" sz="2000">
              <a:ea typeface="Cambria"/>
            </a:endParaRPr>
          </a:p>
          <a:p>
            <a:pPr indent="0">
              <a:buNone/>
            </a:pPr>
            <a:endParaRPr lang="en-US" sz="2400">
              <a:solidFill>
                <a:schemeClr val="accent5">
                  <a:lumMod val="76000"/>
                </a:schemeClr>
              </a:solidFill>
              <a:ea typeface="Cambria"/>
            </a:endParaRPr>
          </a:p>
          <a:p>
            <a:pPr>
              <a:buNone/>
            </a:pPr>
            <a:endParaRPr lang="en-US">
              <a:ea typeface="Cambria"/>
            </a:endParaRPr>
          </a:p>
          <a:p>
            <a:pPr marL="0" indent="0">
              <a:buNone/>
            </a:pPr>
            <a:endParaRPr lang="en-US" sz="2400">
              <a:ea typeface="Cambria"/>
            </a:endParaRPr>
          </a:p>
          <a:p>
            <a:endParaRPr lang="en-US"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F4F84-C42B-AFCC-F0DB-9E6115ECAA68}"/>
              </a:ext>
            </a:extLst>
          </p:cNvPr>
          <p:cNvSpPr txBox="1"/>
          <p:nvPr/>
        </p:nvSpPr>
        <p:spPr>
          <a:xfrm>
            <a:off x="607196" y="265228"/>
            <a:ext cx="1081204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>
                <a:ea typeface="Cambria"/>
              </a:rPr>
              <a:t>                                   📲</a:t>
            </a:r>
            <a:r>
              <a:rPr lang="en-GB" sz="4000" err="1">
                <a:ea typeface="Cambria"/>
              </a:rPr>
              <a:t>Fitnorish.Ai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4E538-03ED-EADC-021B-61CBD32E524C}"/>
              </a:ext>
            </a:extLst>
          </p:cNvPr>
          <p:cNvSpPr txBox="1"/>
          <p:nvPr/>
        </p:nvSpPr>
        <p:spPr>
          <a:xfrm>
            <a:off x="6476386" y="1694076"/>
            <a:ext cx="5384103" cy="49428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>
              <a:spcBef>
                <a:spcPct val="20000"/>
              </a:spcBef>
            </a:pPr>
            <a:r>
              <a:rPr lang="en-US" sz="2400">
                <a:solidFill>
                  <a:schemeClr val="accent5">
                    <a:lumMod val="76000"/>
                  </a:schemeClr>
                </a:solidFill>
                <a:ea typeface="Cambria"/>
              </a:rPr>
              <a:t>Technical Strength</a:t>
            </a:r>
            <a:endParaRPr lang="en-US">
              <a:solidFill>
                <a:schemeClr val="accent5">
                  <a:lumMod val="76000"/>
                </a:schemeClr>
              </a:solidFill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2000">
                <a:ea typeface="Cambria"/>
              </a:rPr>
              <a:t>Mobile-first, </a:t>
            </a:r>
            <a:r>
              <a:rPr lang="en-US" sz="2000" b="1">
                <a:ea typeface="Cambria"/>
              </a:rPr>
              <a:t>user-friendly UI</a:t>
            </a:r>
            <a:endParaRPr lang="en-US" sz="2000">
              <a:ea typeface="Cambria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2000">
                <a:ea typeface="Cambria"/>
              </a:rPr>
              <a:t>Backend: </a:t>
            </a:r>
            <a:r>
              <a:rPr lang="en-US" sz="2000" b="1" err="1">
                <a:ea typeface="Cambria"/>
              </a:rPr>
              <a:t>FastAPI</a:t>
            </a:r>
            <a:r>
              <a:rPr lang="en-US" sz="2000">
                <a:ea typeface="Cambria"/>
              </a:rPr>
              <a:t>, ML models, PostgreSQL</a:t>
            </a: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r>
              <a:rPr lang="en-US" sz="2000">
                <a:ea typeface="Cambria"/>
              </a:rPr>
              <a:t>Ready for </a:t>
            </a:r>
            <a:r>
              <a:rPr lang="en-US" sz="2000" b="1">
                <a:ea typeface="Cambria"/>
              </a:rPr>
              <a:t>smartwatch and wearable integration</a:t>
            </a:r>
          </a:p>
          <a:p>
            <a:pPr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  Supports multi-disease awareness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 b="1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    (diabetes &amp; hypertension)</a:t>
            </a:r>
            <a:endParaRPr lang="en-US" sz="2000" b="1">
              <a:ea typeface="Cambria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Rule-based + ML hybrid approach</a:t>
            </a:r>
            <a:r>
              <a:rPr lang="en-US" sz="2000">
                <a:ea typeface="+mn-lt"/>
                <a:cs typeface="+mn-lt"/>
              </a:rPr>
              <a:t> improves </a:t>
            </a:r>
          </a:p>
          <a:p>
            <a:r>
              <a:rPr lang="en-US" sz="2000">
                <a:ea typeface="+mn-lt"/>
                <a:cs typeface="+mn-lt"/>
              </a:rPr>
              <a:t>    reliability and explainability</a:t>
            </a:r>
            <a:endParaRPr lang="en-US" sz="2000">
              <a:ea typeface="Cambria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Scalable architecture</a:t>
            </a:r>
            <a:r>
              <a:rPr lang="en-US" sz="2000">
                <a:ea typeface="+mn-lt"/>
                <a:cs typeface="+mn-lt"/>
              </a:rPr>
              <a:t> suitable for adding new health conditions and features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Local and Sri Lanka–context aware design</a:t>
            </a:r>
            <a:r>
              <a:rPr lang="en-US" sz="2000">
                <a:ea typeface="+mn-lt"/>
                <a:cs typeface="+mn-lt"/>
              </a:rPr>
              <a:t> (nutrition and lifestyle suitability)</a:t>
            </a:r>
            <a:endParaRPr lang="en-US">
              <a:ea typeface="Cambria"/>
            </a:endParaRPr>
          </a:p>
          <a:p>
            <a:pPr marL="285750" indent="-285750">
              <a:spcBef>
                <a:spcPct val="20000"/>
              </a:spcBef>
              <a:buFont typeface="Arial"/>
              <a:buChar char="•"/>
            </a:pPr>
            <a:endParaRPr lang="en-US" sz="1600" b="1">
              <a:ea typeface="Cambr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BBB3E-534E-390A-D20E-484C4C2DBB84}"/>
              </a:ext>
            </a:extLst>
          </p:cNvPr>
          <p:cNvSpPr txBox="1"/>
          <p:nvPr/>
        </p:nvSpPr>
        <p:spPr>
          <a:xfrm>
            <a:off x="3919868" y="1133588"/>
            <a:ext cx="586426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mbria"/>
              </a:rPr>
              <a:t> Design Excellence of the Solution</a:t>
            </a:r>
            <a:endParaRPr lang="en-GB" sz="2400">
              <a:ea typeface="Cambria"/>
            </a:endParaRPr>
          </a:p>
          <a:p>
            <a:pPr algn="l"/>
            <a:endParaRPr lang="en-GB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24635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IT22907684 |</a:t>
            </a:r>
            <a:r>
              <a:rPr lang="en-US" err="1"/>
              <a:t>Weerarathne</a:t>
            </a:r>
            <a:r>
              <a:rPr lang="en-US"/>
              <a:t> H.P                         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​</a:t>
            </a:r>
            <a:br>
              <a:rPr lang="en-GB"/>
            </a:br>
            <a:r>
              <a:rPr lang="en-GB"/>
              <a:t>AI-powered Multi-Disease Adaptive Nutrition and Personalized Health Optimization​</a:t>
            </a:r>
            <a:endParaRPr lang="en-US"/>
          </a:p>
          <a:p>
            <a:endParaRPr lang="en-US"/>
          </a:p>
          <a:p>
            <a:r>
              <a:rPr lang="en-GB"/>
              <a:t>BSc (Hons) in Information Technology Specialization in Information Technology​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IT22907684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err="1">
                <a:solidFill>
                  <a:schemeClr val="tx1"/>
                </a:solidFill>
              </a:rPr>
              <a:t>Weerarathne</a:t>
            </a:r>
            <a:r>
              <a:rPr lang="en-US">
                <a:solidFill>
                  <a:schemeClr val="tx1"/>
                </a:solidFill>
              </a:rPr>
              <a:t> H.P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25-26J-386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903EE-2A29-5545-652C-45D910718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79" y="116106"/>
            <a:ext cx="2220621" cy="237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95827-CE5B-225F-9217-393418E4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46DA786-ACA5-C0AE-4023-7C4CA3154471}"/>
              </a:ext>
            </a:extLst>
          </p:cNvPr>
          <p:cNvSpPr/>
          <p:nvPr/>
        </p:nvSpPr>
        <p:spPr>
          <a:xfrm>
            <a:off x="2736501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IT22907684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err="1">
                <a:solidFill>
                  <a:schemeClr val="tx1"/>
                </a:solidFill>
              </a:rPr>
              <a:t>Weerarathne</a:t>
            </a:r>
            <a:r>
              <a:rPr lang="en-US">
                <a:solidFill>
                  <a:schemeClr val="tx1"/>
                </a:solidFill>
              </a:rPr>
              <a:t> H.P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25-26J-386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FE4B8539-83B6-75A7-38F5-AC650E31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-228600"/>
            <a:ext cx="10363200" cy="1362075"/>
          </a:xfrm>
        </p:spPr>
        <p:txBody>
          <a:bodyPr>
            <a:normAutofit/>
          </a:bodyPr>
          <a:lstStyle/>
          <a:p>
            <a:r>
              <a:rPr lang="en-GB" sz="2000"/>
              <a:t>​</a:t>
            </a:r>
            <a:br>
              <a:rPr lang="en-GB" sz="2000"/>
            </a:br>
            <a:r>
              <a:rPr lang="en-GB" sz="2000"/>
              <a:t>AI-powered Multi-Disease Adaptive Nutrition and Personalized Health Optimization​</a:t>
            </a:r>
            <a:br>
              <a:rPr lang="en-US" sz="2000"/>
            </a:br>
            <a:endParaRPr lang="en-US" sz="200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5825777B-62FE-F513-E56B-3465238202B0}"/>
              </a:ext>
            </a:extLst>
          </p:cNvPr>
          <p:cNvSpPr txBox="1">
            <a:spLocks/>
          </p:cNvSpPr>
          <p:nvPr/>
        </p:nvSpPr>
        <p:spPr>
          <a:xfrm>
            <a:off x="963084" y="-228600"/>
            <a:ext cx="10363200" cy="136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GB" sz="2000"/>
              <a:t>​</a:t>
            </a:r>
            <a:br>
              <a:rPr lang="en-GB" sz="2000"/>
            </a:br>
            <a:r>
              <a:rPr lang="en-GB" sz="2000"/>
              <a:t>AI-powered Multi-Disease Adaptive Nutrition and Personalized Health Optimization​</a:t>
            </a:r>
            <a:br>
              <a:rPr lang="en-US" sz="2000"/>
            </a:br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B64BA-4395-6CAB-C0AC-EE1CE95C5CFA}"/>
              </a:ext>
            </a:extLst>
          </p:cNvPr>
          <p:cNvSpPr txBox="1"/>
          <p:nvPr/>
        </p:nvSpPr>
        <p:spPr>
          <a:xfrm>
            <a:off x="848610" y="1267114"/>
            <a:ext cx="11299847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Many users do not know </a:t>
            </a:r>
            <a:r>
              <a:rPr lang="en-GB" b="1"/>
              <a:t>how many calories</a:t>
            </a:r>
            <a:r>
              <a:rPr lang="en-GB"/>
              <a:t> they need per day</a:t>
            </a:r>
            <a:endParaRPr lang="en-US"/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Most apps give </a:t>
            </a:r>
            <a:r>
              <a:rPr lang="en-GB" b="1"/>
              <a:t>same values for everyone</a:t>
            </a:r>
            <a:r>
              <a:rPr lang="en-GB"/>
              <a:t> and do not consider health problems</a:t>
            </a:r>
            <a:endParaRPr lang="en-GB">
              <a:ea typeface="Cambria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This solution calculates </a:t>
            </a:r>
            <a:r>
              <a:rPr lang="en-GB" b="1"/>
              <a:t>daily calorie needs</a:t>
            </a:r>
            <a:r>
              <a:rPr lang="en-GB"/>
              <a:t> using the user’s body details</a:t>
            </a:r>
            <a:endParaRPr lang="en-GB">
              <a:ea typeface="Cambria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It also calculates </a:t>
            </a:r>
            <a:r>
              <a:rPr lang="en-GB" b="1"/>
              <a:t>protein, carbohydrates, and fat needs</a:t>
            </a:r>
            <a:endParaRPr lang="en-GB">
              <a:ea typeface="Cambria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The system uses </a:t>
            </a:r>
            <a:r>
              <a:rPr lang="en-GB" b="1"/>
              <a:t>phone activity data</a:t>
            </a:r>
            <a:r>
              <a:rPr lang="en-GB"/>
              <a:t> (steps and active calories)</a:t>
            </a:r>
            <a:endParaRPr lang="en-GB">
              <a:ea typeface="Cambria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A </a:t>
            </a:r>
            <a:r>
              <a:rPr lang="en-GB" b="1"/>
              <a:t>smartwatch snapshot</a:t>
            </a:r>
            <a:r>
              <a:rPr lang="en-GB"/>
              <a:t> is used to check stress and heart rate for safety</a:t>
            </a:r>
            <a:endParaRPr lang="en-GB">
              <a:ea typeface="Cambria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The solution changes results if the user has </a:t>
            </a:r>
            <a:r>
              <a:rPr lang="en-GB" b="1"/>
              <a:t>diabetes or hypertension</a:t>
            </a:r>
            <a:endParaRPr lang="en-GB">
              <a:ea typeface="Cambria"/>
            </a:endParaRPr>
          </a:p>
          <a:p>
            <a:r>
              <a:rPr lang="en-GB"/>
              <a:t>👉 The prototype shows how user inputs are converted into </a:t>
            </a:r>
            <a:r>
              <a:rPr lang="en-GB" b="1"/>
              <a:t>clear nutrition values</a:t>
            </a:r>
            <a:r>
              <a:rPr lang="en-GB"/>
              <a:t>.</a:t>
            </a:r>
            <a:endParaRPr lang="en-GB">
              <a:ea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E85DAF-77D4-E444-5863-1C407E25F9C8}"/>
              </a:ext>
            </a:extLst>
          </p:cNvPr>
          <p:cNvSpPr txBox="1"/>
          <p:nvPr/>
        </p:nvSpPr>
        <p:spPr>
          <a:xfrm>
            <a:off x="381000" y="762000"/>
            <a:ext cx="6820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🔹 How the Solution will Address the Sub-Problem / Prototype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FC7BF-D75A-2F87-BA39-AD35E1B8B919}"/>
              </a:ext>
            </a:extLst>
          </p:cNvPr>
          <p:cNvSpPr txBox="1"/>
          <p:nvPr/>
        </p:nvSpPr>
        <p:spPr>
          <a:xfrm>
            <a:off x="457200" y="3892999"/>
            <a:ext cx="982980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/>
              <a:t>🔹 User Requirements Addressed by the Solution</a:t>
            </a:r>
            <a:br>
              <a:rPr lang="en-GB" b="1"/>
            </a:br>
            <a:endParaRPr lang="en-GB"/>
          </a:p>
          <a:p>
            <a:endParaRPr lang="en-GB" b="1">
              <a:ea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1184A-A9B9-C88A-0425-7B38170FD971}"/>
              </a:ext>
            </a:extLst>
          </p:cNvPr>
          <p:cNvSpPr txBox="1"/>
          <p:nvPr/>
        </p:nvSpPr>
        <p:spPr>
          <a:xfrm>
            <a:off x="963084" y="4267200"/>
            <a:ext cx="256116" cy="152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C2F4806-D744-BB01-49EA-74ACB4FE6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88" y="469243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4A2F9B-83E5-BF10-BC2C-DCB637C448B1}"/>
              </a:ext>
            </a:extLst>
          </p:cNvPr>
          <p:cNvSpPr txBox="1"/>
          <p:nvPr/>
        </p:nvSpPr>
        <p:spPr>
          <a:xfrm>
            <a:off x="845507" y="4462397"/>
            <a:ext cx="1043835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Arial"/>
              <a:buChar char="•"/>
            </a:pPr>
            <a:r>
              <a:rPr lang="en-GB" sz="1800" baseline="0">
                <a:latin typeface="Cambria"/>
                <a:ea typeface="Arial"/>
                <a:cs typeface="Arial"/>
              </a:rPr>
              <a:t>Users can </a:t>
            </a:r>
            <a:r>
              <a:rPr lang="en-GB" sz="1800" b="1" baseline="0">
                <a:latin typeface="Cambria"/>
                <a:ea typeface="Arial"/>
                <a:cs typeface="Arial"/>
              </a:rPr>
              <a:t>enter basic personal details</a:t>
            </a:r>
            <a:r>
              <a:rPr lang="en-GB" sz="1800" baseline="0">
                <a:latin typeface="Cambria"/>
                <a:ea typeface="Arial"/>
                <a:cs typeface="Arial"/>
              </a:rPr>
              <a:t> easily</a:t>
            </a:r>
            <a:r>
              <a:rPr lang="en-US" sz="1800">
                <a:latin typeface="Cambria"/>
                <a:ea typeface="Arial"/>
                <a:cs typeface="Arial"/>
              </a:rPr>
              <a:t>​</a:t>
            </a:r>
            <a:endParaRPr lang="en-US"/>
          </a:p>
          <a:p>
            <a:pPr marL="285750" lvl="0" indent="-285750" rtl="0">
              <a:buFont typeface="Arial"/>
              <a:buChar char="•"/>
            </a:pPr>
            <a:r>
              <a:rPr lang="en-GB" sz="1800" baseline="0">
                <a:latin typeface="Cambria"/>
                <a:ea typeface="Arial"/>
                <a:cs typeface="Arial"/>
              </a:rPr>
              <a:t>Users with </a:t>
            </a:r>
            <a:r>
              <a:rPr lang="en-GB" sz="1800" b="1" baseline="0">
                <a:latin typeface="Cambria"/>
                <a:ea typeface="Arial"/>
                <a:cs typeface="Arial"/>
              </a:rPr>
              <a:t>health conditions</a:t>
            </a:r>
            <a:r>
              <a:rPr lang="en-GB" sz="1800" baseline="0">
                <a:latin typeface="Cambria"/>
                <a:ea typeface="Arial"/>
                <a:cs typeface="Arial"/>
              </a:rPr>
              <a:t> can safely use the system</a:t>
            </a:r>
            <a:r>
              <a:rPr lang="en-US" sz="1800">
                <a:latin typeface="Cambria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"/>
              <a:buChar char="•"/>
            </a:pPr>
            <a:r>
              <a:rPr lang="en-GB" sz="1800" baseline="0">
                <a:latin typeface="Cambria"/>
                <a:ea typeface="Arial"/>
                <a:cs typeface="Arial"/>
              </a:rPr>
              <a:t>Daily activity is </a:t>
            </a:r>
            <a:r>
              <a:rPr lang="en-GB" sz="1800" b="1" baseline="0">
                <a:latin typeface="Cambria"/>
                <a:ea typeface="Arial"/>
                <a:cs typeface="Arial"/>
              </a:rPr>
              <a:t>automatically considered</a:t>
            </a:r>
            <a:r>
              <a:rPr lang="en-GB" sz="1800" baseline="0">
                <a:latin typeface="Cambria"/>
                <a:ea typeface="Arial"/>
                <a:cs typeface="Arial"/>
              </a:rPr>
              <a:t> using Smart watch data</a:t>
            </a:r>
            <a:r>
              <a:rPr lang="en-US" sz="1800">
                <a:latin typeface="Cambria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"/>
              <a:buChar char="•"/>
            </a:pPr>
            <a:r>
              <a:rPr lang="en-GB" sz="1800" baseline="0">
                <a:latin typeface="Cambria"/>
                <a:ea typeface="Arial"/>
                <a:cs typeface="Arial"/>
              </a:rPr>
              <a:t>Users do not need to manually calculate calories</a:t>
            </a:r>
            <a:r>
              <a:rPr lang="en-US" sz="1800">
                <a:latin typeface="Cambria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"/>
              <a:buChar char="•"/>
            </a:pPr>
            <a:r>
              <a:rPr lang="en-GB" sz="1800" baseline="0">
                <a:latin typeface="Cambria"/>
                <a:ea typeface="Arial"/>
                <a:cs typeface="Arial"/>
              </a:rPr>
              <a:t>Results are shown in </a:t>
            </a:r>
            <a:r>
              <a:rPr lang="en-GB" sz="1800" b="1" baseline="0">
                <a:latin typeface="Cambria"/>
                <a:ea typeface="Arial"/>
                <a:cs typeface="Arial"/>
              </a:rPr>
              <a:t>simple numbers</a:t>
            </a:r>
            <a:r>
              <a:rPr lang="en-GB" sz="1800" baseline="0">
                <a:latin typeface="Cambria"/>
                <a:ea typeface="Arial"/>
                <a:cs typeface="Arial"/>
              </a:rPr>
              <a:t> (kcal, grams of protein, carbs, fat)</a:t>
            </a:r>
            <a:r>
              <a:rPr lang="en-US" sz="1800">
                <a:latin typeface="Cambria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"/>
              <a:buChar char="•"/>
            </a:pPr>
            <a:r>
              <a:rPr lang="en-GB" sz="1800" baseline="0">
                <a:latin typeface="Cambria"/>
                <a:ea typeface="Arial"/>
                <a:cs typeface="Arial"/>
              </a:rPr>
              <a:t>The system avoids giving unsafe recommendations</a:t>
            </a:r>
            <a:r>
              <a:rPr lang="en-GB" sz="1800">
                <a:latin typeface="Cambria"/>
                <a:ea typeface="Arial"/>
                <a:cs typeface="Arial"/>
              </a:rPr>
              <a:t>​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18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F3BA-3ADA-FEAE-52E3-EA3C13D2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6CCA68-020D-9899-644C-4058911B1E8F}"/>
              </a:ext>
            </a:extLst>
          </p:cNvPr>
          <p:cNvSpPr/>
          <p:nvPr/>
        </p:nvSpPr>
        <p:spPr>
          <a:xfrm>
            <a:off x="2736501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IT22907684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err="1">
                <a:solidFill>
                  <a:schemeClr val="tx1"/>
                </a:solidFill>
              </a:rPr>
              <a:t>Weerarathne</a:t>
            </a:r>
            <a:r>
              <a:rPr lang="en-US">
                <a:solidFill>
                  <a:schemeClr val="tx1"/>
                </a:solidFill>
              </a:rPr>
              <a:t> H.P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25-26J-386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3F8FA1E-171D-10F7-EBCC-BCDB13A6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-228600"/>
            <a:ext cx="10363200" cy="1362075"/>
          </a:xfrm>
        </p:spPr>
        <p:txBody>
          <a:bodyPr>
            <a:normAutofit/>
          </a:bodyPr>
          <a:lstStyle/>
          <a:p>
            <a:r>
              <a:rPr lang="en-GB" sz="2000"/>
              <a:t>​</a:t>
            </a:r>
            <a:br>
              <a:rPr lang="en-GB" sz="2000"/>
            </a:br>
            <a:r>
              <a:rPr lang="en-GB" sz="2000"/>
              <a:t>AI-powered Multi-Disease Adaptive Nutrition and Personalized Health Optimization​</a:t>
            </a:r>
            <a:br>
              <a:rPr lang="en-US" sz="2000"/>
            </a:br>
            <a:endParaRPr lang="en-US" sz="200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BCA05A8-EFCD-7610-1156-CCF8FCB8AF40}"/>
              </a:ext>
            </a:extLst>
          </p:cNvPr>
          <p:cNvSpPr txBox="1">
            <a:spLocks/>
          </p:cNvSpPr>
          <p:nvPr/>
        </p:nvSpPr>
        <p:spPr>
          <a:xfrm>
            <a:off x="963084" y="-228600"/>
            <a:ext cx="10363200" cy="136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GB" sz="2000"/>
              <a:t>​</a:t>
            </a:r>
            <a:br>
              <a:rPr lang="en-GB" sz="2000"/>
            </a:br>
            <a:r>
              <a:rPr lang="en-GB" sz="2000"/>
              <a:t>AI-powered Multi-Disease Adaptive Nutrition and Personalized Health Optimization​</a:t>
            </a:r>
            <a:br>
              <a:rPr lang="en-US" sz="2000"/>
            </a:br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1A3CD9-D768-8CF7-97A6-BA60AF74171A}"/>
              </a:ext>
            </a:extLst>
          </p:cNvPr>
          <p:cNvSpPr txBox="1"/>
          <p:nvPr/>
        </p:nvSpPr>
        <p:spPr>
          <a:xfrm>
            <a:off x="963084" y="4267200"/>
            <a:ext cx="256116" cy="152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A3A17D3-2CC5-DAAE-41A7-20EC66C2F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88" y="469243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  <p:pic>
        <p:nvPicPr>
          <p:cNvPr id="13" name="Picture 12" descr="A screenshot of a computer">
            <a:extLst>
              <a:ext uri="{FF2B5EF4-FFF2-40B4-BE49-F238E27FC236}">
                <a16:creationId xmlns:a16="http://schemas.microsoft.com/office/drawing/2014/main" id="{8C2A2F85-937C-9B79-9BCA-1C94AFCF1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" y="828848"/>
            <a:ext cx="11125200" cy="520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05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F8E4-8BAA-AAAC-1ADB-7FB6F7C2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240B27-CA79-09E2-752E-28F967AF834B}"/>
              </a:ext>
            </a:extLst>
          </p:cNvPr>
          <p:cNvSpPr/>
          <p:nvPr/>
        </p:nvSpPr>
        <p:spPr>
          <a:xfrm>
            <a:off x="2736501" y="6520867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IT22907684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err="1">
                <a:solidFill>
                  <a:schemeClr val="tx1"/>
                </a:solidFill>
              </a:rPr>
              <a:t>Weerarathne</a:t>
            </a:r>
            <a:r>
              <a:rPr lang="en-US">
                <a:solidFill>
                  <a:schemeClr val="tx1"/>
                </a:solidFill>
              </a:rPr>
              <a:t> H.P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25-26J-386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4633F37-CC4E-9765-75EA-62B95256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-228600"/>
            <a:ext cx="10363200" cy="1362075"/>
          </a:xfrm>
        </p:spPr>
        <p:txBody>
          <a:bodyPr>
            <a:normAutofit/>
          </a:bodyPr>
          <a:lstStyle/>
          <a:p>
            <a:r>
              <a:rPr lang="en-GB" sz="2000"/>
              <a:t>​</a:t>
            </a:r>
            <a:br>
              <a:rPr lang="en-GB" sz="2000"/>
            </a:br>
            <a:r>
              <a:rPr lang="en-GB" sz="2000"/>
              <a:t>AI-powered Multi-Disease Adaptive Nutrition and Personalized Health Optimization​</a:t>
            </a:r>
            <a:br>
              <a:rPr lang="en-US" sz="2000"/>
            </a:br>
            <a:endParaRPr lang="en-US"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495516-02BF-86F7-E97E-8BE90649795A}"/>
              </a:ext>
            </a:extLst>
          </p:cNvPr>
          <p:cNvSpPr txBox="1"/>
          <p:nvPr/>
        </p:nvSpPr>
        <p:spPr>
          <a:xfrm>
            <a:off x="848610" y="1267114"/>
            <a:ext cx="11299847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Designed a </a:t>
            </a:r>
            <a:r>
              <a:rPr lang="en-GB" b="1"/>
              <a:t>step-by-step calculation method</a:t>
            </a:r>
            <a:r>
              <a:rPr lang="en-GB"/>
              <a:t> that is easy to explain</a:t>
            </a:r>
            <a:endParaRPr lang="en-US"/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Used </a:t>
            </a:r>
            <a:r>
              <a:rPr lang="en-GB" b="1"/>
              <a:t>scientific formulas</a:t>
            </a:r>
            <a:r>
              <a:rPr lang="en-GB"/>
              <a:t> instead of guessing values</a:t>
            </a:r>
            <a:endParaRPr lang="en-GB">
              <a:ea typeface="Cambria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Added </a:t>
            </a:r>
            <a:r>
              <a:rPr lang="en-GB" b="1"/>
              <a:t>health-condition-based rules</a:t>
            </a:r>
            <a:r>
              <a:rPr lang="en-GB"/>
              <a:t> for better accuracy</a:t>
            </a:r>
            <a:endParaRPr lang="en-GB">
              <a:ea typeface="Cambria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Used </a:t>
            </a:r>
            <a:r>
              <a:rPr lang="en-GB" b="1"/>
              <a:t>fixed percentages</a:t>
            </a:r>
            <a:r>
              <a:rPr lang="en-GB"/>
              <a:t> so results are consistent and reliable</a:t>
            </a:r>
            <a:endParaRPr lang="en-GB">
              <a:ea typeface="Cambria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Added </a:t>
            </a:r>
            <a:r>
              <a:rPr lang="en-GB" b="1"/>
              <a:t>safety checks</a:t>
            </a:r>
            <a:r>
              <a:rPr lang="en-GB"/>
              <a:t> using smartwatch stress and heart rate</a:t>
            </a:r>
            <a:endParaRPr lang="en-GB">
              <a:ea typeface="Cambria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GB"/>
              <a:t>Collect a </a:t>
            </a:r>
            <a:r>
              <a:rPr lang="en-GB" b="1"/>
              <a:t>realistic Sri Lankan dataset</a:t>
            </a:r>
            <a:r>
              <a:rPr lang="en-GB"/>
              <a:t> for testing and learning</a:t>
            </a:r>
            <a:endParaRPr lang="en-GB">
              <a:ea typeface="Cambria"/>
            </a:endParaRPr>
          </a:p>
          <a:p>
            <a:r>
              <a:rPr lang="en-GB"/>
              <a:t>👉 This makes the system </a:t>
            </a:r>
            <a:r>
              <a:rPr lang="en-GB" b="1"/>
              <a:t>reliable, safe, and explainable</a:t>
            </a:r>
            <a:r>
              <a:rPr lang="en-GB"/>
              <a:t>.</a:t>
            </a:r>
            <a:endParaRPr lang="en-GB">
              <a:ea typeface="Cambria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GB">
              <a:ea typeface="Cambr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446A73-1688-0691-8DD0-3A9E8B750EFA}"/>
              </a:ext>
            </a:extLst>
          </p:cNvPr>
          <p:cNvSpPr txBox="1"/>
          <p:nvPr/>
        </p:nvSpPr>
        <p:spPr>
          <a:xfrm>
            <a:off x="381000" y="762000"/>
            <a:ext cx="682084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/>
              <a:t>🔹 Design Excellence / Individual Contribution</a:t>
            </a:r>
          </a:p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5334C2-8EF3-062E-FFFC-6E7A825483C1}"/>
              </a:ext>
            </a:extLst>
          </p:cNvPr>
          <p:cNvSpPr txBox="1"/>
          <p:nvPr/>
        </p:nvSpPr>
        <p:spPr>
          <a:xfrm>
            <a:off x="457200" y="3718798"/>
            <a:ext cx="982980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/>
              <a:t>🔹 User Requirements Addressed by the Solution</a:t>
            </a:r>
          </a:p>
          <a:p>
            <a:endParaRPr lang="en-GB" b="1">
              <a:ea typeface="Cambria"/>
            </a:endParaRPr>
          </a:p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17BA69-9E1A-A38F-4AFA-835D4A4EBBFF}"/>
              </a:ext>
            </a:extLst>
          </p:cNvPr>
          <p:cNvSpPr txBox="1"/>
          <p:nvPr/>
        </p:nvSpPr>
        <p:spPr>
          <a:xfrm>
            <a:off x="958117" y="4475411"/>
            <a:ext cx="941330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>
                <a:latin typeface="Cambria"/>
                <a:ea typeface="Calibri"/>
                <a:cs typeface="Arial"/>
              </a:rPr>
              <a:t>Users said the results are </a:t>
            </a:r>
            <a:r>
              <a:rPr lang="en-US" b="1">
                <a:latin typeface="Cambria"/>
                <a:ea typeface="Calibri"/>
                <a:cs typeface="Arial"/>
              </a:rPr>
              <a:t>easy to understand</a:t>
            </a:r>
            <a:endParaRPr lang="en-US">
              <a:latin typeface="Cambria"/>
              <a:ea typeface="Calibri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>
                <a:latin typeface="Cambria"/>
                <a:ea typeface="Calibri"/>
                <a:cs typeface="Arial"/>
              </a:rPr>
              <a:t>Users liked that </a:t>
            </a:r>
            <a:r>
              <a:rPr lang="en-US" b="1">
                <a:latin typeface="Cambria"/>
                <a:ea typeface="Calibri"/>
                <a:cs typeface="Arial"/>
              </a:rPr>
              <a:t>health problems are considered</a:t>
            </a:r>
            <a:endParaRPr lang="en-US">
              <a:latin typeface="Cambria"/>
              <a:ea typeface="Calibri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>
                <a:latin typeface="Cambria"/>
                <a:ea typeface="Calibri"/>
                <a:cs typeface="Arial"/>
              </a:rPr>
              <a:t>Users found smart watch -based activity tracking </a:t>
            </a:r>
            <a:r>
              <a:rPr lang="en-US" b="1">
                <a:latin typeface="Cambria"/>
                <a:ea typeface="Calibri"/>
                <a:cs typeface="Arial"/>
              </a:rPr>
              <a:t>very useful</a:t>
            </a:r>
            <a:endParaRPr lang="en-US">
              <a:latin typeface="Cambria"/>
              <a:ea typeface="Calibri"/>
              <a:cs typeface="Arial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>
                <a:latin typeface="Cambria"/>
                <a:ea typeface="Calibri"/>
                <a:cs typeface="Arial"/>
              </a:rPr>
              <a:t>Users suggested </a:t>
            </a:r>
            <a:r>
              <a:rPr lang="en-US">
                <a:latin typeface="Cambria"/>
                <a:ea typeface="Cambria"/>
                <a:cs typeface="Calibri"/>
              </a:rPr>
              <a:t>adding </a:t>
            </a:r>
            <a:r>
              <a:rPr lang="en-US" b="1">
                <a:latin typeface="Cambria"/>
                <a:ea typeface="Cambria"/>
                <a:cs typeface="Calibri"/>
              </a:rPr>
              <a:t>Sinhala language support</a:t>
            </a:r>
            <a:endParaRPr lang="en-GB">
              <a:latin typeface="Cambria"/>
              <a:ea typeface="Cambri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9694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obe Devanagari"/>
              </a:rPr>
              <a:t>IT22343352 | Ekanayake M Y 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484" y="4326494"/>
            <a:ext cx="10363200" cy="784448"/>
          </a:xfrm>
        </p:spPr>
        <p:txBody>
          <a:bodyPr/>
          <a:lstStyle/>
          <a:p>
            <a:r>
              <a:rPr lang="en-US"/>
              <a:t>AI-powered Dynamic Meal Generator and Visual Ingredient Identifier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IT22343352</a:t>
            </a:r>
            <a:r>
              <a:rPr lang="en-US" sz="1800">
                <a:solidFill>
                  <a:schemeClr val="tx1"/>
                </a:solidFill>
              </a:rPr>
              <a:t>   |   Ekanayake M.Y.R|   25-26J-386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1026" name="Picture 2" descr="C:\Users\User\Downloads\WhatsApp Image 2025-09-05 at 09.54.36.jpe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3" b="4121"/>
          <a:stretch/>
        </p:blipFill>
        <p:spPr bwMode="auto">
          <a:xfrm>
            <a:off x="10134600" y="159328"/>
            <a:ext cx="1981200" cy="2266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 txBox="1">
            <a:spLocks/>
          </p:cNvSpPr>
          <p:nvPr/>
        </p:nvSpPr>
        <p:spPr>
          <a:xfrm>
            <a:off x="1115484" y="5105400"/>
            <a:ext cx="10363200" cy="784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BSc (Hons) in Information Technology Specialization in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98207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AI-powered Dynamic Meal Generator and Visual Ingredient Identifier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 b="1">
                <a:ea typeface="Cambria"/>
              </a:rPr>
              <a:t>How the Solution will Address the Sub-Problem / Prototype</a:t>
            </a:r>
            <a:endParaRPr lang="en-US" sz="2400">
              <a:ea typeface="Cambria"/>
            </a:endParaRPr>
          </a:p>
          <a:p>
            <a:endParaRPr lang="en-GB" sz="2000" b="1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Instant meal analysis from meal images.</a:t>
            </a:r>
            <a:endParaRPr lang="en-GB" sz="2000" b="1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Generate personalized meal planning.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AI-powered.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Health-focused customization.</a:t>
            </a:r>
            <a:endParaRPr lang="en-GB">
              <a:ea typeface="Cambria"/>
            </a:endParaRPr>
          </a:p>
          <a:p>
            <a:endParaRPr lang="en-GB" sz="2000" b="1">
              <a:ea typeface="Cambria"/>
            </a:endParaRPr>
          </a:p>
          <a:p>
            <a:r>
              <a:rPr lang="en-GB" sz="2400" b="1">
                <a:ea typeface="Cambria"/>
              </a:rPr>
              <a:t>User Requirements Addressed by the Solution</a:t>
            </a:r>
            <a:endParaRPr lang="en-US" sz="2400" b="1">
              <a:ea typeface="Cambria"/>
            </a:endParaRPr>
          </a:p>
          <a:p>
            <a:endParaRPr lang="en-GB" sz="2400" b="1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Personalized nutrition guidance</a:t>
            </a:r>
          </a:p>
          <a:p>
            <a:r>
              <a:rPr lang="en-GB" sz="2000">
                <a:ea typeface="+mn-lt"/>
                <a:cs typeface="+mn-lt"/>
              </a:rPr>
              <a:t>Real-time food analysis and tracking.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Intelligent meal planning with optimization.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Accessible &amp; User-Friendly UI</a:t>
            </a:r>
            <a:endParaRPr lang="en-GB" sz="2000">
              <a:ea typeface="Cambria"/>
            </a:endParaRPr>
          </a:p>
          <a:p>
            <a:endParaRPr lang="en-GB" sz="1800">
              <a:ea typeface="Cambria"/>
            </a:endParaRPr>
          </a:p>
          <a:p>
            <a:endParaRPr lang="en-US" sz="2200"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IT22343352</a:t>
            </a:r>
            <a:r>
              <a:rPr lang="en-US" sz="1800">
                <a:solidFill>
                  <a:schemeClr val="tx1"/>
                </a:solidFill>
              </a:rPr>
              <a:t>   |   Ekanayake M.Y.R|   25-26J-386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11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97A2E-7F66-FD01-0616-00C16B7E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3955-FCB8-D11E-09A5-FDC7D30A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/>
              <a:t>AI-powered Dynamic Meal Generator and Visual Ingredient Identifier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ED563-5080-D30B-AE8F-BA299B6C4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 b="1">
                <a:ea typeface="Cambria"/>
              </a:rPr>
              <a:t>Design Excellence / Individual Contribution</a:t>
            </a:r>
            <a:endParaRPr lang="en-US" sz="2400">
              <a:ea typeface="+mn-lt"/>
              <a:cs typeface="+mn-lt"/>
            </a:endParaRPr>
          </a:p>
          <a:p>
            <a:endParaRPr lang="en-GB" sz="2400" b="1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Designed a </a:t>
            </a:r>
            <a:r>
              <a:rPr lang="en-GB" sz="2000" b="1">
                <a:ea typeface="+mn-lt"/>
                <a:cs typeface="+mn-lt"/>
              </a:rPr>
              <a:t>simple and user-friendly food analyser interface</a:t>
            </a:r>
            <a:r>
              <a:rPr lang="en-GB" sz="2000">
                <a:ea typeface="+mn-lt"/>
                <a:cs typeface="+mn-lt"/>
              </a:rPr>
              <a:t>.</a:t>
            </a:r>
            <a:endParaRPr lang="en-GB" sz="2000" b="1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Displayed </a:t>
            </a:r>
            <a:r>
              <a:rPr lang="en-US" sz="2000" b="1">
                <a:ea typeface="+mn-lt"/>
                <a:cs typeface="+mn-lt"/>
              </a:rPr>
              <a:t>ingredient</a:t>
            </a:r>
            <a:r>
              <a:rPr lang="en-US" sz="2000">
                <a:ea typeface="+mn-lt"/>
                <a:cs typeface="+mn-lt"/>
              </a:rPr>
              <a:t>, </a:t>
            </a:r>
            <a:r>
              <a:rPr lang="en-US" sz="2000" b="1">
                <a:ea typeface="+mn-lt"/>
                <a:cs typeface="+mn-lt"/>
              </a:rPr>
              <a:t>nutrition and calorie information and meal plan clearly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r>
              <a:rPr lang="en-US" sz="2000">
                <a:ea typeface="Cambria"/>
              </a:rPr>
              <a:t>Optimized AI integration.</a:t>
            </a:r>
          </a:p>
          <a:p>
            <a:r>
              <a:rPr lang="en-US" sz="2000">
                <a:ea typeface="+mn-lt"/>
                <a:cs typeface="+mn-lt"/>
              </a:rPr>
              <a:t>Robust error handling.</a:t>
            </a:r>
            <a:endParaRPr lang="en-US" sz="2000">
              <a:ea typeface="Cambria"/>
            </a:endParaRPr>
          </a:p>
          <a:p>
            <a:endParaRPr lang="en-US" sz="2000" b="1">
              <a:ea typeface="Cambria"/>
            </a:endParaRPr>
          </a:p>
          <a:p>
            <a:r>
              <a:rPr lang="en-GB" sz="2400" b="1">
                <a:ea typeface="Cambria"/>
              </a:rPr>
              <a:t> User Feedback on Prototype</a:t>
            </a:r>
          </a:p>
          <a:p>
            <a:endParaRPr lang="en-GB" sz="2400" b="1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Image-based food identification is </a:t>
            </a:r>
            <a:r>
              <a:rPr lang="en-GB" sz="2000" b="1">
                <a:ea typeface="+mn-lt"/>
                <a:cs typeface="+mn-lt"/>
              </a:rPr>
              <a:t>easy and time-saving</a:t>
            </a:r>
            <a:r>
              <a:rPr lang="en-GB" sz="2000">
                <a:ea typeface="+mn-lt"/>
                <a:cs typeface="+mn-lt"/>
              </a:rPr>
              <a:t>.</a:t>
            </a:r>
            <a:endParaRPr lang="en-GB" sz="2000">
              <a:ea typeface="Cambria"/>
            </a:endParaRPr>
          </a:p>
          <a:p>
            <a:r>
              <a:rPr lang="en-GB" sz="2000">
                <a:ea typeface="+mn-lt"/>
                <a:cs typeface="+mn-lt"/>
              </a:rPr>
              <a:t>Nutrition and calorie display is</a:t>
            </a:r>
            <a:r>
              <a:rPr lang="en-GB" sz="2000" b="1">
                <a:ea typeface="+mn-lt"/>
                <a:cs typeface="+mn-lt"/>
              </a:rPr>
              <a:t> clear</a:t>
            </a:r>
            <a:r>
              <a:rPr lang="en-GB" sz="2000">
                <a:ea typeface="+mn-lt"/>
                <a:cs typeface="+mn-lt"/>
              </a:rPr>
              <a:t>.</a:t>
            </a:r>
            <a:endParaRPr lang="en-GB" sz="2000">
              <a:ea typeface="Cambria"/>
            </a:endParaRPr>
          </a:p>
          <a:p>
            <a:r>
              <a:rPr lang="en-GB" sz="2000">
                <a:ea typeface="+mn-lt"/>
                <a:cs typeface="+mn-lt"/>
              </a:rPr>
              <a:t>Meal suggestions help users make </a:t>
            </a:r>
            <a:r>
              <a:rPr lang="en-GB" sz="2000" b="1">
                <a:ea typeface="+mn-lt"/>
                <a:cs typeface="+mn-lt"/>
              </a:rPr>
              <a:t>better food choices</a:t>
            </a:r>
            <a:r>
              <a:rPr lang="en-GB" sz="2000">
                <a:ea typeface="+mn-lt"/>
                <a:cs typeface="+mn-lt"/>
              </a:rPr>
              <a:t>.</a:t>
            </a:r>
            <a:endParaRPr lang="en-GB" sz="2000">
              <a:ea typeface="Cambria"/>
            </a:endParaRPr>
          </a:p>
          <a:p>
            <a:r>
              <a:rPr lang="en-GB" sz="2000">
                <a:ea typeface="+mn-lt"/>
                <a:cs typeface="+mn-lt"/>
              </a:rPr>
              <a:t>UI and performance improvements will be </a:t>
            </a:r>
            <a:r>
              <a:rPr lang="en-GB" sz="2000" b="1">
                <a:ea typeface="+mn-lt"/>
                <a:cs typeface="+mn-lt"/>
              </a:rPr>
              <a:t>addressed in future versions</a:t>
            </a:r>
            <a:r>
              <a:rPr lang="en-GB" sz="2000">
                <a:ea typeface="+mn-lt"/>
                <a:cs typeface="+mn-lt"/>
              </a:rPr>
              <a:t>.</a:t>
            </a:r>
            <a:endParaRPr lang="en-GB" sz="2000" b="1">
              <a:ea typeface="Cambria"/>
            </a:endParaRPr>
          </a:p>
          <a:p>
            <a:endParaRPr lang="en-GB" sz="2400">
              <a:ea typeface="Cambria"/>
            </a:endParaRPr>
          </a:p>
          <a:p>
            <a:endParaRPr lang="en-GB" sz="2400" b="1">
              <a:ea typeface="Cambria"/>
            </a:endParaRPr>
          </a:p>
          <a:p>
            <a:endParaRPr lang="en-US" sz="2200"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4DC5F4-EB7F-6762-3A8A-16016A9FE8F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IT22343352</a:t>
            </a:r>
            <a:r>
              <a:rPr lang="en-US" sz="1800">
                <a:solidFill>
                  <a:schemeClr val="tx1"/>
                </a:solidFill>
              </a:rPr>
              <a:t>   |   Ekanayake M.Y.R|   25-26J-386</a:t>
            </a:r>
            <a:endParaRPr lang="en-US" sz="1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428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2003-2A7E-1DD0-49B3-0F9F7384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obe Devanagari"/>
              </a:rPr>
              <a:t>IT22343420 |  T.M. Poornima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C9E90-EE6B-F768-4836-12559466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3719677"/>
            <a:ext cx="10363200" cy="982602"/>
          </a:xfrm>
        </p:spPr>
        <p:txBody>
          <a:bodyPr/>
          <a:lstStyle/>
          <a:p>
            <a:r>
              <a:rPr lang="en-US" sz="2400">
                <a:ea typeface="+mn-lt"/>
                <a:cs typeface="+mn-lt"/>
              </a:rPr>
              <a:t>AI-Powered Predictive Health Alert and Progress Tracking System</a:t>
            </a:r>
          </a:p>
          <a:p>
            <a:r>
              <a:rPr lang="en-US">
                <a:ea typeface="Cambria"/>
              </a:rPr>
              <a:t>BSc (Hons) in Information Technology Specialization in Information Technology</a:t>
            </a:r>
            <a:endParaRPr lang="en-US"/>
          </a:p>
        </p:txBody>
      </p:sp>
      <p:pic>
        <p:nvPicPr>
          <p:cNvPr id="4" name="Picture 3" descr="A person in a red shirt&#10;&#10;AI-generated content may be incorrect.">
            <a:extLst>
              <a:ext uri="{FF2B5EF4-FFF2-40B4-BE49-F238E27FC236}">
                <a16:creationId xmlns:a16="http://schemas.microsoft.com/office/drawing/2014/main" id="{7D3E8258-B4BD-2F74-9C55-855D6A6E0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867" y="57509"/>
            <a:ext cx="2075659" cy="250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3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96E0-EEB7-7ACF-E78D-8C53A8BBE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639A8-0E85-41C2-CF46-36AC70E0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dobe Devanagari"/>
              </a:rPr>
              <a:t>AI-Powered Predictive Health Alert and Progress Tracking System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9ACA8-F3FE-DD1A-7BCB-20D8EB53B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592" y="1099868"/>
            <a:ext cx="11425208" cy="52678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sz="2400" b="1">
                <a:ea typeface="Cambria"/>
              </a:rPr>
              <a:t>How the Solution will Address the Sub-Problem / Prototype</a:t>
            </a:r>
            <a:endParaRPr lang="en-US" sz="2400">
              <a:ea typeface="Cambria"/>
            </a:endParaRPr>
          </a:p>
          <a:p>
            <a:r>
              <a:rPr lang="en-GB" sz="2000">
                <a:ea typeface="+mn-lt"/>
                <a:cs typeface="+mn-lt"/>
              </a:rPr>
              <a:t>Collects real-time health data from wearable devices and user profile (activity, BP, sleep).</a:t>
            </a:r>
            <a:endParaRPr lang="en-GB" sz="2000" b="1">
              <a:ea typeface="+mn-lt"/>
              <a:cs typeface="+mn-lt"/>
            </a:endParaRPr>
          </a:p>
          <a:p>
            <a:r>
              <a:rPr lang="en-GB" sz="2000">
                <a:ea typeface="+mn-lt"/>
                <a:cs typeface="+mn-lt"/>
              </a:rPr>
              <a:t>Stores and </a:t>
            </a:r>
            <a:r>
              <a:rPr lang="en-GB" sz="2000" err="1">
                <a:ea typeface="+mn-lt"/>
                <a:cs typeface="+mn-lt"/>
              </a:rPr>
              <a:t>analyzes</a:t>
            </a:r>
            <a:r>
              <a:rPr lang="en-GB" sz="2000">
                <a:ea typeface="+mn-lt"/>
                <a:cs typeface="+mn-lt"/>
              </a:rPr>
              <a:t> daily health data (latest).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Tracks health trends (daily, weekly, monthly).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Uses ML-based analysis to predict health risk levels (Low / Medium / High).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Predict personalized diet recommendations and health guidance.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Provides time-based health alerts and reminders.</a:t>
            </a:r>
            <a:endParaRPr lang="en-GB"/>
          </a:p>
          <a:p>
            <a:endParaRPr lang="en-GB" sz="2000" b="1">
              <a:ea typeface="+mn-lt"/>
              <a:cs typeface="+mn-lt"/>
            </a:endParaRPr>
          </a:p>
          <a:p>
            <a:r>
              <a:rPr lang="en-GB" sz="2400" b="1">
                <a:ea typeface="Cambria"/>
              </a:rPr>
              <a:t>User Requirements Addressed by the Solution</a:t>
            </a:r>
            <a:endParaRPr lang="en-US" sz="2400" b="1">
              <a:ea typeface="Cambria"/>
            </a:endParaRPr>
          </a:p>
          <a:p>
            <a:pPr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Automatic and manual health data collection with minimal user effort.</a:t>
            </a:r>
            <a:endParaRPr lang="en-GB"/>
          </a:p>
          <a:p>
            <a:pPr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Clear visualization of health progress and trends.</a:t>
            </a:r>
            <a:endParaRPr lang="en-GB"/>
          </a:p>
          <a:p>
            <a:pPr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Early identification of potential health risks.</a:t>
            </a:r>
            <a:endParaRPr lang="en-GB"/>
          </a:p>
          <a:p>
            <a:pPr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Personalized diet and lifestyle recommendations.</a:t>
            </a:r>
            <a:endParaRPr lang="en-GB"/>
          </a:p>
          <a:p>
            <a:pPr>
              <a:buFont typeface="Arial"/>
              <a:buChar char="•"/>
            </a:pPr>
            <a:r>
              <a:rPr lang="en-GB" sz="2000">
                <a:ea typeface="+mn-lt"/>
                <a:cs typeface="+mn-lt"/>
              </a:rPr>
              <a:t>Timely alerts to encourage healthy </a:t>
            </a:r>
            <a:r>
              <a:rPr lang="en-GB" sz="2000" err="1">
                <a:ea typeface="+mn-lt"/>
                <a:cs typeface="+mn-lt"/>
              </a:rPr>
              <a:t>behavior</a:t>
            </a:r>
            <a:r>
              <a:rPr lang="en-GB" sz="2000">
                <a:ea typeface="+mn-lt"/>
                <a:cs typeface="+mn-lt"/>
              </a:rPr>
              <a:t>.</a:t>
            </a:r>
            <a:endParaRPr lang="en-GB"/>
          </a:p>
          <a:p>
            <a:endParaRPr lang="en-GB" sz="1800">
              <a:ea typeface="Cambria"/>
            </a:endParaRPr>
          </a:p>
          <a:p>
            <a:endParaRPr lang="en-US" sz="2200"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402142-26CC-5920-7DE2-C443958F30D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IT22343420 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| T.M. Poornima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|   25-26J-386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79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3A414-AAD5-3264-D481-39BF7A2B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686D-D399-863D-3E88-892C1C83F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Adobe Devanagari"/>
              </a:rPr>
              <a:t>AI-Powered Predictive Health Alert and Progress Tracking System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7222A-C0B8-43AB-9EBD-864066D63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05" y="1099867"/>
            <a:ext cx="11497095" cy="52247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 b="1">
                <a:ea typeface="Cambria"/>
              </a:rPr>
              <a:t>Design Excellence / Individual Contribution</a:t>
            </a:r>
            <a:endParaRPr lang="en-US" sz="24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Wearable data integration and structured health data management.</a:t>
            </a:r>
          </a:p>
          <a:p>
            <a:r>
              <a:rPr lang="en-US" sz="2000">
                <a:ea typeface="+mn-lt"/>
                <a:cs typeface="+mn-lt"/>
              </a:rPr>
              <a:t>Health trend analysis using historical data.</a:t>
            </a:r>
            <a:endParaRPr lang="en-US" sz="2000">
              <a:ea typeface="Cambria"/>
            </a:endParaRPr>
          </a:p>
          <a:p>
            <a:r>
              <a:rPr lang="en-US" sz="2000">
                <a:ea typeface="+mn-lt"/>
                <a:cs typeface="+mn-lt"/>
              </a:rPr>
              <a:t>Risk prediction based on vital signs and lifestyle factors.</a:t>
            </a:r>
            <a:endParaRPr lang="en-US" sz="2000">
              <a:ea typeface="Cambria"/>
            </a:endParaRPr>
          </a:p>
          <a:p>
            <a:r>
              <a:rPr lang="en-US" sz="2000">
                <a:ea typeface="+mn-lt"/>
                <a:cs typeface="+mn-lt"/>
              </a:rPr>
              <a:t>Prediction of diet recommendation.</a:t>
            </a:r>
          </a:p>
          <a:p>
            <a:r>
              <a:rPr lang="en-US" sz="2000">
                <a:ea typeface="+mn-lt"/>
                <a:cs typeface="+mn-lt"/>
              </a:rPr>
              <a:t>Time-based alert system for diet and health actions.</a:t>
            </a:r>
          </a:p>
          <a:p>
            <a:r>
              <a:rPr lang="en-US" sz="2000">
                <a:ea typeface="+mn-lt"/>
                <a:cs typeface="+mn-lt"/>
              </a:rPr>
              <a:t>Simple and easy-to-understand health dashboards.</a:t>
            </a:r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  <a:p>
            <a:r>
              <a:rPr lang="en-GB" sz="2400" b="1">
                <a:ea typeface="Cambria"/>
              </a:rPr>
              <a:t> User Feedback on Prototype</a:t>
            </a:r>
          </a:p>
          <a:p>
            <a:r>
              <a:rPr lang="en-GB" sz="2000">
                <a:ea typeface="+mn-lt"/>
                <a:cs typeface="+mn-lt"/>
              </a:rPr>
              <a:t>Health progress tracking is clear and informative.</a:t>
            </a:r>
            <a:endParaRPr lang="en-GB" sz="2000">
              <a:ea typeface="Cambria"/>
            </a:endParaRPr>
          </a:p>
          <a:p>
            <a:r>
              <a:rPr lang="en-GB" sz="2000">
                <a:ea typeface="+mn-lt"/>
                <a:cs typeface="+mn-lt"/>
              </a:rPr>
              <a:t>Risk level indication helps users understand their health status.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Diet recommendations are practical and easy to follow.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Alerts are helpful for maintaining daily healthy habits.</a:t>
            </a:r>
            <a:endParaRPr lang="en-GB"/>
          </a:p>
          <a:p>
            <a:endParaRPr lang="en-GB" sz="2400">
              <a:ea typeface="Cambria"/>
            </a:endParaRPr>
          </a:p>
          <a:p>
            <a:endParaRPr lang="en-GB" sz="2400" b="1">
              <a:ea typeface="Cambria"/>
            </a:endParaRPr>
          </a:p>
          <a:p>
            <a:endParaRPr lang="en-US" sz="2200"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804FCF-3366-8083-A0CF-4E4404FBCFB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IT22343420 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T.</a:t>
            </a:r>
            <a:r>
              <a:rPr lang="en-US" sz="1800">
                <a:solidFill>
                  <a:schemeClr val="tx1"/>
                </a:solidFill>
              </a:rPr>
              <a:t>M.</a:t>
            </a:r>
            <a:r>
              <a:rPr lang="en-US">
                <a:solidFill>
                  <a:schemeClr val="tx1"/>
                </a:solidFill>
              </a:rPr>
              <a:t> Poornima </a:t>
            </a:r>
            <a:r>
              <a:rPr lang="en-US" sz="1800">
                <a:solidFill>
                  <a:schemeClr val="tx1"/>
                </a:solidFill>
              </a:rPr>
              <a:t>|   25-26J-386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791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FE48A-0A1A-D627-BB17-9AD28EFD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obe Devanagari"/>
              </a:rPr>
              <a:t>IT22343284 | SAMARAWICKRAMA T.N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74C51-C168-D3A2-D4CF-BC16E4E6B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1407" y="4122127"/>
            <a:ext cx="10363200" cy="836184"/>
          </a:xfrm>
        </p:spPr>
        <p:txBody>
          <a:bodyPr/>
          <a:lstStyle/>
          <a:p>
            <a:r>
              <a:rPr lang="en-US"/>
              <a:t>AI-powered Smart Grocery List Optimization and Nearest Store Recommendation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3A1A2-CF1C-BD5D-1DA7-B0F5C3783F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39" t="12714" r="3439" b="-3408"/>
          <a:stretch>
            <a:fillRect/>
          </a:stretch>
        </p:blipFill>
        <p:spPr>
          <a:xfrm>
            <a:off x="10048114" y="104920"/>
            <a:ext cx="2082926" cy="245485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9662305-1EA1-3581-A987-B9E3FB31B61C}"/>
              </a:ext>
            </a:extLst>
          </p:cNvPr>
          <p:cNvSpPr txBox="1">
            <a:spLocks/>
          </p:cNvSpPr>
          <p:nvPr/>
        </p:nvSpPr>
        <p:spPr>
          <a:xfrm>
            <a:off x="1061407" y="4851778"/>
            <a:ext cx="10363200" cy="8361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BSc (Hons) in Information Technology Specialization in Information Technology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39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DFC1D-F12D-8FBD-A53E-9BF813AB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A273-E0F0-BFDA-D3E4-F892632E7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0"/>
            <a:ext cx="11684000" cy="792162"/>
          </a:xfrm>
        </p:spPr>
        <p:txBody>
          <a:bodyPr>
            <a:normAutofit/>
          </a:bodyPr>
          <a:lstStyle/>
          <a:p>
            <a:r>
              <a:rPr lang="en-US" sz="2400">
                <a:latin typeface="Adobe Devanagari"/>
              </a:rPr>
              <a:t>AI-Powered Predictive Health Alert and Progress Tracking System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50790-514C-4270-E235-1D07871A6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792" y="936325"/>
            <a:ext cx="11425208" cy="52678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b="1">
                <a:ea typeface="Cambria"/>
              </a:rPr>
              <a:t>     How the Solution will Address the Sub-Problem / Prototype</a:t>
            </a:r>
          </a:p>
          <a:p>
            <a:pPr>
              <a:lnSpc>
                <a:spcPct val="150000"/>
              </a:lnSpc>
            </a:pPr>
            <a:r>
              <a:rPr lang="en-US" sz="1900"/>
              <a:t>Solves the problem of finding the cheapest and nearest grocery store using real supermarket data.</a:t>
            </a:r>
          </a:p>
          <a:p>
            <a:pPr lvl="0"/>
            <a:r>
              <a:rPr lang="en-AU" sz="1900"/>
              <a:t>Uses real-time supermarket data scraped from Keells (API-based Curl ) and Cargills (browser-based scraping using Playwright).</a:t>
            </a:r>
            <a:endParaRPr lang="en-US" sz="1900"/>
          </a:p>
          <a:p>
            <a:r>
              <a:rPr lang="en-US" sz="1900"/>
              <a:t>Implements a structured data pipeline that transforms raw supermarket data into clean, categorized, and nutrition-ready product information.</a:t>
            </a:r>
          </a:p>
          <a:p>
            <a:r>
              <a:rPr lang="en-US" sz="1900"/>
              <a:t>The prototype recommends the best store based on price and distance and suggests cheaper nutrition-equivalent alternatives when the user’s budget is exceeded.</a:t>
            </a:r>
          </a:p>
          <a:p>
            <a:pPr marL="0" indent="0">
              <a:buNone/>
            </a:pPr>
            <a:endParaRPr lang="en-GB" sz="2000" b="1"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2400" b="1">
                <a:ea typeface="Cambria"/>
              </a:rPr>
              <a:t>     User Requirements Addressed by the Solution</a:t>
            </a:r>
          </a:p>
          <a:p>
            <a:pPr>
              <a:lnSpc>
                <a:spcPct val="150000"/>
              </a:lnSpc>
            </a:pPr>
            <a:r>
              <a:rPr lang="en-US" sz="1900"/>
              <a:t>Helps users identify the cheapest grocery store for their shopping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>
                <a:cs typeface="Times New Roman" panose="02020603050405020304" pitchFamily="18" charset="0"/>
              </a:rPr>
              <a:t>list.</a:t>
            </a:r>
          </a:p>
          <a:p>
            <a:r>
              <a:rPr lang="en-US" sz="1900"/>
              <a:t>Allows users to stay within a given budget while purchasing essential items.</a:t>
            </a:r>
          </a:p>
          <a:p>
            <a:r>
              <a:rPr lang="en-US" sz="1900"/>
              <a:t>Considers the user’s current location to reduce unnecessary travel distance.</a:t>
            </a:r>
          </a:p>
          <a:p>
            <a:pPr lvl="0"/>
            <a:r>
              <a:rPr lang="en-AU" sz="1900"/>
              <a:t>Provides cheaper nutrition-equivalent alternatives when preferred items exceed the available budget.</a:t>
            </a:r>
            <a:endParaRPr lang="en-US" sz="1900"/>
          </a:p>
          <a:p>
            <a:endParaRPr lang="en-GB" sz="2000">
              <a:ea typeface="Cambria"/>
              <a:cs typeface="Times New Roman" panose="02020603050405020304" pitchFamily="18" charset="0"/>
            </a:endParaRPr>
          </a:p>
          <a:p>
            <a:endParaRPr lang="en-US" sz="2400" b="1">
              <a:ea typeface="Cambria"/>
            </a:endParaRPr>
          </a:p>
          <a:p>
            <a:endParaRPr lang="en-GB" sz="1800">
              <a:ea typeface="Cambria"/>
            </a:endParaRPr>
          </a:p>
          <a:p>
            <a:endParaRPr lang="en-US" sz="2200"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3FED8D-B728-D1EB-B7C2-E2C74F64E25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IT22343284 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| Samarawickrama T.N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|   25-26J-386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50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C61A-2C63-DAEF-92D8-08E325E0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9F28-9F5D-8B47-25FB-FDD2E832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11684000" cy="792162"/>
          </a:xfrm>
        </p:spPr>
        <p:txBody>
          <a:bodyPr>
            <a:normAutofit/>
          </a:bodyPr>
          <a:lstStyle/>
          <a:p>
            <a:r>
              <a:rPr lang="en-US" sz="2400">
                <a:latin typeface="Adobe Devanagari"/>
              </a:rPr>
              <a:t>AI-Powered Predictive Health Alert and Progress Tracking System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7242E-5DC9-6EF9-1CA3-6F36F112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705" y="816633"/>
            <a:ext cx="11497095" cy="522473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b="1">
                <a:ea typeface="Cambria"/>
              </a:rPr>
              <a:t>     Design Excellence / Individual Contribution</a:t>
            </a:r>
          </a:p>
          <a:p>
            <a:pPr>
              <a:lnSpc>
                <a:spcPct val="150000"/>
              </a:lnSpc>
            </a:pPr>
            <a:r>
              <a:rPr lang="en-US" sz="1900"/>
              <a:t>Introduces a structured and scalable data pipeline.</a:t>
            </a:r>
          </a:p>
          <a:p>
            <a:pPr lvl="0"/>
            <a:r>
              <a:rPr lang="en-AU" sz="1900"/>
              <a:t>Applied rule-based L1–L2 product categorization to achieve transparent and explainable classification, suitable for audit and analysis.</a:t>
            </a:r>
          </a:p>
          <a:p>
            <a:r>
              <a:rPr lang="en-AU" sz="1900"/>
              <a:t>Introduced versioned categorization (taxonomy_version, model_version) to support reclassification, experimentation, and future ML integration.</a:t>
            </a:r>
            <a:endParaRPr lang="en-US" sz="1900"/>
          </a:p>
          <a:p>
            <a:pPr lvl="0"/>
            <a:r>
              <a:rPr lang="en-AU" sz="1900"/>
              <a:t>Structured the system to support machine-learning-based categorization, where rule-based labels act as training data for future ML models.</a:t>
            </a:r>
            <a:endParaRPr lang="en-US" sz="1900"/>
          </a:p>
          <a:p>
            <a:pPr marL="0" indent="0">
              <a:buNone/>
            </a:pPr>
            <a:endParaRPr lang="en-US" sz="2000"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2400" b="1">
                <a:ea typeface="Cambria"/>
              </a:rPr>
              <a:t>      User Feedback on Prototype</a:t>
            </a:r>
          </a:p>
          <a:p>
            <a:pPr>
              <a:lnSpc>
                <a:spcPct val="150000"/>
              </a:lnSpc>
            </a:pPr>
            <a:r>
              <a:rPr lang="en-US" sz="1900"/>
              <a:t>Users found the interface easy to understand and navigate, even without technical knowledge.</a:t>
            </a:r>
          </a:p>
          <a:p>
            <a:r>
              <a:rPr lang="en-US" sz="1900"/>
              <a:t>The price comparison and store recommendation features were perceived as useful for saving money.</a:t>
            </a:r>
          </a:p>
          <a:p>
            <a:r>
              <a:rPr lang="en-AU" sz="1900"/>
              <a:t>Budget alerts and substitution suggestions helped users make more informed purchasing decisions</a:t>
            </a:r>
          </a:p>
          <a:p>
            <a:pPr lvl="0"/>
            <a:r>
              <a:rPr lang="en-AU" sz="1900"/>
              <a:t>Nutrition-based substitution was identified as a unique and valuable feature compared to standard grocery comparison tools.</a:t>
            </a:r>
            <a:endParaRPr lang="en-US" sz="1900"/>
          </a:p>
          <a:p>
            <a:endParaRPr lang="en-US" sz="2000"/>
          </a:p>
          <a:p>
            <a:endParaRPr lang="en-GB" sz="1900" b="1">
              <a:ea typeface="Cambria"/>
            </a:endParaRPr>
          </a:p>
          <a:p>
            <a:endParaRPr lang="en-GB" sz="2400">
              <a:ea typeface="Cambria"/>
            </a:endParaRPr>
          </a:p>
          <a:p>
            <a:endParaRPr lang="en-GB" sz="2400" b="1">
              <a:ea typeface="Cambria"/>
            </a:endParaRPr>
          </a:p>
          <a:p>
            <a:endParaRPr lang="en-US" sz="2200"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291ECA-323F-EDA8-31AB-A354E80E06F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IT22343284 </a:t>
            </a:r>
            <a:r>
              <a:rPr lang="en-US" sz="1800">
                <a:solidFill>
                  <a:schemeClr val="tx1"/>
                </a:solidFill>
              </a:rPr>
              <a:t>| Samarawickrama T.N |   25-26J-386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841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D01CE-859B-798B-AF41-E5977C0D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13FCB4-06F6-7B28-E028-BF787FFCCA6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066800" y="1334231"/>
            <a:ext cx="10058400" cy="493034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2000" b="1"/>
              <a:t>Customer Persona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Individuals (25–65) with </a:t>
            </a:r>
            <a:r>
              <a:rPr lang="en-US" sz="1800" b="1">
                <a:ea typeface="+mn-lt"/>
                <a:cs typeface="+mn-lt"/>
              </a:rPr>
              <a:t>multiple chronic diseases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Health-conscious users with smartphones and wearables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Clinics, corporate wellness programs, insurance companies, and health NGOs</a:t>
            </a:r>
            <a:endParaRPr lang="en-US" sz="1800"/>
          </a:p>
          <a:p>
            <a:pPr>
              <a:buNone/>
            </a:pPr>
            <a:r>
              <a:rPr lang="en-US" sz="1800" b="1"/>
              <a:t>Market Size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Over </a:t>
            </a:r>
            <a:r>
              <a:rPr lang="en-US" sz="1800" b="1">
                <a:ea typeface="+mn-lt"/>
                <a:cs typeface="+mn-lt"/>
              </a:rPr>
              <a:t>1 million potential users</a:t>
            </a:r>
            <a:r>
              <a:rPr lang="en-US" sz="1800">
                <a:ea typeface="+mn-lt"/>
                <a:cs typeface="+mn-lt"/>
              </a:rPr>
              <a:t> in the region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Targeting </a:t>
            </a:r>
            <a:r>
              <a:rPr lang="en-US" sz="1800" b="1">
                <a:ea typeface="+mn-lt"/>
                <a:cs typeface="+mn-lt"/>
              </a:rPr>
              <a:t>10% penetration</a:t>
            </a:r>
            <a:r>
              <a:rPr lang="en-US" sz="1800">
                <a:ea typeface="+mn-lt"/>
                <a:cs typeface="+mn-lt"/>
              </a:rPr>
              <a:t> ensures strong adoption and scalability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ea typeface="Cambria"/>
              </a:rPr>
              <a:t>What Is Unique (USP)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 b="1">
                <a:ea typeface="Cambria"/>
              </a:rPr>
              <a:t>First solution</a:t>
            </a:r>
            <a:r>
              <a:rPr lang="en-US" sz="1800">
                <a:ea typeface="Cambria"/>
              </a:rPr>
              <a:t> offering </a:t>
            </a:r>
            <a:r>
              <a:rPr lang="en-US" sz="1800" b="1">
                <a:ea typeface="Cambria"/>
              </a:rPr>
              <a:t>safe, adaptive, and explainable nutrition guidance</a:t>
            </a:r>
            <a:r>
              <a:rPr lang="en-US" sz="1800">
                <a:ea typeface="Cambria"/>
              </a:rPr>
              <a:t> for </a:t>
            </a:r>
            <a:r>
              <a:rPr lang="en-US" sz="1800" b="1">
                <a:ea typeface="Cambria"/>
              </a:rPr>
              <a:t>multi-disease users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Cambria"/>
              </a:rPr>
              <a:t>Uses real-time health data for personalized recommendations</a:t>
            </a:r>
            <a:endParaRPr lang="en-US" sz="1800"/>
          </a:p>
          <a:p>
            <a:pPr>
              <a:buFont typeface="Arial"/>
              <a:buChar char="•"/>
            </a:pPr>
            <a:endParaRPr lang="en-US" sz="800">
              <a:ea typeface="Cambria"/>
            </a:endParaRPr>
          </a:p>
          <a:p>
            <a:pPr marL="0" indent="0">
              <a:buNone/>
            </a:pPr>
            <a:r>
              <a:rPr lang="en-US" sz="1800" b="1">
                <a:ea typeface="Cambria"/>
              </a:rPr>
              <a:t>Revenue &amp; Cost Recovery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 b="1">
                <a:ea typeface="Cambria"/>
              </a:rPr>
              <a:t>B2C:</a:t>
            </a:r>
            <a:r>
              <a:rPr lang="en-US" sz="1800">
                <a:ea typeface="Cambria"/>
              </a:rPr>
              <a:t> Subscription-based mobile app(users &amp; supermarket chains)</a:t>
            </a:r>
          </a:p>
          <a:p>
            <a:pPr>
              <a:buFont typeface="Arial"/>
              <a:buChar char="•"/>
            </a:pPr>
            <a:r>
              <a:rPr lang="en-US" sz="1800" b="1">
                <a:ea typeface="Cambria"/>
              </a:rPr>
              <a:t>B2B2C:</a:t>
            </a:r>
            <a:r>
              <a:rPr lang="en-US" sz="1800">
                <a:ea typeface="Cambria"/>
              </a:rPr>
              <a:t> SaaS licensing to clinics, corporates, and insurers</a:t>
            </a:r>
          </a:p>
          <a:p>
            <a:pPr>
              <a:buFont typeface="Arial"/>
              <a:buChar char="•"/>
            </a:pPr>
            <a:r>
              <a:rPr lang="en-US" sz="1800">
                <a:ea typeface="Cambria"/>
              </a:rPr>
              <a:t>Costs can be recovered </a:t>
            </a:r>
            <a:r>
              <a:rPr lang="en-US" sz="1800" b="1">
                <a:ea typeface="Cambria"/>
              </a:rPr>
              <a:t>within months</a:t>
            </a:r>
            <a:r>
              <a:rPr lang="en-US" sz="1800">
                <a:ea typeface="Cambria"/>
              </a:rPr>
              <a:t> through subscriptions and partnerships</a:t>
            </a:r>
            <a:endParaRPr lang="en-US" sz="1800"/>
          </a:p>
          <a:p>
            <a:pPr indent="0">
              <a:buNone/>
            </a:pPr>
            <a:endParaRPr lang="en-US" b="1"/>
          </a:p>
          <a:p>
            <a:pPr indent="0">
              <a:buNone/>
            </a:pPr>
            <a:endParaRPr lang="en-US" b="1"/>
          </a:p>
          <a:p>
            <a:pPr indent="0">
              <a:buNone/>
            </a:pPr>
            <a:endParaRPr lang="en-US" b="1"/>
          </a:p>
          <a:p>
            <a:pPr indent="0">
              <a:buNone/>
            </a:pPr>
            <a:endParaRPr lang="en-US" b="1"/>
          </a:p>
          <a:p>
            <a:pPr indent="0">
              <a:buNone/>
            </a:pPr>
            <a:endParaRPr lang="en-US" b="1">
              <a:ea typeface="Cambria"/>
            </a:endParaRPr>
          </a:p>
          <a:p>
            <a:pPr>
              <a:buNone/>
            </a:pPr>
            <a:endParaRPr lang="en-US" b="1">
              <a:ea typeface="Cambria"/>
            </a:endParaRPr>
          </a:p>
          <a:p>
            <a:endParaRPr lang="en-US">
              <a:ea typeface="Cambr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295463-3789-CC30-1C25-5BF70423066B}"/>
              </a:ext>
            </a:extLst>
          </p:cNvPr>
          <p:cNvSpPr/>
          <p:nvPr/>
        </p:nvSpPr>
        <p:spPr>
          <a:xfrm>
            <a:off x="2786341" y="638143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IT22907684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err="1">
                <a:solidFill>
                  <a:schemeClr val="tx1"/>
                </a:solidFill>
              </a:rPr>
              <a:t>Weerarathne</a:t>
            </a:r>
            <a:r>
              <a:rPr lang="en-US">
                <a:solidFill>
                  <a:schemeClr val="tx1"/>
                </a:solidFill>
              </a:rPr>
              <a:t> H.P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25-26J-386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2110131-B0CF-7B1C-8BDC-BBCD9B61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dobe Devanagari"/>
              </a:rPr>
              <a:t>💵Commercialization Potential</a:t>
            </a:r>
            <a:endParaRPr lang="en-US">
              <a:latin typeface="Adobe Devanagari"/>
            </a:endParaRPr>
          </a:p>
        </p:txBody>
      </p:sp>
    </p:spTree>
    <p:extLst>
      <p:ext uri="{BB962C8B-B14F-4D97-AF65-F5344CB8AC3E}">
        <p14:creationId xmlns:p14="http://schemas.microsoft.com/office/powerpoint/2010/main" val="697066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F2D53-C033-CF88-3740-BDEFD029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83" y="2646018"/>
            <a:ext cx="11684000" cy="792162"/>
          </a:xfrm>
        </p:spPr>
        <p:txBody>
          <a:bodyPr>
            <a:noAutofit/>
          </a:bodyPr>
          <a:lstStyle/>
          <a:p>
            <a:r>
              <a:rPr lang="en-US" sz="5400" b="1">
                <a:latin typeface="Adobe Devanagari"/>
              </a:rPr>
              <a:t>Thank You !</a:t>
            </a:r>
            <a:endParaRPr lang="en-US" sz="5400" b="1"/>
          </a:p>
        </p:txBody>
      </p:sp>
    </p:spTree>
    <p:extLst>
      <p:ext uri="{BB962C8B-B14F-4D97-AF65-F5344CB8AC3E}">
        <p14:creationId xmlns:p14="http://schemas.microsoft.com/office/powerpoint/2010/main" val="1279272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0</TotalTime>
  <Words>1620</Words>
  <Application>Microsoft Office PowerPoint</Application>
  <PresentationFormat>Widescreen</PresentationFormat>
  <Paragraphs>215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Adobe Devanagari</vt:lpstr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IT22907684 |Weerarathne H.P                          </vt:lpstr>
      <vt:lpstr>​ AI-powered Multi-Disease Adaptive Nutrition and Personalized Health Optimization​ </vt:lpstr>
      <vt:lpstr>​ AI-powered Multi-Disease Adaptive Nutrition and Personalized Health Optimization​ </vt:lpstr>
      <vt:lpstr>​ AI-powered Multi-Disease Adaptive Nutrition and Personalized Health Optimization​ </vt:lpstr>
      <vt:lpstr>IT22343352 | Ekanayake M Y R</vt:lpstr>
      <vt:lpstr>AI-powered Dynamic Meal Generator and Visual Ingredient Identifier</vt:lpstr>
      <vt:lpstr>AI-powered Dynamic Meal Generator and Visual Ingredient Identifier</vt:lpstr>
      <vt:lpstr>IT22343420 |  T.M. Poornima</vt:lpstr>
      <vt:lpstr>AI-Powered Predictive Health Alert and Progress Tracking System</vt:lpstr>
      <vt:lpstr>AI-Powered Predictive Health Alert and Progress Tracking System</vt:lpstr>
      <vt:lpstr>IT22343284 | SAMARAWICKRAMA T.N</vt:lpstr>
      <vt:lpstr>AI-Powered Predictive Health Alert and Progress Tracking System</vt:lpstr>
      <vt:lpstr>AI-Powered Predictive Health Alert and Progress Tracking System</vt:lpstr>
      <vt:lpstr>💵Commercialization Potential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EKANAYAKE M Y R it22343352</cp:lastModifiedBy>
  <cp:revision>3</cp:revision>
  <dcterms:created xsi:type="dcterms:W3CDTF">2025-08-25T09:34:25Z</dcterms:created>
  <dcterms:modified xsi:type="dcterms:W3CDTF">2026-05-03T18:31:40Z</dcterms:modified>
</cp:coreProperties>
</file>